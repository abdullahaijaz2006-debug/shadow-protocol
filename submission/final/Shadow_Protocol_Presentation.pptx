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DECCB7-1861-47BA-8F9D-4E4DC7D889CC}" type="datetimeFigureOut">
              <a:rPr lang="en-IN" smtClean="0"/>
              <a:t>18-10-2026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A13AC4-8582-4C95-93D5-97565CB5310A}" type="slidenum">
              <a:rPr lang="en-IN" smtClean="0"/>
              <a:t>‹#›</a:t>
            </a:fld>
            <a:endParaRPr lang="en-IN"/>
          </a:p>
        </p:txBody>
      </p:sp>
    </p:spTree>
    <p:extLst>
      <p:ext uri="{BB962C8B-B14F-4D97-AF65-F5344CB8AC3E}">
        <p14:creationId xmlns:p14="http://schemas.microsoft.com/office/powerpoint/2010/main" val="137235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[morning/afternoon]. Our project is Shadow Protocol, a Windows desktop application that is two things at once: a stealth game whose guards are controlled by finite automata, and a learning environment for DFAs and NFAs. In the next few minutes we will show the theory, how we turned it into the actual control logic of a game, and how we verified that the mathematics is correct."</a:t>
            </a:r>
            <a:endParaRPr lang="en-IN"/>
          </a:p>
        </p:txBody>
      </p:sp>
      <p:sp>
        <p:nvSpPr>
          <p:cNvPr id="4" name="Slide Number Placeholder 3"/>
          <p:cNvSpPr>
            <a:spLocks noGrp="1"/>
          </p:cNvSpPr>
          <p:nvPr>
            <p:ph type="sldNum" sz="quarter" idx="5"/>
          </p:nvPr>
        </p:nvSpPr>
        <p:spPr/>
        <p:txBody>
          <a:bodyPr/>
          <a:lstStyle/>
          <a:p>
            <a:fld id="{91A13AC4-8582-4C95-93D5-97565CB5310A}" type="slidenum">
              <a:rPr lang="en-IN" smtClean="0"/>
              <a:t>1</a:t>
            </a:fld>
            <a:endParaRPr lang="en-IN"/>
          </a:p>
        </p:txBody>
      </p:sp>
    </p:spTree>
    <p:extLst>
      <p:ext uri="{BB962C8B-B14F-4D97-AF65-F5344CB8AC3E}">
        <p14:creationId xmlns:p14="http://schemas.microsoft.com/office/powerpoint/2010/main" val="2676008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"Students learn finite automata as abstract objects, but rarely see one actually running a system. When they do see state machines, for example in game AI, the machine is usually implicit, buried in conditional code. Our question was: can we build an application where a finite automaton is the real, inspectable control mechanism, and give learners tools to observe, build and convert automata, while guaranteeing that every operation is mathematically correct?"</a:t>
            </a:r>
            <a:endParaRPr lang="en-IN"/>
          </a:p>
        </p:txBody>
      </p:sp>
      <p:sp>
        <p:nvSpPr>
          <p:cNvPr id="4" name="Slide Number Placeholder 3"/>
          <p:cNvSpPr>
            <a:spLocks noGrp="1"/>
          </p:cNvSpPr>
          <p:nvPr>
            <p:ph type="sldNum" sz="quarter" idx="5"/>
          </p:nvPr>
        </p:nvSpPr>
        <p:spPr/>
        <p:txBody>
          <a:bodyPr/>
          <a:lstStyle/>
          <a:p>
            <a:fld id="{91A13AC4-8582-4C95-93D5-97565CB5310A}" type="slidenum">
              <a:rPr lang="en-IN" smtClean="0"/>
              <a:t>2</a:t>
            </a:fld>
            <a:endParaRPr lang="en-IN"/>
          </a:p>
        </p:txBody>
      </p:sp>
    </p:spTree>
    <p:extLst>
      <p:ext uri="{BB962C8B-B14F-4D97-AF65-F5344CB8AC3E}">
        <p14:creationId xmlns:p14="http://schemas.microsoft.com/office/powerpoint/2010/main" val="4154474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were our objectives. The key design decision is the first one: a single engine that everything else uses, so the game, the visualiser, the Lab and the tutorial can never disagree about the mathematics. All objectives were met in version 1.0.0."</a:t>
            </a:r>
            <a:endParaRPr lang="en-IN"/>
          </a:p>
        </p:txBody>
      </p:sp>
      <p:sp>
        <p:nvSpPr>
          <p:cNvPr id="4" name="Slide Number Placeholder 3"/>
          <p:cNvSpPr>
            <a:spLocks noGrp="1"/>
          </p:cNvSpPr>
          <p:nvPr>
            <p:ph type="sldNum" sz="quarter" idx="5"/>
          </p:nvPr>
        </p:nvSpPr>
        <p:spPr/>
        <p:txBody>
          <a:bodyPr/>
          <a:lstStyle/>
          <a:p>
            <a:fld id="{91A13AC4-8582-4C95-93D5-97565CB5310A}" type="slidenum">
              <a:rPr lang="en-IN" smtClean="0"/>
              <a:t>3</a:t>
            </a:fld>
            <a:endParaRPr lang="en-IN"/>
          </a:p>
        </p:txBody>
      </p:sp>
    </p:spTree>
    <p:extLst>
      <p:ext uri="{BB962C8B-B14F-4D97-AF65-F5344CB8AC3E}">
        <p14:creationId xmlns:p14="http://schemas.microsoft.com/office/powerpoint/2010/main" val="3988642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"Tauri gives us a small native Windows application: the installer is about 3.3 MB. React draws the user interface, Phaser runs the game, and Vitest runs our unit tests. Everything, including the pixel art and the sound effects, is generated in code, so the installed application needs no network connection."</a:t>
            </a:r>
            <a:endParaRPr lang="en-IN"/>
          </a:p>
        </p:txBody>
      </p:sp>
      <p:sp>
        <p:nvSpPr>
          <p:cNvPr id="4" name="Slide Number Placeholder 3"/>
          <p:cNvSpPr>
            <a:spLocks noGrp="1"/>
          </p:cNvSpPr>
          <p:nvPr>
            <p:ph type="sldNum" sz="quarter" idx="5"/>
          </p:nvPr>
        </p:nvSpPr>
        <p:spPr/>
        <p:txBody>
          <a:bodyPr/>
          <a:lstStyle/>
          <a:p>
            <a:fld id="{91A13AC4-8582-4C95-93D5-97565CB5310A}" type="slidenum">
              <a:rPr lang="en-IN" smtClean="0"/>
              <a:t>4</a:t>
            </a:fld>
            <a:endParaRPr lang="en-IN"/>
          </a:p>
        </p:txBody>
      </p:sp>
    </p:spTree>
    <p:extLst>
      <p:ext uri="{BB962C8B-B14F-4D97-AF65-F5344CB8AC3E}">
        <p14:creationId xmlns:p14="http://schemas.microsoft.com/office/powerpoint/2010/main" val="26079035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engine at the bottom knows nothing about games or user interfaces, which is what allows it to be tested thoroughly and shared. The game and the UI never touch each other's objects. They exchange immutable snapshots and commands through a bridge. All game logic runs in fixed sixtieth-of-a-second ticks, which is what makes single-stepping meaningful: one step is exactly one tick of simulated time."</a:t>
            </a:r>
            <a:endParaRPr lang="en-IN"/>
          </a:p>
        </p:txBody>
      </p:sp>
      <p:sp>
        <p:nvSpPr>
          <p:cNvPr id="4" name="Slide Number Placeholder 3"/>
          <p:cNvSpPr>
            <a:spLocks noGrp="1"/>
          </p:cNvSpPr>
          <p:nvPr>
            <p:ph type="sldNum" sz="quarter" idx="5"/>
          </p:nvPr>
        </p:nvSpPr>
        <p:spPr/>
        <p:txBody>
          <a:bodyPr/>
          <a:lstStyle/>
          <a:p>
            <a:fld id="{91A13AC4-8582-4C95-93D5-97565CB5310A}" type="slidenum">
              <a:rPr lang="en-IN" smtClean="0"/>
              <a:t>5</a:t>
            </a:fld>
            <a:endParaRPr lang="en-IN"/>
          </a:p>
        </p:txBody>
      </p:sp>
    </p:spTree>
    <p:extLst>
      <p:ext uri="{BB962C8B-B14F-4D97-AF65-F5344CB8AC3E}">
        <p14:creationId xmlns:p14="http://schemas.microsoft.com/office/powerpoint/2010/main" val="35664082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DFA is a 5-tuple. Its transition function is total and deterministic: exactly one next state for every state and symbol. Our engine enforces this strictly. If a pair is missing or appears twice, the automaton is rejected with an explanation, never silently patched. Because our symbols are names like PLAYER_SPOTTED, an input string is an array of symbols rather than a text string."</a:t>
            </a:r>
            <a:endParaRPr lang="en-IN"/>
          </a:p>
        </p:txBody>
      </p:sp>
      <p:sp>
        <p:nvSpPr>
          <p:cNvPr id="4" name="Slide Number Placeholder 3"/>
          <p:cNvSpPr>
            <a:spLocks noGrp="1"/>
          </p:cNvSpPr>
          <p:nvPr>
            <p:ph type="sldNum" sz="quarter" idx="5"/>
          </p:nvPr>
        </p:nvSpPr>
        <p:spPr/>
        <p:txBody>
          <a:bodyPr/>
          <a:lstStyle/>
          <a:p>
            <a:fld id="{91A13AC4-8582-4C95-93D5-97565CB5310A}" type="slidenum">
              <a:rPr lang="en-IN" smtClean="0"/>
              <a:t>6</a:t>
            </a:fld>
            <a:endParaRPr lang="en-IN"/>
          </a:p>
        </p:txBody>
      </p:sp>
    </p:spTree>
    <p:extLst>
      <p:ext uri="{BB962C8B-B14F-4D97-AF65-F5344CB8AC3E}">
        <p14:creationId xmlns:p14="http://schemas.microsoft.com/office/powerpoint/2010/main" val="38418395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the guard's actual automaton: five states and five event symbols, with all 25 transitions defined. Continuous perception is turned into discrete events. Seeing the player produces PLAYER_SPOTTED once; losing sight for one and a half seconds produces PLAYER_LOST once. A typical capture is the string spotted, timer, caught: PATROL, ALERT, CHASE, CAPTURE.
An important subtlety: CAPTURE is the formal accepting state, so the language of this DFA is the set of event histories that end in a capture. A guard that is chasing is not 'rejecting' anything. The history just doesn't end in a capture yet."</a:t>
            </a:r>
            <a:endParaRPr lang="en-IN"/>
          </a:p>
        </p:txBody>
      </p:sp>
      <p:sp>
        <p:nvSpPr>
          <p:cNvPr id="4" name="Slide Number Placeholder 3"/>
          <p:cNvSpPr>
            <a:spLocks noGrp="1"/>
          </p:cNvSpPr>
          <p:nvPr>
            <p:ph type="sldNum" sz="quarter" idx="5"/>
          </p:nvPr>
        </p:nvSpPr>
        <p:spPr/>
        <p:txBody>
          <a:bodyPr/>
          <a:lstStyle/>
          <a:p>
            <a:fld id="{91A13AC4-8582-4C95-93D5-97565CB5310A}" type="slidenum">
              <a:rPr lang="en-IN" smtClean="0"/>
              <a:t>7</a:t>
            </a:fld>
            <a:endParaRPr lang="en-IN"/>
          </a:p>
        </p:txBody>
      </p:sp>
    </p:spTree>
    <p:extLst>
      <p:ext uri="{BB962C8B-B14F-4D97-AF65-F5344CB8AC3E}">
        <p14:creationId xmlns:p14="http://schemas.microsoft.com/office/powerpoint/2010/main" val="2404106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the graph: the start state is PATROL. The typical capture path is PATROL → ALERT (spotted) → CHASE (timer) → CAPTURE (caught). Every state has an edge for every one of the five symbols; the loops are events that are ignored in that state. CAPTURE is absorbing and is the only accepting state. Full-page version: report Figure 13.1.</a:t>
            </a:r>
            <a:endParaRPr lang="en-IN"/>
          </a:p>
        </p:txBody>
      </p:sp>
      <p:sp>
        <p:nvSpPr>
          <p:cNvPr id="4" name="Slide Number Placeholder 3"/>
          <p:cNvSpPr>
            <a:spLocks noGrp="1"/>
          </p:cNvSpPr>
          <p:nvPr>
            <p:ph type="sldNum" sz="quarter" idx="5"/>
          </p:nvPr>
        </p:nvSpPr>
        <p:spPr/>
        <p:txBody>
          <a:bodyPr/>
          <a:lstStyle/>
          <a:p>
            <a:fld id="{91A13AC4-8582-4C95-93D5-97565CB5310A}" type="slidenum">
              <a:rPr lang="en-IN" smtClean="0"/>
              <a:t>8</a:t>
            </a:fld>
            <a:endParaRPr lang="en-IN"/>
          </a:p>
        </p:txBody>
      </p:sp>
    </p:spTree>
    <p:extLst>
      <p:ext uri="{BB962C8B-B14F-4D97-AF65-F5344CB8AC3E}">
        <p14:creationId xmlns:p14="http://schemas.microsoft.com/office/powerpoint/2010/main" val="38651055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NFA may have several next states, or none, and may move on epsilon without reading input. We simulate it by tracking the set of all states some path could be in. This is the key point: nondeterminism is not randomness. Nothing is chosen by chance; every path is followed at once. In this screenshot, after 'sound', the NFA is in four states at once, because the epsilon-closure adds CHASE and PATROL. After 'caught', one path reaches CAPTURE, so the string is accepted, and the DFA on the right agrees."</a:t>
            </a:r>
            <a:endParaRPr lang="en-IN"/>
          </a:p>
        </p:txBody>
      </p:sp>
      <p:sp>
        <p:nvSpPr>
          <p:cNvPr id="4" name="Slide Number Placeholder 3"/>
          <p:cNvSpPr>
            <a:spLocks noGrp="1"/>
          </p:cNvSpPr>
          <p:nvPr>
            <p:ph type="sldNum" sz="quarter" idx="5"/>
          </p:nvPr>
        </p:nvSpPr>
        <p:spPr/>
        <p:txBody>
          <a:bodyPr/>
          <a:lstStyle/>
          <a:p>
            <a:fld id="{91A13AC4-8582-4C95-93D5-97565CB5310A}" type="slidenum">
              <a:rPr lang="en-IN" smtClean="0"/>
              <a:t>9</a:t>
            </a:fld>
            <a:endParaRPr lang="en-IN"/>
          </a:p>
        </p:txBody>
      </p:sp>
    </p:spTree>
    <p:extLst>
      <p:ext uri="{BB962C8B-B14F-4D97-AF65-F5344CB8AC3E}">
        <p14:creationId xmlns:p14="http://schemas.microsoft.com/office/powerpoint/2010/main" val="29246188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convert an NFA into an equivalent DFA, each DFA state is a set of NFA states. We start from the epsilon-closure of the start state, and for each set and symbol we take all moves followed by the epsilon-closure. A set is accepting if it contains an accepting NFA state. We only build reachable subsets. For the guard NFA that is 7 of a possible 32. The classic 'third symbol from the end' example really does need all 8, and our tests prove that 8 is the minimum."</a:t>
            </a:r>
            <a:endParaRPr lang="en-IN"/>
          </a:p>
        </p:txBody>
      </p:sp>
      <p:sp>
        <p:nvSpPr>
          <p:cNvPr id="4" name="Slide Number Placeholder 3"/>
          <p:cNvSpPr>
            <a:spLocks noGrp="1"/>
          </p:cNvSpPr>
          <p:nvPr>
            <p:ph type="sldNum" sz="quarter" idx="5"/>
          </p:nvPr>
        </p:nvSpPr>
        <p:spPr/>
        <p:txBody>
          <a:bodyPr/>
          <a:lstStyle/>
          <a:p>
            <a:fld id="{91A13AC4-8582-4C95-93D5-97565CB5310A}" type="slidenum">
              <a:rPr lang="en-IN" smtClean="0"/>
              <a:t>10</a:t>
            </a:fld>
            <a:endParaRPr lang="en-IN"/>
          </a:p>
        </p:txBody>
      </p:sp>
    </p:spTree>
    <p:extLst>
      <p:ext uri="{BB962C8B-B14F-4D97-AF65-F5344CB8AC3E}">
        <p14:creationId xmlns:p14="http://schemas.microsoft.com/office/powerpoint/2010/main" val="18103657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Lab is where students build their own automata. Every check is done by the same engine, and problems are highlighted on the graph. You can step through an input, convert an NFA into a DFA, and save your work as a file. The tutorial's challenges are solved here. They are checked by hand-picked tests and by comparing with a reference on every string up to length 8. We are careful to say that this is testing, not a proof."</a:t>
            </a:r>
            <a:endParaRPr lang="en-IN"/>
          </a:p>
        </p:txBody>
      </p:sp>
      <p:sp>
        <p:nvSpPr>
          <p:cNvPr id="4" name="Slide Number Placeholder 3"/>
          <p:cNvSpPr>
            <a:spLocks noGrp="1"/>
          </p:cNvSpPr>
          <p:nvPr>
            <p:ph type="sldNum" sz="quarter" idx="5"/>
          </p:nvPr>
        </p:nvSpPr>
        <p:spPr/>
        <p:txBody>
          <a:bodyPr/>
          <a:lstStyle/>
          <a:p>
            <a:fld id="{91A13AC4-8582-4C95-93D5-97565CB5310A}" type="slidenum">
              <a:rPr lang="en-IN" smtClean="0"/>
              <a:t>11</a:t>
            </a:fld>
            <a:endParaRPr lang="en-IN"/>
          </a:p>
        </p:txBody>
      </p:sp>
    </p:spTree>
    <p:extLst>
      <p:ext uri="{BB962C8B-B14F-4D97-AF65-F5344CB8AC3E}">
        <p14:creationId xmlns:p14="http://schemas.microsoft.com/office/powerpoint/2010/main" val="7476425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tested at several levels. 527 unit tests run in Node. The most important are differential tests: 250 randomly generated NFAs with epsilon-cycles and dead ends, checked against a brute-force search we wrote independently of the engine, and against their own subset DFAs. We also re-check every example in the tutorial with the engine, so the teaching material can't drift from the implementation. Finally we scripted end-to-end checks of the running and the installed application. Testing also found real bugs, for example a crash specific to the Windows web view, which we fixed."</a:t>
            </a:r>
            <a:endParaRPr lang="en-IN"/>
          </a:p>
        </p:txBody>
      </p:sp>
      <p:sp>
        <p:nvSpPr>
          <p:cNvPr id="4" name="Slide Number Placeholder 3"/>
          <p:cNvSpPr>
            <a:spLocks noGrp="1"/>
          </p:cNvSpPr>
          <p:nvPr>
            <p:ph type="sldNum" sz="quarter" idx="5"/>
          </p:nvPr>
        </p:nvSpPr>
        <p:spPr/>
        <p:txBody>
          <a:bodyPr/>
          <a:lstStyle/>
          <a:p>
            <a:fld id="{91A13AC4-8582-4C95-93D5-97565CB5310A}" type="slidenum">
              <a:rPr lang="en-IN" smtClean="0"/>
              <a:t>12</a:t>
            </a:fld>
            <a:endParaRPr lang="en-IN"/>
          </a:p>
        </p:txBody>
      </p:sp>
    </p:spTree>
    <p:extLst>
      <p:ext uri="{BB962C8B-B14F-4D97-AF65-F5344CB8AC3E}">
        <p14:creationId xmlns:p14="http://schemas.microsoft.com/office/powerpoint/2010/main" val="29569283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conclude: Shadow Protocol shows that the formal model and the working system can be the same thing. Every guard decision you saw is a transition of a validated DFA, and every operation in the Lab is computed by the same engine. For the future, the most interesting step is to replace our tested equivalence check with a proof. DFA equivalence is decidable, using the product construction. Thank you, and we're happy to take questions."
Anticipated questions (preparation):
Q: Why is CAPTURE the only accepting state?
A: $F$ defines the *language*: event histories ending in a capture. The other states are operational behaviour, not rejection.
Q: Is the NFA more powerful than the DFA?
A: No. They recognise the same class (regular languages); the NFA can be exponentially smaller.
Q: Does the guard choose randomly in the NFA?
A: No. The NFA is simulated deterministically by tracking all paths at once. And the gameplay guards use the DFA.
Q: How do you know the subset construction is correct?
A: The standard induction proof, plus tests: on every string up to length 6 for 250 random ε-NFAs, the DFA state equals the NFA's active set.
Q: Do the challenges prove that an answer is correct?
A: No. They test up to length 8 plus hand-picked cases. A proof would use the product construction (future work).
Q: What happens with ε-cycles?
A: ε-closure uses a visited set, so it terminates; this is tested.</a:t>
            </a:r>
            <a:endParaRPr lang="en-IN"/>
          </a:p>
        </p:txBody>
      </p:sp>
      <p:sp>
        <p:nvSpPr>
          <p:cNvPr id="4" name="Slide Number Placeholder 3"/>
          <p:cNvSpPr>
            <a:spLocks noGrp="1"/>
          </p:cNvSpPr>
          <p:nvPr>
            <p:ph type="sldNum" sz="quarter" idx="5"/>
          </p:nvPr>
        </p:nvSpPr>
        <p:spPr/>
        <p:txBody>
          <a:bodyPr/>
          <a:lstStyle/>
          <a:p>
            <a:fld id="{91A13AC4-8582-4C95-93D5-97565CB5310A}" type="slidenum">
              <a:rPr lang="en-IN" smtClean="0"/>
              <a:t>13</a:t>
            </a:fld>
            <a:endParaRPr lang="en-IN"/>
          </a:p>
        </p:txBody>
      </p:sp>
    </p:spTree>
    <p:extLst>
      <p:ext uri="{BB962C8B-B14F-4D97-AF65-F5344CB8AC3E}">
        <p14:creationId xmlns:p14="http://schemas.microsoft.com/office/powerpoint/2010/main" val="3648086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26234-30A1-925A-1D5A-0E7BEDF0E8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413CFD5-AF9D-91F6-9CE0-3DD528EC3D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7B5114E-63FE-D2F7-6958-2FFF7C3171E3}"/>
              </a:ext>
            </a:extLst>
          </p:cNvPr>
          <p:cNvSpPr>
            <a:spLocks noGrp="1"/>
          </p:cNvSpPr>
          <p:nvPr>
            <p:ph type="dt" sz="half" idx="10"/>
          </p:nvPr>
        </p:nvSpPr>
        <p:spPr/>
        <p:txBody>
          <a:bodyPr/>
          <a:lstStyle/>
          <a:p>
            <a:fld id="{9549283B-75F5-47B4-9F4B-E27B9DA60A3D}" type="datetimeFigureOut">
              <a:rPr lang="en-IN" smtClean="0"/>
              <a:t>18-10-2026</a:t>
            </a:fld>
            <a:endParaRPr lang="en-IN"/>
          </a:p>
        </p:txBody>
      </p:sp>
      <p:sp>
        <p:nvSpPr>
          <p:cNvPr id="5" name="Footer Placeholder 4">
            <a:extLst>
              <a:ext uri="{FF2B5EF4-FFF2-40B4-BE49-F238E27FC236}">
                <a16:creationId xmlns:a16="http://schemas.microsoft.com/office/drawing/2014/main" id="{521F31F1-6140-0FC3-5EE0-461CB185E0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6D4D1B-9327-0A20-FA1A-C78CF031F29C}"/>
              </a:ext>
            </a:extLst>
          </p:cNvPr>
          <p:cNvSpPr>
            <a:spLocks noGrp="1"/>
          </p:cNvSpPr>
          <p:nvPr>
            <p:ph type="sldNum" sz="quarter" idx="12"/>
          </p:nvPr>
        </p:nvSpPr>
        <p:spPr/>
        <p:txBody>
          <a:bodyPr/>
          <a:lstStyle/>
          <a:p>
            <a:fld id="{2A2641F4-BDC2-4F88-9FB3-AF6A54D78E5E}" type="slidenum">
              <a:rPr lang="en-IN" smtClean="0"/>
              <a:t>‹#›</a:t>
            </a:fld>
            <a:endParaRPr lang="en-IN"/>
          </a:p>
        </p:txBody>
      </p:sp>
    </p:spTree>
    <p:extLst>
      <p:ext uri="{BB962C8B-B14F-4D97-AF65-F5344CB8AC3E}">
        <p14:creationId xmlns:p14="http://schemas.microsoft.com/office/powerpoint/2010/main" val="2305654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FF715-EA39-D0BA-D885-C096B64D04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E1A6C1-4CBA-4B43-E5F8-483D9630B8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0FA5C0-B482-FE4E-500F-E8FB9925D372}"/>
              </a:ext>
            </a:extLst>
          </p:cNvPr>
          <p:cNvSpPr>
            <a:spLocks noGrp="1"/>
          </p:cNvSpPr>
          <p:nvPr>
            <p:ph type="dt" sz="half" idx="10"/>
          </p:nvPr>
        </p:nvSpPr>
        <p:spPr/>
        <p:txBody>
          <a:bodyPr/>
          <a:lstStyle/>
          <a:p>
            <a:fld id="{9549283B-75F5-47B4-9F4B-E27B9DA60A3D}" type="datetimeFigureOut">
              <a:rPr lang="en-IN" smtClean="0"/>
              <a:t>18-10-2026</a:t>
            </a:fld>
            <a:endParaRPr lang="en-IN"/>
          </a:p>
        </p:txBody>
      </p:sp>
      <p:sp>
        <p:nvSpPr>
          <p:cNvPr id="5" name="Footer Placeholder 4">
            <a:extLst>
              <a:ext uri="{FF2B5EF4-FFF2-40B4-BE49-F238E27FC236}">
                <a16:creationId xmlns:a16="http://schemas.microsoft.com/office/drawing/2014/main" id="{A44EB48E-5C2E-81CC-738D-7CD2E565BD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575143-DE24-3AA6-34AF-A3DB1C154538}"/>
              </a:ext>
            </a:extLst>
          </p:cNvPr>
          <p:cNvSpPr>
            <a:spLocks noGrp="1"/>
          </p:cNvSpPr>
          <p:nvPr>
            <p:ph type="sldNum" sz="quarter" idx="12"/>
          </p:nvPr>
        </p:nvSpPr>
        <p:spPr/>
        <p:txBody>
          <a:bodyPr/>
          <a:lstStyle/>
          <a:p>
            <a:fld id="{2A2641F4-BDC2-4F88-9FB3-AF6A54D78E5E}" type="slidenum">
              <a:rPr lang="en-IN" smtClean="0"/>
              <a:t>‹#›</a:t>
            </a:fld>
            <a:endParaRPr lang="en-IN"/>
          </a:p>
        </p:txBody>
      </p:sp>
    </p:spTree>
    <p:extLst>
      <p:ext uri="{BB962C8B-B14F-4D97-AF65-F5344CB8AC3E}">
        <p14:creationId xmlns:p14="http://schemas.microsoft.com/office/powerpoint/2010/main" val="3545494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A419D-06B1-9985-E6F8-FBF4B18327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987B384-A862-CAB4-D3D7-0128C19AEF0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698BD0-9F13-53D0-4A02-ECF83A8E62DD}"/>
              </a:ext>
            </a:extLst>
          </p:cNvPr>
          <p:cNvSpPr>
            <a:spLocks noGrp="1"/>
          </p:cNvSpPr>
          <p:nvPr>
            <p:ph type="dt" sz="half" idx="10"/>
          </p:nvPr>
        </p:nvSpPr>
        <p:spPr/>
        <p:txBody>
          <a:bodyPr/>
          <a:lstStyle/>
          <a:p>
            <a:fld id="{9549283B-75F5-47B4-9F4B-E27B9DA60A3D}" type="datetimeFigureOut">
              <a:rPr lang="en-IN" smtClean="0"/>
              <a:t>18-10-2026</a:t>
            </a:fld>
            <a:endParaRPr lang="en-IN"/>
          </a:p>
        </p:txBody>
      </p:sp>
      <p:sp>
        <p:nvSpPr>
          <p:cNvPr id="5" name="Footer Placeholder 4">
            <a:extLst>
              <a:ext uri="{FF2B5EF4-FFF2-40B4-BE49-F238E27FC236}">
                <a16:creationId xmlns:a16="http://schemas.microsoft.com/office/drawing/2014/main" id="{5BC8640A-6D66-C764-1274-57C7DFF0C6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1F8A0A-719E-A58B-3723-0B4B84EE1E4F}"/>
              </a:ext>
            </a:extLst>
          </p:cNvPr>
          <p:cNvSpPr>
            <a:spLocks noGrp="1"/>
          </p:cNvSpPr>
          <p:nvPr>
            <p:ph type="sldNum" sz="quarter" idx="12"/>
          </p:nvPr>
        </p:nvSpPr>
        <p:spPr/>
        <p:txBody>
          <a:bodyPr/>
          <a:lstStyle/>
          <a:p>
            <a:fld id="{2A2641F4-BDC2-4F88-9FB3-AF6A54D78E5E}" type="slidenum">
              <a:rPr lang="en-IN" smtClean="0"/>
              <a:t>‹#›</a:t>
            </a:fld>
            <a:endParaRPr lang="en-IN"/>
          </a:p>
        </p:txBody>
      </p:sp>
    </p:spTree>
    <p:extLst>
      <p:ext uri="{BB962C8B-B14F-4D97-AF65-F5344CB8AC3E}">
        <p14:creationId xmlns:p14="http://schemas.microsoft.com/office/powerpoint/2010/main" val="21698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27C83-D33B-3F6B-468A-F586026F92F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80F717-6D1A-6BAD-5618-F5E48DDB8DB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738B53B-3463-B187-137A-A891EB81EF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4189A8E-58FA-165F-853A-F9E1DBCF7762}"/>
              </a:ext>
            </a:extLst>
          </p:cNvPr>
          <p:cNvSpPr>
            <a:spLocks noGrp="1"/>
          </p:cNvSpPr>
          <p:nvPr>
            <p:ph type="dt" sz="half" idx="10"/>
          </p:nvPr>
        </p:nvSpPr>
        <p:spPr/>
        <p:txBody>
          <a:bodyPr/>
          <a:lstStyle/>
          <a:p>
            <a:fld id="{9549283B-75F5-47B4-9F4B-E27B9DA60A3D}" type="datetimeFigureOut">
              <a:rPr lang="en-IN" smtClean="0"/>
              <a:t>18-10-2026</a:t>
            </a:fld>
            <a:endParaRPr lang="en-IN"/>
          </a:p>
        </p:txBody>
      </p:sp>
      <p:sp>
        <p:nvSpPr>
          <p:cNvPr id="6" name="Footer Placeholder 5">
            <a:extLst>
              <a:ext uri="{FF2B5EF4-FFF2-40B4-BE49-F238E27FC236}">
                <a16:creationId xmlns:a16="http://schemas.microsoft.com/office/drawing/2014/main" id="{C3F8B67C-352C-5BAE-26E0-3CD5E23F45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2693A1-0C13-B998-1163-7C9237EAFDBD}"/>
              </a:ext>
            </a:extLst>
          </p:cNvPr>
          <p:cNvSpPr>
            <a:spLocks noGrp="1"/>
          </p:cNvSpPr>
          <p:nvPr>
            <p:ph type="sldNum" sz="quarter" idx="12"/>
          </p:nvPr>
        </p:nvSpPr>
        <p:spPr/>
        <p:txBody>
          <a:bodyPr/>
          <a:lstStyle/>
          <a:p>
            <a:fld id="{2A2641F4-BDC2-4F88-9FB3-AF6A54D78E5E}" type="slidenum">
              <a:rPr lang="en-IN" smtClean="0"/>
              <a:t>‹#›</a:t>
            </a:fld>
            <a:endParaRPr lang="en-IN"/>
          </a:p>
        </p:txBody>
      </p:sp>
    </p:spTree>
    <p:extLst>
      <p:ext uri="{BB962C8B-B14F-4D97-AF65-F5344CB8AC3E}">
        <p14:creationId xmlns:p14="http://schemas.microsoft.com/office/powerpoint/2010/main" val="4012981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DF2A6-40CE-834B-7403-5465D7D7880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6066B9-A5CB-745D-FC46-06ACBBB43D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7D2F42-655C-09FD-8845-8BF31379B0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53785D3-D4CF-94D1-CA49-7FD542D119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462749-AB37-C130-B58F-B1C48DF961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CD03E91-3995-743C-8485-860E88D53C10}"/>
              </a:ext>
            </a:extLst>
          </p:cNvPr>
          <p:cNvSpPr>
            <a:spLocks noGrp="1"/>
          </p:cNvSpPr>
          <p:nvPr>
            <p:ph type="dt" sz="half" idx="10"/>
          </p:nvPr>
        </p:nvSpPr>
        <p:spPr/>
        <p:txBody>
          <a:bodyPr/>
          <a:lstStyle/>
          <a:p>
            <a:fld id="{9549283B-75F5-47B4-9F4B-E27B9DA60A3D}" type="datetimeFigureOut">
              <a:rPr lang="en-IN" smtClean="0"/>
              <a:t>18-10-2026</a:t>
            </a:fld>
            <a:endParaRPr lang="en-IN"/>
          </a:p>
        </p:txBody>
      </p:sp>
      <p:sp>
        <p:nvSpPr>
          <p:cNvPr id="8" name="Footer Placeholder 7">
            <a:extLst>
              <a:ext uri="{FF2B5EF4-FFF2-40B4-BE49-F238E27FC236}">
                <a16:creationId xmlns:a16="http://schemas.microsoft.com/office/drawing/2014/main" id="{E4822786-FC44-4F87-72EC-6DF23DE22F5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88EB509-4A8E-F2E3-2983-0273691FC695}"/>
              </a:ext>
            </a:extLst>
          </p:cNvPr>
          <p:cNvSpPr>
            <a:spLocks noGrp="1"/>
          </p:cNvSpPr>
          <p:nvPr>
            <p:ph type="sldNum" sz="quarter" idx="12"/>
          </p:nvPr>
        </p:nvSpPr>
        <p:spPr/>
        <p:txBody>
          <a:bodyPr/>
          <a:lstStyle/>
          <a:p>
            <a:fld id="{2A2641F4-BDC2-4F88-9FB3-AF6A54D78E5E}" type="slidenum">
              <a:rPr lang="en-IN" smtClean="0"/>
              <a:t>‹#›</a:t>
            </a:fld>
            <a:endParaRPr lang="en-IN"/>
          </a:p>
        </p:txBody>
      </p:sp>
    </p:spTree>
    <p:extLst>
      <p:ext uri="{BB962C8B-B14F-4D97-AF65-F5344CB8AC3E}">
        <p14:creationId xmlns:p14="http://schemas.microsoft.com/office/powerpoint/2010/main" val="3345473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AC848-B594-2166-21D3-BCDA8B39A02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EB057BD-9BBF-B088-BD2D-A68DCBE06123}"/>
              </a:ext>
            </a:extLst>
          </p:cNvPr>
          <p:cNvSpPr>
            <a:spLocks noGrp="1"/>
          </p:cNvSpPr>
          <p:nvPr>
            <p:ph type="dt" sz="half" idx="10"/>
          </p:nvPr>
        </p:nvSpPr>
        <p:spPr/>
        <p:txBody>
          <a:bodyPr/>
          <a:lstStyle/>
          <a:p>
            <a:fld id="{9549283B-75F5-47B4-9F4B-E27B9DA60A3D}" type="datetimeFigureOut">
              <a:rPr lang="en-IN" smtClean="0"/>
              <a:t>18-10-2026</a:t>
            </a:fld>
            <a:endParaRPr lang="en-IN"/>
          </a:p>
        </p:txBody>
      </p:sp>
      <p:sp>
        <p:nvSpPr>
          <p:cNvPr id="4" name="Footer Placeholder 3">
            <a:extLst>
              <a:ext uri="{FF2B5EF4-FFF2-40B4-BE49-F238E27FC236}">
                <a16:creationId xmlns:a16="http://schemas.microsoft.com/office/drawing/2014/main" id="{D311CA14-415C-AF4F-9E30-4F5EF137574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8782289-ABEA-0B0A-7D43-F462BE217257}"/>
              </a:ext>
            </a:extLst>
          </p:cNvPr>
          <p:cNvSpPr>
            <a:spLocks noGrp="1"/>
          </p:cNvSpPr>
          <p:nvPr>
            <p:ph type="sldNum" sz="quarter" idx="12"/>
          </p:nvPr>
        </p:nvSpPr>
        <p:spPr/>
        <p:txBody>
          <a:bodyPr/>
          <a:lstStyle/>
          <a:p>
            <a:fld id="{2A2641F4-BDC2-4F88-9FB3-AF6A54D78E5E}" type="slidenum">
              <a:rPr lang="en-IN" smtClean="0"/>
              <a:t>‹#›</a:t>
            </a:fld>
            <a:endParaRPr lang="en-IN"/>
          </a:p>
        </p:txBody>
      </p:sp>
    </p:spTree>
    <p:extLst>
      <p:ext uri="{BB962C8B-B14F-4D97-AF65-F5344CB8AC3E}">
        <p14:creationId xmlns:p14="http://schemas.microsoft.com/office/powerpoint/2010/main" val="1144117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943530-A605-42A5-DFE9-85F5BB40AE81}"/>
              </a:ext>
            </a:extLst>
          </p:cNvPr>
          <p:cNvSpPr>
            <a:spLocks noGrp="1"/>
          </p:cNvSpPr>
          <p:nvPr>
            <p:ph type="dt" sz="half" idx="10"/>
          </p:nvPr>
        </p:nvSpPr>
        <p:spPr/>
        <p:txBody>
          <a:bodyPr/>
          <a:lstStyle/>
          <a:p>
            <a:fld id="{9549283B-75F5-47B4-9F4B-E27B9DA60A3D}" type="datetimeFigureOut">
              <a:rPr lang="en-IN" smtClean="0"/>
              <a:t>18-10-2026</a:t>
            </a:fld>
            <a:endParaRPr lang="en-IN"/>
          </a:p>
        </p:txBody>
      </p:sp>
      <p:sp>
        <p:nvSpPr>
          <p:cNvPr id="3" name="Footer Placeholder 2">
            <a:extLst>
              <a:ext uri="{FF2B5EF4-FFF2-40B4-BE49-F238E27FC236}">
                <a16:creationId xmlns:a16="http://schemas.microsoft.com/office/drawing/2014/main" id="{95EF5B98-ACC0-2A5E-35C8-FEB1BD42E25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2152DB7-A9F5-D0EA-1BBB-AF23CCC31FE0}"/>
              </a:ext>
            </a:extLst>
          </p:cNvPr>
          <p:cNvSpPr>
            <a:spLocks noGrp="1"/>
          </p:cNvSpPr>
          <p:nvPr>
            <p:ph type="sldNum" sz="quarter" idx="12"/>
          </p:nvPr>
        </p:nvSpPr>
        <p:spPr/>
        <p:txBody>
          <a:bodyPr/>
          <a:lstStyle/>
          <a:p>
            <a:fld id="{2A2641F4-BDC2-4F88-9FB3-AF6A54D78E5E}" type="slidenum">
              <a:rPr lang="en-IN" smtClean="0"/>
              <a:t>‹#›</a:t>
            </a:fld>
            <a:endParaRPr lang="en-IN"/>
          </a:p>
        </p:txBody>
      </p:sp>
    </p:spTree>
    <p:extLst>
      <p:ext uri="{BB962C8B-B14F-4D97-AF65-F5344CB8AC3E}">
        <p14:creationId xmlns:p14="http://schemas.microsoft.com/office/powerpoint/2010/main" val="2763940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38179-DC23-A526-C255-CB78223BC8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4E206E5-59C6-75D7-68A9-69A387F7E9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F442BDE-4945-D051-602C-D681161D7A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964E21-1894-6154-07F8-05CCBA47150D}"/>
              </a:ext>
            </a:extLst>
          </p:cNvPr>
          <p:cNvSpPr>
            <a:spLocks noGrp="1"/>
          </p:cNvSpPr>
          <p:nvPr>
            <p:ph type="dt" sz="half" idx="10"/>
          </p:nvPr>
        </p:nvSpPr>
        <p:spPr/>
        <p:txBody>
          <a:bodyPr/>
          <a:lstStyle/>
          <a:p>
            <a:fld id="{9549283B-75F5-47B4-9F4B-E27B9DA60A3D}" type="datetimeFigureOut">
              <a:rPr lang="en-IN" smtClean="0"/>
              <a:t>18-10-2026</a:t>
            </a:fld>
            <a:endParaRPr lang="en-IN"/>
          </a:p>
        </p:txBody>
      </p:sp>
      <p:sp>
        <p:nvSpPr>
          <p:cNvPr id="6" name="Footer Placeholder 5">
            <a:extLst>
              <a:ext uri="{FF2B5EF4-FFF2-40B4-BE49-F238E27FC236}">
                <a16:creationId xmlns:a16="http://schemas.microsoft.com/office/drawing/2014/main" id="{63DF4423-6AFC-CCDE-43D1-41AF9E9E05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3A7C80-04A1-9948-BC0F-17AFAFCC8235}"/>
              </a:ext>
            </a:extLst>
          </p:cNvPr>
          <p:cNvSpPr>
            <a:spLocks noGrp="1"/>
          </p:cNvSpPr>
          <p:nvPr>
            <p:ph type="sldNum" sz="quarter" idx="12"/>
          </p:nvPr>
        </p:nvSpPr>
        <p:spPr/>
        <p:txBody>
          <a:bodyPr/>
          <a:lstStyle/>
          <a:p>
            <a:fld id="{2A2641F4-BDC2-4F88-9FB3-AF6A54D78E5E}" type="slidenum">
              <a:rPr lang="en-IN" smtClean="0"/>
              <a:t>‹#›</a:t>
            </a:fld>
            <a:endParaRPr lang="en-IN"/>
          </a:p>
        </p:txBody>
      </p:sp>
    </p:spTree>
    <p:extLst>
      <p:ext uri="{BB962C8B-B14F-4D97-AF65-F5344CB8AC3E}">
        <p14:creationId xmlns:p14="http://schemas.microsoft.com/office/powerpoint/2010/main" val="2888317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020A1-AABD-320D-95C2-C2752071FF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DFCD4C6-CEEF-5E31-BF2A-419246FC9D8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DA16F10-5940-1836-C0FC-0D0B879DB0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EC642F-E2BE-FF00-3CA6-E00FBD7D5276}"/>
              </a:ext>
            </a:extLst>
          </p:cNvPr>
          <p:cNvSpPr>
            <a:spLocks noGrp="1"/>
          </p:cNvSpPr>
          <p:nvPr>
            <p:ph type="dt" sz="half" idx="10"/>
          </p:nvPr>
        </p:nvSpPr>
        <p:spPr/>
        <p:txBody>
          <a:bodyPr/>
          <a:lstStyle/>
          <a:p>
            <a:fld id="{9549283B-75F5-47B4-9F4B-E27B9DA60A3D}" type="datetimeFigureOut">
              <a:rPr lang="en-IN" smtClean="0"/>
              <a:t>18-10-2026</a:t>
            </a:fld>
            <a:endParaRPr lang="en-IN"/>
          </a:p>
        </p:txBody>
      </p:sp>
      <p:sp>
        <p:nvSpPr>
          <p:cNvPr id="6" name="Footer Placeholder 5">
            <a:extLst>
              <a:ext uri="{FF2B5EF4-FFF2-40B4-BE49-F238E27FC236}">
                <a16:creationId xmlns:a16="http://schemas.microsoft.com/office/drawing/2014/main" id="{7D4BEE8E-674E-62B3-7775-82AB1E6E97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305B49-834A-9E78-53DC-C4B7338D522E}"/>
              </a:ext>
            </a:extLst>
          </p:cNvPr>
          <p:cNvSpPr>
            <a:spLocks noGrp="1"/>
          </p:cNvSpPr>
          <p:nvPr>
            <p:ph type="sldNum" sz="quarter" idx="12"/>
          </p:nvPr>
        </p:nvSpPr>
        <p:spPr/>
        <p:txBody>
          <a:bodyPr/>
          <a:lstStyle/>
          <a:p>
            <a:fld id="{2A2641F4-BDC2-4F88-9FB3-AF6A54D78E5E}" type="slidenum">
              <a:rPr lang="en-IN" smtClean="0"/>
              <a:t>‹#›</a:t>
            </a:fld>
            <a:endParaRPr lang="en-IN"/>
          </a:p>
        </p:txBody>
      </p:sp>
    </p:spTree>
    <p:extLst>
      <p:ext uri="{BB962C8B-B14F-4D97-AF65-F5344CB8AC3E}">
        <p14:creationId xmlns:p14="http://schemas.microsoft.com/office/powerpoint/2010/main" val="730821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458C2-504E-6E53-1F65-04EB64A8143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4993AC-110F-FDDA-8ADA-A93BD01384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C7B1A0-5F5E-5621-7F3B-3A625DBDA8C1}"/>
              </a:ext>
            </a:extLst>
          </p:cNvPr>
          <p:cNvSpPr>
            <a:spLocks noGrp="1"/>
          </p:cNvSpPr>
          <p:nvPr>
            <p:ph type="dt" sz="half" idx="10"/>
          </p:nvPr>
        </p:nvSpPr>
        <p:spPr/>
        <p:txBody>
          <a:bodyPr/>
          <a:lstStyle/>
          <a:p>
            <a:fld id="{9549283B-75F5-47B4-9F4B-E27B9DA60A3D}" type="datetimeFigureOut">
              <a:rPr lang="en-IN" smtClean="0"/>
              <a:t>18-10-2026</a:t>
            </a:fld>
            <a:endParaRPr lang="en-IN"/>
          </a:p>
        </p:txBody>
      </p:sp>
      <p:sp>
        <p:nvSpPr>
          <p:cNvPr id="5" name="Footer Placeholder 4">
            <a:extLst>
              <a:ext uri="{FF2B5EF4-FFF2-40B4-BE49-F238E27FC236}">
                <a16:creationId xmlns:a16="http://schemas.microsoft.com/office/drawing/2014/main" id="{A6F0BC0B-CD9C-F4FF-235A-4933971B66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B4A20B-6C25-A83F-9AAC-77BEC299E3CE}"/>
              </a:ext>
            </a:extLst>
          </p:cNvPr>
          <p:cNvSpPr>
            <a:spLocks noGrp="1"/>
          </p:cNvSpPr>
          <p:nvPr>
            <p:ph type="sldNum" sz="quarter" idx="12"/>
          </p:nvPr>
        </p:nvSpPr>
        <p:spPr/>
        <p:txBody>
          <a:bodyPr/>
          <a:lstStyle/>
          <a:p>
            <a:fld id="{2A2641F4-BDC2-4F88-9FB3-AF6A54D78E5E}" type="slidenum">
              <a:rPr lang="en-IN" smtClean="0"/>
              <a:t>‹#›</a:t>
            </a:fld>
            <a:endParaRPr lang="en-IN"/>
          </a:p>
        </p:txBody>
      </p:sp>
    </p:spTree>
    <p:extLst>
      <p:ext uri="{BB962C8B-B14F-4D97-AF65-F5344CB8AC3E}">
        <p14:creationId xmlns:p14="http://schemas.microsoft.com/office/powerpoint/2010/main" val="2287174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E67C73-3C64-EDDB-4539-624873841E3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EB8DB64-469C-F046-F15F-E8DD3B7C2C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B4B32C-C272-16D4-554B-88A2B5CFCD5C}"/>
              </a:ext>
            </a:extLst>
          </p:cNvPr>
          <p:cNvSpPr>
            <a:spLocks noGrp="1"/>
          </p:cNvSpPr>
          <p:nvPr>
            <p:ph type="dt" sz="half" idx="10"/>
          </p:nvPr>
        </p:nvSpPr>
        <p:spPr/>
        <p:txBody>
          <a:bodyPr/>
          <a:lstStyle/>
          <a:p>
            <a:fld id="{9549283B-75F5-47B4-9F4B-E27B9DA60A3D}" type="datetimeFigureOut">
              <a:rPr lang="en-IN" smtClean="0"/>
              <a:t>18-10-2026</a:t>
            </a:fld>
            <a:endParaRPr lang="en-IN"/>
          </a:p>
        </p:txBody>
      </p:sp>
      <p:sp>
        <p:nvSpPr>
          <p:cNvPr id="5" name="Footer Placeholder 4">
            <a:extLst>
              <a:ext uri="{FF2B5EF4-FFF2-40B4-BE49-F238E27FC236}">
                <a16:creationId xmlns:a16="http://schemas.microsoft.com/office/drawing/2014/main" id="{673C5480-9680-D3E3-7F8D-5FDA1E37D3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F66875-4D6F-F63C-F8F8-491D70726323}"/>
              </a:ext>
            </a:extLst>
          </p:cNvPr>
          <p:cNvSpPr>
            <a:spLocks noGrp="1"/>
          </p:cNvSpPr>
          <p:nvPr>
            <p:ph type="sldNum" sz="quarter" idx="12"/>
          </p:nvPr>
        </p:nvSpPr>
        <p:spPr/>
        <p:txBody>
          <a:bodyPr/>
          <a:lstStyle/>
          <a:p>
            <a:fld id="{2A2641F4-BDC2-4F88-9FB3-AF6A54D78E5E}" type="slidenum">
              <a:rPr lang="en-IN" smtClean="0"/>
              <a:t>‹#›</a:t>
            </a:fld>
            <a:endParaRPr lang="en-IN"/>
          </a:p>
        </p:txBody>
      </p:sp>
    </p:spTree>
    <p:extLst>
      <p:ext uri="{BB962C8B-B14F-4D97-AF65-F5344CB8AC3E}">
        <p14:creationId xmlns:p14="http://schemas.microsoft.com/office/powerpoint/2010/main" val="1365474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0E14"/>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9C4616-307B-25E7-7620-A8AF7502C9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AB2D000-DA10-E338-1EE2-8A02D156F9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EA0F60-BBC1-245C-9F5F-60677730F7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549283B-75F5-47B4-9F4B-E27B9DA60A3D}" type="datetimeFigureOut">
              <a:rPr lang="en-IN" smtClean="0"/>
              <a:t>18-10-2026</a:t>
            </a:fld>
            <a:endParaRPr lang="en-IN"/>
          </a:p>
        </p:txBody>
      </p:sp>
      <p:sp>
        <p:nvSpPr>
          <p:cNvPr id="5" name="Footer Placeholder 4">
            <a:extLst>
              <a:ext uri="{FF2B5EF4-FFF2-40B4-BE49-F238E27FC236}">
                <a16:creationId xmlns:a16="http://schemas.microsoft.com/office/drawing/2014/main" id="{21562A2F-BCBD-3BF6-CCB5-448EEADEA9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7DE0520-860D-E069-78EF-7768DB05EE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2641F4-BDC2-4F88-9FB3-AF6A54D78E5E}" type="slidenum">
              <a:rPr lang="en-IN" smtClean="0"/>
              <a:t>‹#›</a:t>
            </a:fld>
            <a:endParaRPr lang="en-IN"/>
          </a:p>
        </p:txBody>
      </p:sp>
    </p:spTree>
    <p:extLst>
      <p:ext uri="{BB962C8B-B14F-4D97-AF65-F5344CB8AC3E}">
        <p14:creationId xmlns:p14="http://schemas.microsoft.com/office/powerpoint/2010/main" val="792210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79AE54-9494-20E5-CEAF-6DF5605902D3}"/>
              </a:ext>
            </a:extLst>
          </p:cNvPr>
          <p:cNvSpPr txBox="1"/>
          <p:nvPr/>
        </p:nvSpPr>
        <p:spPr>
          <a:xfrm>
            <a:off x="711200" y="1498600"/>
            <a:ext cx="7620000" cy="812800"/>
          </a:xfrm>
          <a:prstGeom prst="rect">
            <a:avLst/>
          </a:prstGeom>
          <a:noFill/>
        </p:spPr>
        <p:txBody>
          <a:bodyPr vert="horz" wrap="square" lIns="50800" tIns="25400" rIns="50800" bIns="25400" rtlCol="0">
            <a:noAutofit/>
          </a:bodyPr>
          <a:lstStyle/>
          <a:p>
            <a:r>
              <a:rPr lang="en-IN" sz="4800" b="1" spc="400">
                <a:solidFill>
                  <a:srgbClr val="4FD1C5"/>
                </a:solidFill>
                <a:latin typeface="Consolas" panose="020B0609020204030204" pitchFamily="49" charset="0"/>
              </a:rPr>
              <a:t>SHADOW PROTOCOL</a:t>
            </a:r>
          </a:p>
        </p:txBody>
      </p:sp>
      <p:sp>
        <p:nvSpPr>
          <p:cNvPr id="3" name="TextBox 2">
            <a:extLst>
              <a:ext uri="{FF2B5EF4-FFF2-40B4-BE49-F238E27FC236}">
                <a16:creationId xmlns:a16="http://schemas.microsoft.com/office/drawing/2014/main" id="{363821DF-08F6-C7E0-4E80-2E7D65408B1F}"/>
              </a:ext>
            </a:extLst>
          </p:cNvPr>
          <p:cNvSpPr txBox="1"/>
          <p:nvPr/>
        </p:nvSpPr>
        <p:spPr>
          <a:xfrm>
            <a:off x="736600" y="2362200"/>
            <a:ext cx="7112000" cy="889000"/>
          </a:xfrm>
          <a:prstGeom prst="rect">
            <a:avLst/>
          </a:prstGeom>
          <a:noFill/>
        </p:spPr>
        <p:txBody>
          <a:bodyPr vert="horz" wrap="square" lIns="50800" tIns="25400" rIns="50800" bIns="25400" rtlCol="0">
            <a:noAutofit/>
          </a:bodyPr>
          <a:lstStyle/>
          <a:p>
            <a:r>
              <a:rPr lang="en-US" sz="2200">
                <a:solidFill>
                  <a:srgbClr val="E2E8F0"/>
                </a:solidFill>
                <a:latin typeface="Segoe UI Light" panose="020B0502040204020203" pitchFamily="34" charset="0"/>
              </a:rPr>
              <a:t>A Finite Automata-Based Stealth Game and Interactive Learning Environment</a:t>
            </a:r>
            <a:endParaRPr lang="en-IN" sz="2200">
              <a:solidFill>
                <a:srgbClr val="E2E8F0"/>
              </a:solidFill>
              <a:latin typeface="Segoe UI Light" panose="020B0502040204020203" pitchFamily="34" charset="0"/>
            </a:endParaRPr>
          </a:p>
        </p:txBody>
      </p:sp>
      <p:cxnSp>
        <p:nvCxnSpPr>
          <p:cNvPr id="4" name="Straight Connector 3">
            <a:extLst>
              <a:ext uri="{FF2B5EF4-FFF2-40B4-BE49-F238E27FC236}">
                <a16:creationId xmlns:a16="http://schemas.microsoft.com/office/drawing/2014/main" id="{9FC9171C-34EB-2DBC-D557-7DE9A2B24C6E}"/>
              </a:ext>
            </a:extLst>
          </p:cNvPr>
          <p:cNvCxnSpPr/>
          <p:nvPr/>
        </p:nvCxnSpPr>
        <p:spPr>
          <a:xfrm>
            <a:off x="762000" y="3378200"/>
            <a:ext cx="4064000" cy="0"/>
          </a:xfrm>
          <a:prstGeom prst="line">
            <a:avLst/>
          </a:prstGeom>
          <a:ln w="25400">
            <a:solidFill>
              <a:srgbClr val="2C7A7B"/>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FE352E29-0C33-E553-CF5D-2F46BBC02628}"/>
              </a:ext>
            </a:extLst>
          </p:cNvPr>
          <p:cNvSpPr txBox="1"/>
          <p:nvPr/>
        </p:nvSpPr>
        <p:spPr>
          <a:xfrm>
            <a:off x="711200" y="3606800"/>
            <a:ext cx="7112000" cy="1524000"/>
          </a:xfrm>
          <a:prstGeom prst="rect">
            <a:avLst/>
          </a:prstGeom>
          <a:noFill/>
        </p:spPr>
        <p:txBody>
          <a:bodyPr vert="horz" wrap="square" lIns="50800" tIns="25400" rIns="50800" bIns="25400" rtlCol="0">
            <a:noAutofit/>
          </a:bodyPr>
          <a:lstStyle/>
          <a:p>
            <a:pPr>
              <a:spcAft>
                <a:spcPts val="800"/>
              </a:spcAft>
            </a:pPr>
            <a:r>
              <a:rPr kumimoji="0" lang="en-US" sz="1500" b="0" i="0" u="none" strike="noStrike" kern="0" cap="none" spc="0" normalizeH="0" baseline="0" noProof="0">
                <a:ln>
                  <a:noFill/>
                </a:ln>
                <a:solidFill>
                  <a:srgbClr val="141414"/>
                </a:solidFill>
                <a:effectLst/>
                <a:highlight>
                  <a:srgbClr val="F6E05E"/>
                </a:highlight>
                <a:uLnTx/>
                <a:uFillTx/>
                <a:latin typeface="Segoe UI" panose="020B0502040204020203" pitchFamily="34" charset="0"/>
              </a:rPr>
              <a:t>[STUDENT INPUT: team member names and registration numbers]</a:t>
            </a:r>
          </a:p>
          <a:p>
            <a:pPr>
              <a:spcAft>
                <a:spcPts val="800"/>
              </a:spcAft>
            </a:pPr>
            <a:r>
              <a:rPr kumimoji="0" lang="en-US" sz="1500" b="0" i="0" u="none" strike="noStrike" kern="0" cap="none" spc="0" normalizeH="0" baseline="0" noProof="0" dirty="0">
                <a:ln>
                  <a:noFill/>
                </a:ln>
                <a:solidFill>
                  <a:srgbClr val="141414"/>
                </a:solidFill>
                <a:effectLst/>
                <a:highlight>
                  <a:srgbClr val="F6E05E"/>
                </a:highlight>
                <a:uLnTx/>
                <a:uFillTx/>
                <a:latin typeface="Segoe UI" panose="020B0502040204020203" pitchFamily="34" charset="0"/>
              </a:rPr>
              <a:t>[STUDENT INPUT: course name and code · faculty name]</a:t>
            </a:r>
          </a:p>
          <a:p>
            <a:pPr>
              <a:spcAft>
                <a:spcPts val="800"/>
              </a:spcAft>
            </a:pPr>
            <a:r>
              <a:rPr kumimoji="0" lang="en-US" sz="1500" b="0" i="0" u="none" strike="noStrike" kern="0" cap="none" spc="0" normalizeH="0" baseline="0" noProof="0" dirty="0">
                <a:ln>
                  <a:noFill/>
                </a:ln>
                <a:solidFill>
                  <a:srgbClr val="141414"/>
                </a:solidFill>
                <a:effectLst/>
                <a:highlight>
                  <a:srgbClr val="F6E05E"/>
                </a:highlight>
                <a:uLnTx/>
                <a:uFillTx/>
                <a:latin typeface="Segoe UI" panose="020B0502040204020203" pitchFamily="34" charset="0"/>
              </a:rPr>
              <a:t>[STUDENT INPUT: institution, semester, </a:t>
            </a:r>
            <a:r>
              <a:rPr kumimoji="0" lang="en-US" sz="1500" b="0" i="0" u="none" strike="noStrike" kern="0" cap="none" spc="0" normalizeH="0" baseline="0" noProof="0">
                <a:ln>
                  <a:noFill/>
                </a:ln>
                <a:solidFill>
                  <a:srgbClr val="141414"/>
                </a:solidFill>
                <a:effectLst/>
                <a:highlight>
                  <a:srgbClr val="F6E05E"/>
                </a:highlight>
                <a:uLnTx/>
                <a:uFillTx/>
                <a:latin typeface="Segoe UI" panose="020B0502040204020203" pitchFamily="34" charset="0"/>
              </a:rPr>
              <a:t>date]</a:t>
            </a:r>
            <a:endParaRPr kumimoji="0" lang="en-US" sz="1500" b="0" i="0" u="none" strike="noStrike" kern="0" cap="none" spc="0" normalizeH="0" baseline="0" noProof="0" dirty="0">
              <a:ln>
                <a:noFill/>
              </a:ln>
              <a:solidFill>
                <a:srgbClr val="141414"/>
              </a:solidFill>
              <a:effectLst/>
              <a:highlight>
                <a:srgbClr val="F6E05E"/>
              </a:highlight>
              <a:uLnTx/>
              <a:uFillTx/>
              <a:latin typeface="Segoe UI" panose="020B0502040204020203" pitchFamily="34" charset="0"/>
            </a:endParaRPr>
          </a:p>
        </p:txBody>
      </p:sp>
      <p:sp>
        <p:nvSpPr>
          <p:cNvPr id="6" name="TextBox 5">
            <a:extLst>
              <a:ext uri="{FF2B5EF4-FFF2-40B4-BE49-F238E27FC236}">
                <a16:creationId xmlns:a16="http://schemas.microsoft.com/office/drawing/2014/main" id="{9F10EBB7-4C3C-31CA-ECB8-3EC8F764F6D7}"/>
              </a:ext>
            </a:extLst>
          </p:cNvPr>
          <p:cNvSpPr txBox="1"/>
          <p:nvPr/>
        </p:nvSpPr>
        <p:spPr>
          <a:xfrm>
            <a:off x="736600" y="5461000"/>
            <a:ext cx="7112000" cy="279400"/>
          </a:xfrm>
          <a:prstGeom prst="rect">
            <a:avLst/>
          </a:prstGeom>
          <a:noFill/>
        </p:spPr>
        <p:txBody>
          <a:bodyPr vert="horz" wrap="square" lIns="50800" tIns="25400" rIns="50800" bIns="25400" rtlCol="0">
            <a:noAutofit/>
          </a:bodyPr>
          <a:lstStyle/>
          <a:p>
            <a:r>
              <a:rPr lang="en-US" sz="1200">
                <a:solidFill>
                  <a:srgbClr val="8A94A6"/>
                </a:solidFill>
                <a:latin typeface="Consolas" panose="020B0609020204030204" pitchFamily="49" charset="0"/>
              </a:rPr>
              <a:t>Theory of Computation project · Windows desktop application · v1.0.0</a:t>
            </a:r>
            <a:endParaRPr lang="en-IN" sz="1200">
              <a:solidFill>
                <a:srgbClr val="8A94A6"/>
              </a:solidFill>
              <a:latin typeface="Consolas" panose="020B0609020204030204" pitchFamily="49" charset="0"/>
            </a:endParaRPr>
          </a:p>
        </p:txBody>
      </p:sp>
      <p:pic>
        <p:nvPicPr>
          <p:cNvPr id="8" name="Picture 7">
            <a:extLst>
              <a:ext uri="{FF2B5EF4-FFF2-40B4-BE49-F238E27FC236}">
                <a16:creationId xmlns:a16="http://schemas.microsoft.com/office/drawing/2014/main" id="{9C0888FC-4F9B-A4B8-96AC-3AF52D9A82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5000" y="1498600"/>
            <a:ext cx="3175000" cy="3175000"/>
          </a:xfrm>
          <a:prstGeom prst="rect">
            <a:avLst/>
          </a:prstGeom>
        </p:spPr>
      </p:pic>
      <p:sp>
        <p:nvSpPr>
          <p:cNvPr id="9" name="TextBox 8">
            <a:extLst>
              <a:ext uri="{FF2B5EF4-FFF2-40B4-BE49-F238E27FC236}">
                <a16:creationId xmlns:a16="http://schemas.microsoft.com/office/drawing/2014/main" id="{D07FC195-2961-9726-591F-2E9249C421CE}"/>
              </a:ext>
            </a:extLst>
          </p:cNvPr>
          <p:cNvSpPr txBox="1"/>
          <p:nvPr/>
        </p:nvSpPr>
        <p:spPr>
          <a:xfrm>
            <a:off x="508000" y="6426200"/>
            <a:ext cx="6604000" cy="228600"/>
          </a:xfrm>
          <a:prstGeom prst="rect">
            <a:avLst/>
          </a:prstGeom>
          <a:noFill/>
        </p:spPr>
        <p:txBody>
          <a:bodyPr vert="horz" wrap="square" lIns="50800" tIns="25400" rIns="50800" bIns="25400" rtlCol="0">
            <a:noAutofit/>
          </a:bodyPr>
          <a:lstStyle/>
          <a:p>
            <a:r>
              <a:rPr lang="en-US" sz="900">
                <a:solidFill>
                  <a:srgbClr val="8A94A6"/>
                </a:solidFill>
                <a:latin typeface="Consolas" panose="020B0609020204030204" pitchFamily="49" charset="0"/>
              </a:rPr>
              <a:t>SHADOW PROTOCOL // THEORY OF COMPUTATION</a:t>
            </a:r>
            <a:endParaRPr lang="en-IN" sz="900">
              <a:solidFill>
                <a:srgbClr val="8A94A6"/>
              </a:solidFill>
              <a:latin typeface="Consolas" panose="020B0609020204030204" pitchFamily="49" charset="0"/>
            </a:endParaRPr>
          </a:p>
        </p:txBody>
      </p:sp>
      <p:sp>
        <p:nvSpPr>
          <p:cNvPr id="10" name="TextBox 9">
            <a:extLst>
              <a:ext uri="{FF2B5EF4-FFF2-40B4-BE49-F238E27FC236}">
                <a16:creationId xmlns:a16="http://schemas.microsoft.com/office/drawing/2014/main" id="{34536A1B-5B56-BC0B-686B-EE810C9AA19E}"/>
              </a:ext>
            </a:extLst>
          </p:cNvPr>
          <p:cNvSpPr txBox="1"/>
          <p:nvPr/>
        </p:nvSpPr>
        <p:spPr>
          <a:xfrm>
            <a:off x="9652000" y="6426200"/>
            <a:ext cx="2032000" cy="228600"/>
          </a:xfrm>
          <a:prstGeom prst="rect">
            <a:avLst/>
          </a:prstGeom>
          <a:noFill/>
        </p:spPr>
        <p:txBody>
          <a:bodyPr vert="horz" wrap="square" lIns="50800" tIns="25400" rIns="50800" bIns="25400" rtlCol="0">
            <a:noAutofit/>
          </a:bodyPr>
          <a:lstStyle/>
          <a:p>
            <a:pPr algn="r"/>
            <a:r>
              <a:rPr lang="en-IN" sz="900">
                <a:solidFill>
                  <a:srgbClr val="8A94A6"/>
                </a:solidFill>
                <a:latin typeface="Consolas" panose="020B0609020204030204" pitchFamily="49" charset="0"/>
              </a:rPr>
              <a:t>01 / 13</a:t>
            </a:r>
          </a:p>
        </p:txBody>
      </p:sp>
    </p:spTree>
    <p:extLst>
      <p:ext uri="{BB962C8B-B14F-4D97-AF65-F5344CB8AC3E}">
        <p14:creationId xmlns:p14="http://schemas.microsoft.com/office/powerpoint/2010/main" val="767783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9B8586-7CF3-E4C6-EDE2-673979EC03B9}"/>
              </a:ext>
            </a:extLst>
          </p:cNvPr>
          <p:cNvSpPr txBox="1"/>
          <p:nvPr/>
        </p:nvSpPr>
        <p:spPr>
          <a:xfrm>
            <a:off x="457200" y="279400"/>
            <a:ext cx="11277600" cy="558800"/>
          </a:xfrm>
          <a:prstGeom prst="rect">
            <a:avLst/>
          </a:prstGeom>
          <a:noFill/>
        </p:spPr>
        <p:txBody>
          <a:bodyPr vert="horz" wrap="square" lIns="50800" tIns="25400" rIns="50800" bIns="25400" rtlCol="0">
            <a:noAutofit/>
          </a:bodyPr>
          <a:lstStyle/>
          <a:p>
            <a:r>
              <a:rPr lang="en-IN" sz="2600" b="1">
                <a:solidFill>
                  <a:srgbClr val="8A94A6"/>
                </a:solidFill>
                <a:latin typeface="Consolas" panose="020B0609020204030204" pitchFamily="49" charset="0"/>
              </a:rPr>
              <a:t>&gt; </a:t>
            </a:r>
            <a:r>
              <a:rPr lang="en-IN" sz="2600" b="1">
                <a:solidFill>
                  <a:srgbClr val="4FD1C5"/>
                </a:solidFill>
                <a:latin typeface="Consolas" panose="020B0609020204030204" pitchFamily="49" charset="0"/>
              </a:rPr>
              <a:t>PROBLEM STATEMENT </a:t>
            </a:r>
            <a:r>
              <a:rPr lang="en-IN" sz="2600">
                <a:solidFill>
                  <a:srgbClr val="4FD1C5"/>
                </a:solidFill>
                <a:latin typeface="Consolas" panose="020B0609020204030204" pitchFamily="49" charset="0"/>
              </a:rPr>
              <a:t>▌</a:t>
            </a:r>
          </a:p>
        </p:txBody>
      </p:sp>
      <p:cxnSp>
        <p:nvCxnSpPr>
          <p:cNvPr id="3" name="Straight Connector 2">
            <a:extLst>
              <a:ext uri="{FF2B5EF4-FFF2-40B4-BE49-F238E27FC236}">
                <a16:creationId xmlns:a16="http://schemas.microsoft.com/office/drawing/2014/main" id="{1F8C5BBD-3DA0-04C9-51B3-908A49834793}"/>
              </a:ext>
            </a:extLst>
          </p:cNvPr>
          <p:cNvCxnSpPr/>
          <p:nvPr/>
        </p:nvCxnSpPr>
        <p:spPr>
          <a:xfrm>
            <a:off x="508000" y="914400"/>
            <a:ext cx="11176000" cy="0"/>
          </a:xfrm>
          <a:prstGeom prst="line">
            <a:avLst/>
          </a:prstGeom>
          <a:ln w="15875">
            <a:solidFill>
              <a:srgbClr val="2C7A7B"/>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4AA40425-0A2A-FD31-8C76-836F4E6FC320}"/>
              </a:ext>
            </a:extLst>
          </p:cNvPr>
          <p:cNvSpPr txBox="1"/>
          <p:nvPr/>
        </p:nvSpPr>
        <p:spPr>
          <a:xfrm>
            <a:off x="508000" y="6426200"/>
            <a:ext cx="6604000" cy="228600"/>
          </a:xfrm>
          <a:prstGeom prst="rect">
            <a:avLst/>
          </a:prstGeom>
          <a:noFill/>
        </p:spPr>
        <p:txBody>
          <a:bodyPr vert="horz" wrap="square" lIns="50800" tIns="25400" rIns="50800" bIns="25400" rtlCol="0">
            <a:noAutofit/>
          </a:bodyPr>
          <a:lstStyle/>
          <a:p>
            <a:r>
              <a:rPr lang="en-US" sz="900">
                <a:solidFill>
                  <a:srgbClr val="8A94A6"/>
                </a:solidFill>
                <a:latin typeface="Consolas" panose="020B0609020204030204" pitchFamily="49" charset="0"/>
              </a:rPr>
              <a:t>SHADOW PROTOCOL // THEORY OF COMPUTATION</a:t>
            </a:r>
            <a:endParaRPr lang="en-IN" sz="900">
              <a:solidFill>
                <a:srgbClr val="8A94A6"/>
              </a:solidFill>
              <a:latin typeface="Consolas" panose="020B0609020204030204" pitchFamily="49" charset="0"/>
            </a:endParaRPr>
          </a:p>
        </p:txBody>
      </p:sp>
      <p:sp>
        <p:nvSpPr>
          <p:cNvPr id="5" name="TextBox 4">
            <a:extLst>
              <a:ext uri="{FF2B5EF4-FFF2-40B4-BE49-F238E27FC236}">
                <a16:creationId xmlns:a16="http://schemas.microsoft.com/office/drawing/2014/main" id="{4892C9CE-F076-015B-7A75-A5441226A8E0}"/>
              </a:ext>
            </a:extLst>
          </p:cNvPr>
          <p:cNvSpPr txBox="1"/>
          <p:nvPr/>
        </p:nvSpPr>
        <p:spPr>
          <a:xfrm>
            <a:off x="9652000" y="6426200"/>
            <a:ext cx="2032000" cy="228600"/>
          </a:xfrm>
          <a:prstGeom prst="rect">
            <a:avLst/>
          </a:prstGeom>
          <a:noFill/>
        </p:spPr>
        <p:txBody>
          <a:bodyPr vert="horz" wrap="square" lIns="50800" tIns="25400" rIns="50800" bIns="25400" rtlCol="0">
            <a:noAutofit/>
          </a:bodyPr>
          <a:lstStyle/>
          <a:p>
            <a:pPr algn="r"/>
            <a:r>
              <a:rPr lang="en-IN" sz="900">
                <a:solidFill>
                  <a:srgbClr val="8A94A6"/>
                </a:solidFill>
                <a:latin typeface="Consolas" panose="020B0609020204030204" pitchFamily="49" charset="0"/>
              </a:rPr>
              <a:t>02 / 13</a:t>
            </a:r>
          </a:p>
        </p:txBody>
      </p:sp>
      <p:sp>
        <p:nvSpPr>
          <p:cNvPr id="6" name="TextBox 5">
            <a:extLst>
              <a:ext uri="{FF2B5EF4-FFF2-40B4-BE49-F238E27FC236}">
                <a16:creationId xmlns:a16="http://schemas.microsoft.com/office/drawing/2014/main" id="{80A82D2C-59C2-7A17-395B-DD9146F00CB3}"/>
              </a:ext>
            </a:extLst>
          </p:cNvPr>
          <p:cNvSpPr txBox="1"/>
          <p:nvPr/>
        </p:nvSpPr>
        <p:spPr>
          <a:xfrm>
            <a:off x="508000" y="1219200"/>
            <a:ext cx="5715000" cy="5080000"/>
          </a:xfrm>
          <a:prstGeom prst="rect">
            <a:avLst/>
          </a:prstGeom>
          <a:noFill/>
        </p:spPr>
        <p:txBody>
          <a:bodyPr vert="horz" wrap="square" lIns="50800" tIns="25400" rIns="50800" bIns="25400" rtlCol="0">
            <a:noAutofit/>
          </a:bodyPr>
          <a:lstStyle/>
          <a:p>
            <a:pPr marL="254000" indent="-254000">
              <a:spcAft>
                <a:spcPts val="900"/>
              </a:spcAft>
              <a:buClr>
                <a:srgbClr val="4FD1C5"/>
              </a:buClr>
              <a:buFont typeface="+mj-lt"/>
              <a:buChar char="▸"/>
            </a:pPr>
            <a:r>
              <a:rPr lang="en-US">
                <a:solidFill>
                  <a:srgbClr val="E2E8F0"/>
                </a:solidFill>
                <a:latin typeface="Segoe UI" panose="020B0502040204020203" pitchFamily="34" charset="0"/>
              </a:rPr>
              <a:t>Automata are taught on paper, disconnected from real systems</a:t>
            </a:r>
          </a:p>
          <a:p>
            <a:pPr marL="254000" indent="-254000">
              <a:spcAft>
                <a:spcPts val="900"/>
              </a:spcAft>
              <a:buClr>
                <a:srgbClr val="4FD1C5"/>
              </a:buClr>
              <a:buFont typeface="+mj-lt"/>
              <a:buChar char="▸"/>
            </a:pPr>
            <a:r>
              <a:rPr lang="en-US">
                <a:solidFill>
                  <a:srgbClr val="E2E8F0"/>
                </a:solidFill>
                <a:latin typeface="Segoe UI" panose="020B0502040204020203" pitchFamily="34" charset="0"/>
              </a:rPr>
              <a:t>Static diagrams don't show computation step by step</a:t>
            </a:r>
          </a:p>
          <a:p>
            <a:pPr marL="254000" indent="-254000">
              <a:spcAft>
                <a:spcPts val="900"/>
              </a:spcAft>
              <a:buClr>
                <a:srgbClr val="4FD1C5"/>
              </a:buClr>
              <a:buFont typeface="+mj-lt"/>
              <a:buChar char="▸"/>
            </a:pPr>
            <a:r>
              <a:rPr lang="en-US">
                <a:solidFill>
                  <a:srgbClr val="E2E8F0"/>
                </a:solidFill>
                <a:latin typeface="Segoe UI" panose="020B0502040204020203" pitchFamily="34" charset="0"/>
              </a:rPr>
              <a:t>Nondeterminism is often misread as randomness</a:t>
            </a:r>
          </a:p>
          <a:p>
            <a:pPr marL="254000" indent="-254000">
              <a:spcAft>
                <a:spcPts val="900"/>
              </a:spcAft>
              <a:buClr>
                <a:srgbClr val="4FD1C5"/>
              </a:buClr>
              <a:buFont typeface="+mj-lt"/>
              <a:buChar char="▸"/>
            </a:pPr>
            <a:r>
              <a:rPr lang="en-US">
                <a:solidFill>
                  <a:srgbClr val="E2E8F0"/>
                </a:solidFill>
                <a:latin typeface="Segoe UI" panose="020B0502040204020203" pitchFamily="34" charset="0"/>
              </a:rPr>
              <a:t>Game AI hides its state machine in ad-hoc </a:t>
            </a:r>
            <a:r>
              <a:rPr lang="en-US">
                <a:solidFill>
                  <a:srgbClr val="4FD1C5"/>
                </a:solidFill>
                <a:latin typeface="Consolas" panose="020B0609020204030204" pitchFamily="49" charset="0"/>
              </a:rPr>
              <a:t>if</a:t>
            </a:r>
            <a:r>
              <a:rPr lang="en-US">
                <a:solidFill>
                  <a:srgbClr val="E2E8F0"/>
                </a:solidFill>
                <a:latin typeface="Segoe UI" panose="020B0502040204020203" pitchFamily="34" charset="0"/>
              </a:rPr>
              <a:t> statements: not stated, not validated, not visible</a:t>
            </a:r>
            <a:endParaRPr lang="en-IN">
              <a:solidFill>
                <a:srgbClr val="E2E8F0"/>
              </a:solidFill>
              <a:latin typeface="Segoe UI" panose="020B0502040204020203" pitchFamily="34" charset="0"/>
            </a:endParaRPr>
          </a:p>
        </p:txBody>
      </p:sp>
      <p:pic>
        <p:nvPicPr>
          <p:cNvPr id="8" name="Picture 7">
            <a:extLst>
              <a:ext uri="{FF2B5EF4-FFF2-40B4-BE49-F238E27FC236}">
                <a16:creationId xmlns:a16="http://schemas.microsoft.com/office/drawing/2014/main" id="{5DD8EAF1-41D6-E34B-231C-32AB41F5C8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3500" y="1946672"/>
            <a:ext cx="5270500" cy="2964656"/>
          </a:xfrm>
          <a:prstGeom prst="rect">
            <a:avLst/>
          </a:prstGeom>
          <a:ln w="12700">
            <a:solidFill>
              <a:srgbClr val="2C7A7B"/>
            </a:solidFill>
          </a:ln>
        </p:spPr>
      </p:pic>
      <p:sp>
        <p:nvSpPr>
          <p:cNvPr id="9" name="TextBox 8">
            <a:extLst>
              <a:ext uri="{FF2B5EF4-FFF2-40B4-BE49-F238E27FC236}">
                <a16:creationId xmlns:a16="http://schemas.microsoft.com/office/drawing/2014/main" id="{839F25F2-6832-E9F7-B5CD-A1EE4C249489}"/>
              </a:ext>
            </a:extLst>
          </p:cNvPr>
          <p:cNvSpPr txBox="1"/>
          <p:nvPr/>
        </p:nvSpPr>
        <p:spPr>
          <a:xfrm>
            <a:off x="6413500" y="5435600"/>
            <a:ext cx="5270500" cy="228600"/>
          </a:xfrm>
          <a:prstGeom prst="rect">
            <a:avLst/>
          </a:prstGeom>
          <a:noFill/>
        </p:spPr>
        <p:txBody>
          <a:bodyPr vert="horz" wrap="square" lIns="50800" tIns="25400" rIns="50800" bIns="25400" rtlCol="0">
            <a:noAutofit/>
          </a:bodyPr>
          <a:lstStyle/>
          <a:p>
            <a:pPr algn="ctr"/>
            <a:r>
              <a:rPr lang="en-US" sz="1000">
                <a:solidFill>
                  <a:srgbClr val="8A94A6"/>
                </a:solidFill>
                <a:latin typeface="Consolas" panose="020B0609020204030204" pitchFamily="49" charset="0"/>
              </a:rPr>
              <a:t>live: Guard 1's DFA while the game runs</a:t>
            </a:r>
            <a:endParaRPr lang="en-IN" sz="1000">
              <a:solidFill>
                <a:srgbClr val="8A94A6"/>
              </a:solidFill>
              <a:latin typeface="Consolas" panose="020B0609020204030204" pitchFamily="49" charset="0"/>
            </a:endParaRPr>
          </a:p>
        </p:txBody>
      </p:sp>
    </p:spTree>
    <p:extLst>
      <p:ext uri="{BB962C8B-B14F-4D97-AF65-F5344CB8AC3E}">
        <p14:creationId xmlns:p14="http://schemas.microsoft.com/office/powerpoint/2010/main" val="683370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696B94-2F80-D01D-37B8-88DDDBB1CAAE}"/>
              </a:ext>
            </a:extLst>
          </p:cNvPr>
          <p:cNvSpPr txBox="1"/>
          <p:nvPr/>
        </p:nvSpPr>
        <p:spPr>
          <a:xfrm>
            <a:off x="457200" y="279400"/>
            <a:ext cx="11277600" cy="558800"/>
          </a:xfrm>
          <a:prstGeom prst="rect">
            <a:avLst/>
          </a:prstGeom>
          <a:noFill/>
        </p:spPr>
        <p:txBody>
          <a:bodyPr vert="horz" wrap="square" lIns="50800" tIns="25400" rIns="50800" bIns="25400" rtlCol="0">
            <a:noAutofit/>
          </a:bodyPr>
          <a:lstStyle/>
          <a:p>
            <a:r>
              <a:rPr lang="en-IN" sz="2600" b="1">
                <a:solidFill>
                  <a:srgbClr val="8A94A6"/>
                </a:solidFill>
                <a:latin typeface="Consolas" panose="020B0609020204030204" pitchFamily="49" charset="0"/>
              </a:rPr>
              <a:t>&gt; </a:t>
            </a:r>
            <a:r>
              <a:rPr lang="en-IN" sz="2600" b="1">
                <a:solidFill>
                  <a:srgbClr val="4FD1C5"/>
                </a:solidFill>
                <a:latin typeface="Consolas" panose="020B0609020204030204" pitchFamily="49" charset="0"/>
              </a:rPr>
              <a:t>PROJECT OBJECTIVES </a:t>
            </a:r>
            <a:r>
              <a:rPr lang="en-IN" sz="2600">
                <a:solidFill>
                  <a:srgbClr val="4FD1C5"/>
                </a:solidFill>
                <a:latin typeface="Consolas" panose="020B0609020204030204" pitchFamily="49" charset="0"/>
              </a:rPr>
              <a:t>▌</a:t>
            </a:r>
          </a:p>
        </p:txBody>
      </p:sp>
      <p:cxnSp>
        <p:nvCxnSpPr>
          <p:cNvPr id="3" name="Straight Connector 2">
            <a:extLst>
              <a:ext uri="{FF2B5EF4-FFF2-40B4-BE49-F238E27FC236}">
                <a16:creationId xmlns:a16="http://schemas.microsoft.com/office/drawing/2014/main" id="{07191797-B585-0DBE-804C-61AE6EA228C3}"/>
              </a:ext>
            </a:extLst>
          </p:cNvPr>
          <p:cNvCxnSpPr/>
          <p:nvPr/>
        </p:nvCxnSpPr>
        <p:spPr>
          <a:xfrm>
            <a:off x="508000" y="914400"/>
            <a:ext cx="11176000" cy="0"/>
          </a:xfrm>
          <a:prstGeom prst="line">
            <a:avLst/>
          </a:prstGeom>
          <a:ln w="15875">
            <a:solidFill>
              <a:srgbClr val="2C7A7B"/>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269019A0-F0F0-8961-5C28-F208832F0780}"/>
              </a:ext>
            </a:extLst>
          </p:cNvPr>
          <p:cNvSpPr txBox="1"/>
          <p:nvPr/>
        </p:nvSpPr>
        <p:spPr>
          <a:xfrm>
            <a:off x="508000" y="6426200"/>
            <a:ext cx="6604000" cy="228600"/>
          </a:xfrm>
          <a:prstGeom prst="rect">
            <a:avLst/>
          </a:prstGeom>
          <a:noFill/>
        </p:spPr>
        <p:txBody>
          <a:bodyPr vert="horz" wrap="square" lIns="50800" tIns="25400" rIns="50800" bIns="25400" rtlCol="0">
            <a:noAutofit/>
          </a:bodyPr>
          <a:lstStyle/>
          <a:p>
            <a:r>
              <a:rPr lang="en-US" sz="900">
                <a:solidFill>
                  <a:srgbClr val="8A94A6"/>
                </a:solidFill>
                <a:latin typeface="Consolas" panose="020B0609020204030204" pitchFamily="49" charset="0"/>
              </a:rPr>
              <a:t>SHADOW PROTOCOL // THEORY OF COMPUTATION</a:t>
            </a:r>
            <a:endParaRPr lang="en-IN" sz="900">
              <a:solidFill>
                <a:srgbClr val="8A94A6"/>
              </a:solidFill>
              <a:latin typeface="Consolas" panose="020B0609020204030204" pitchFamily="49" charset="0"/>
            </a:endParaRPr>
          </a:p>
        </p:txBody>
      </p:sp>
      <p:sp>
        <p:nvSpPr>
          <p:cNvPr id="5" name="TextBox 4">
            <a:extLst>
              <a:ext uri="{FF2B5EF4-FFF2-40B4-BE49-F238E27FC236}">
                <a16:creationId xmlns:a16="http://schemas.microsoft.com/office/drawing/2014/main" id="{8D76A08F-F58A-81CE-EF94-15F95F071D70}"/>
              </a:ext>
            </a:extLst>
          </p:cNvPr>
          <p:cNvSpPr txBox="1"/>
          <p:nvPr/>
        </p:nvSpPr>
        <p:spPr>
          <a:xfrm>
            <a:off x="9652000" y="6426200"/>
            <a:ext cx="2032000" cy="228600"/>
          </a:xfrm>
          <a:prstGeom prst="rect">
            <a:avLst/>
          </a:prstGeom>
          <a:noFill/>
        </p:spPr>
        <p:txBody>
          <a:bodyPr vert="horz" wrap="square" lIns="50800" tIns="25400" rIns="50800" bIns="25400" rtlCol="0">
            <a:noAutofit/>
          </a:bodyPr>
          <a:lstStyle/>
          <a:p>
            <a:pPr algn="r"/>
            <a:r>
              <a:rPr lang="en-IN" sz="900">
                <a:solidFill>
                  <a:srgbClr val="8A94A6"/>
                </a:solidFill>
                <a:latin typeface="Consolas" panose="020B0609020204030204" pitchFamily="49" charset="0"/>
              </a:rPr>
              <a:t>03 / 13</a:t>
            </a:r>
          </a:p>
        </p:txBody>
      </p:sp>
      <p:sp>
        <p:nvSpPr>
          <p:cNvPr id="6" name="TextBox 5">
            <a:extLst>
              <a:ext uri="{FF2B5EF4-FFF2-40B4-BE49-F238E27FC236}">
                <a16:creationId xmlns:a16="http://schemas.microsoft.com/office/drawing/2014/main" id="{1E23F0FC-8AED-CA47-D131-8C036EC26CDA}"/>
              </a:ext>
            </a:extLst>
          </p:cNvPr>
          <p:cNvSpPr txBox="1"/>
          <p:nvPr/>
        </p:nvSpPr>
        <p:spPr>
          <a:xfrm>
            <a:off x="508000" y="1219200"/>
            <a:ext cx="11176000" cy="5130800"/>
          </a:xfrm>
          <a:prstGeom prst="rect">
            <a:avLst/>
          </a:prstGeom>
          <a:noFill/>
        </p:spPr>
        <p:txBody>
          <a:bodyPr vert="horz" wrap="square" lIns="50800" tIns="25400" rIns="50800" bIns="25400" rtlCol="0">
            <a:noAutofit/>
          </a:bodyPr>
          <a:lstStyle/>
          <a:p>
            <a:pPr marL="254000" indent="-254000">
              <a:spcAft>
                <a:spcPts val="1000"/>
              </a:spcAft>
              <a:buClr>
                <a:srgbClr val="4FD1C5"/>
              </a:buClr>
              <a:buFont typeface="+mj-lt"/>
              <a:buChar char="✓"/>
            </a:pPr>
            <a:r>
              <a:rPr lang="en-IN" sz="1900">
                <a:solidFill>
                  <a:srgbClr val="E2E8F0"/>
                </a:solidFill>
                <a:latin typeface="Segoe UI" panose="020B0502040204020203" pitchFamily="34" charset="0"/>
              </a:rPr>
              <a:t>Reusable, framework-independent automata engine: validation, DFA/NFA simulation, </a:t>
            </a:r>
            <a:r>
              <a:rPr lang="el-GR" sz="1900">
                <a:solidFill>
                  <a:srgbClr val="E2E8F0"/>
                </a:solidFill>
                <a:latin typeface="Segoe UI" panose="020B0502040204020203" pitchFamily="34" charset="0"/>
              </a:rPr>
              <a:t>ε-</a:t>
            </a:r>
            <a:r>
              <a:rPr lang="en-IN" sz="1900">
                <a:solidFill>
                  <a:srgbClr val="E2E8F0"/>
                </a:solidFill>
                <a:latin typeface="Segoe UI" panose="020B0502040204020203" pitchFamily="34" charset="0"/>
              </a:rPr>
              <a:t>closure, subset construction</a:t>
            </a:r>
          </a:p>
          <a:p>
            <a:pPr marL="254000" indent="-254000">
              <a:spcAft>
                <a:spcPts val="1000"/>
              </a:spcAft>
              <a:buClr>
                <a:srgbClr val="4FD1C5"/>
              </a:buClr>
              <a:buFont typeface="+mj-lt"/>
              <a:buChar char="✓"/>
            </a:pPr>
            <a:r>
              <a:rPr lang="en-IN" sz="1900">
                <a:solidFill>
                  <a:srgbClr val="E2E8F0"/>
                </a:solidFill>
                <a:latin typeface="Segoe UI" panose="020B0502040204020203" pitchFamily="34" charset="0"/>
              </a:rPr>
              <a:t>Stealth game whose guards are controlled </a:t>
            </a:r>
            <a:r>
              <a:rPr lang="en-IN" sz="1900" b="1">
                <a:solidFill>
                  <a:srgbClr val="FFFFFF"/>
                </a:solidFill>
                <a:latin typeface="Segoe UI" panose="020B0502040204020203" pitchFamily="34" charset="0"/>
              </a:rPr>
              <a:t>only</a:t>
            </a:r>
            <a:r>
              <a:rPr lang="en-IN" sz="1900">
                <a:solidFill>
                  <a:srgbClr val="E2E8F0"/>
                </a:solidFill>
                <a:latin typeface="Segoe UI" panose="020B0502040204020203" pitchFamily="34" charset="0"/>
              </a:rPr>
              <a:t> by a validated DFA</a:t>
            </a:r>
          </a:p>
          <a:p>
            <a:pPr marL="254000" indent="-254000">
              <a:spcAft>
                <a:spcPts val="1000"/>
              </a:spcAft>
              <a:buClr>
                <a:srgbClr val="4FD1C5"/>
              </a:buClr>
              <a:buFont typeface="+mj-lt"/>
              <a:buChar char="✓"/>
            </a:pPr>
            <a:r>
              <a:rPr lang="en-IN" sz="1900">
                <a:solidFill>
                  <a:srgbClr val="E2E8F0"/>
                </a:solidFill>
                <a:latin typeface="Segoe UI" panose="020B0502040204020203" pitchFamily="34" charset="0"/>
              </a:rPr>
              <a:t>Live visualiser with pause, step and reset</a:t>
            </a:r>
          </a:p>
          <a:p>
            <a:pPr marL="254000" indent="-254000">
              <a:spcAft>
                <a:spcPts val="1000"/>
              </a:spcAft>
              <a:buClr>
                <a:srgbClr val="4FD1C5"/>
              </a:buClr>
              <a:buFont typeface="+mj-lt"/>
              <a:buChar char="✓"/>
            </a:pPr>
            <a:r>
              <a:rPr lang="en-IN" sz="1900">
                <a:solidFill>
                  <a:srgbClr val="E2E8F0"/>
                </a:solidFill>
                <a:latin typeface="Segoe UI" panose="020B0502040204020203" pitchFamily="34" charset="0"/>
              </a:rPr>
              <a:t>NFA ⇄ DFA comparison on the same input</a:t>
            </a:r>
          </a:p>
          <a:p>
            <a:pPr marL="254000" indent="-254000">
              <a:spcAft>
                <a:spcPts val="1000"/>
              </a:spcAft>
              <a:buClr>
                <a:srgbClr val="4FD1C5"/>
              </a:buClr>
              <a:buFont typeface="+mj-lt"/>
              <a:buChar char="✓"/>
            </a:pPr>
            <a:r>
              <a:rPr lang="en-IN" sz="1900">
                <a:solidFill>
                  <a:srgbClr val="E2E8F0"/>
                </a:solidFill>
                <a:latin typeface="Segoe UI" panose="020B0502040204020203" pitchFamily="34" charset="0"/>
              </a:rPr>
              <a:t>Automata Lab: build, validate, simulate, convert, save</a:t>
            </a:r>
          </a:p>
          <a:p>
            <a:pPr marL="254000" indent="-254000">
              <a:spcAft>
                <a:spcPts val="1000"/>
              </a:spcAft>
              <a:buClr>
                <a:srgbClr val="4FD1C5"/>
              </a:buClr>
              <a:buFont typeface="+mj-lt"/>
              <a:buChar char="✓"/>
            </a:pPr>
            <a:r>
              <a:rPr lang="en-IN" sz="1900">
                <a:solidFill>
                  <a:srgbClr val="E2E8F0"/>
                </a:solidFill>
                <a:latin typeface="Segoe UI" panose="020B0502040204020203" pitchFamily="34" charset="0"/>
              </a:rPr>
              <a:t>Interactive tutorial with challenges</a:t>
            </a:r>
          </a:p>
          <a:p>
            <a:pPr marL="254000" indent="-254000">
              <a:spcAft>
                <a:spcPts val="1000"/>
              </a:spcAft>
              <a:buClr>
                <a:srgbClr val="4FD1C5"/>
              </a:buClr>
              <a:buFont typeface="+mj-lt"/>
              <a:buChar char="✓"/>
            </a:pPr>
            <a:r>
              <a:rPr lang="en-IN" sz="1900">
                <a:solidFill>
                  <a:srgbClr val="E2E8F0"/>
                </a:solidFill>
                <a:latin typeface="Segoe UI" panose="020B0502040204020203" pitchFamily="34" charset="0"/>
              </a:rPr>
              <a:t>Automated verification; offline Windows installer</a:t>
            </a:r>
          </a:p>
        </p:txBody>
      </p:sp>
    </p:spTree>
    <p:extLst>
      <p:ext uri="{BB962C8B-B14F-4D97-AF65-F5344CB8AC3E}">
        <p14:creationId xmlns:p14="http://schemas.microsoft.com/office/powerpoint/2010/main" val="662248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E2B216-F0D6-A3E1-3584-861B5B30A8FF}"/>
              </a:ext>
            </a:extLst>
          </p:cNvPr>
          <p:cNvSpPr txBox="1"/>
          <p:nvPr/>
        </p:nvSpPr>
        <p:spPr>
          <a:xfrm>
            <a:off x="457200" y="279400"/>
            <a:ext cx="11277600" cy="558800"/>
          </a:xfrm>
          <a:prstGeom prst="rect">
            <a:avLst/>
          </a:prstGeom>
          <a:noFill/>
        </p:spPr>
        <p:txBody>
          <a:bodyPr vert="horz" wrap="square" lIns="50800" tIns="25400" rIns="50800" bIns="25400" rtlCol="0">
            <a:noAutofit/>
          </a:bodyPr>
          <a:lstStyle/>
          <a:p>
            <a:r>
              <a:rPr lang="en-IN" sz="2600" b="1">
                <a:solidFill>
                  <a:srgbClr val="8A94A6"/>
                </a:solidFill>
                <a:latin typeface="Consolas" panose="020B0609020204030204" pitchFamily="49" charset="0"/>
              </a:rPr>
              <a:t>&gt; </a:t>
            </a:r>
            <a:r>
              <a:rPr lang="en-IN" sz="2600" b="1">
                <a:solidFill>
                  <a:srgbClr val="4FD1C5"/>
                </a:solidFill>
                <a:latin typeface="Consolas" panose="020B0609020204030204" pitchFamily="49" charset="0"/>
              </a:rPr>
              <a:t>TECHNOLOGIES USED </a:t>
            </a:r>
            <a:r>
              <a:rPr lang="en-IN" sz="2600">
                <a:solidFill>
                  <a:srgbClr val="4FD1C5"/>
                </a:solidFill>
                <a:latin typeface="Consolas" panose="020B0609020204030204" pitchFamily="49" charset="0"/>
              </a:rPr>
              <a:t>▌</a:t>
            </a:r>
          </a:p>
        </p:txBody>
      </p:sp>
      <p:cxnSp>
        <p:nvCxnSpPr>
          <p:cNvPr id="3" name="Straight Connector 2">
            <a:extLst>
              <a:ext uri="{FF2B5EF4-FFF2-40B4-BE49-F238E27FC236}">
                <a16:creationId xmlns:a16="http://schemas.microsoft.com/office/drawing/2014/main" id="{BD0349DB-0BF4-7C14-1E50-08992B12453A}"/>
              </a:ext>
            </a:extLst>
          </p:cNvPr>
          <p:cNvCxnSpPr/>
          <p:nvPr/>
        </p:nvCxnSpPr>
        <p:spPr>
          <a:xfrm>
            <a:off x="508000" y="914400"/>
            <a:ext cx="11176000" cy="0"/>
          </a:xfrm>
          <a:prstGeom prst="line">
            <a:avLst/>
          </a:prstGeom>
          <a:ln w="15875">
            <a:solidFill>
              <a:srgbClr val="2C7A7B"/>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B36874B-206D-2431-F187-2B52B9A26A11}"/>
              </a:ext>
            </a:extLst>
          </p:cNvPr>
          <p:cNvSpPr txBox="1"/>
          <p:nvPr/>
        </p:nvSpPr>
        <p:spPr>
          <a:xfrm>
            <a:off x="508000" y="6426200"/>
            <a:ext cx="6604000" cy="228600"/>
          </a:xfrm>
          <a:prstGeom prst="rect">
            <a:avLst/>
          </a:prstGeom>
          <a:noFill/>
        </p:spPr>
        <p:txBody>
          <a:bodyPr vert="horz" wrap="square" lIns="50800" tIns="25400" rIns="50800" bIns="25400" rtlCol="0">
            <a:noAutofit/>
          </a:bodyPr>
          <a:lstStyle/>
          <a:p>
            <a:r>
              <a:rPr lang="en-US" sz="900">
                <a:solidFill>
                  <a:srgbClr val="8A94A6"/>
                </a:solidFill>
                <a:latin typeface="Consolas" panose="020B0609020204030204" pitchFamily="49" charset="0"/>
              </a:rPr>
              <a:t>SHADOW PROTOCOL // THEORY OF COMPUTATION</a:t>
            </a:r>
            <a:endParaRPr lang="en-IN" sz="900">
              <a:solidFill>
                <a:srgbClr val="8A94A6"/>
              </a:solidFill>
              <a:latin typeface="Consolas" panose="020B0609020204030204" pitchFamily="49" charset="0"/>
            </a:endParaRPr>
          </a:p>
        </p:txBody>
      </p:sp>
      <p:sp>
        <p:nvSpPr>
          <p:cNvPr id="5" name="TextBox 4">
            <a:extLst>
              <a:ext uri="{FF2B5EF4-FFF2-40B4-BE49-F238E27FC236}">
                <a16:creationId xmlns:a16="http://schemas.microsoft.com/office/drawing/2014/main" id="{FAC46588-22DE-BB32-3441-A7A6E77DDDCA}"/>
              </a:ext>
            </a:extLst>
          </p:cNvPr>
          <p:cNvSpPr txBox="1"/>
          <p:nvPr/>
        </p:nvSpPr>
        <p:spPr>
          <a:xfrm>
            <a:off x="9652000" y="6426200"/>
            <a:ext cx="2032000" cy="228600"/>
          </a:xfrm>
          <a:prstGeom prst="rect">
            <a:avLst/>
          </a:prstGeom>
          <a:noFill/>
        </p:spPr>
        <p:txBody>
          <a:bodyPr vert="horz" wrap="square" lIns="50800" tIns="25400" rIns="50800" bIns="25400" rtlCol="0">
            <a:noAutofit/>
          </a:bodyPr>
          <a:lstStyle/>
          <a:p>
            <a:pPr algn="r"/>
            <a:r>
              <a:rPr lang="en-IN" sz="900">
                <a:solidFill>
                  <a:srgbClr val="8A94A6"/>
                </a:solidFill>
                <a:latin typeface="Consolas" panose="020B0609020204030204" pitchFamily="49" charset="0"/>
              </a:rPr>
              <a:t>04 / 13</a:t>
            </a:r>
          </a:p>
        </p:txBody>
      </p:sp>
      <p:sp>
        <p:nvSpPr>
          <p:cNvPr id="6" name="TextBox 5">
            <a:extLst>
              <a:ext uri="{FF2B5EF4-FFF2-40B4-BE49-F238E27FC236}">
                <a16:creationId xmlns:a16="http://schemas.microsoft.com/office/drawing/2014/main" id="{0778B5BD-9AB2-3315-08B0-8A5FBE12E2C8}"/>
              </a:ext>
            </a:extLst>
          </p:cNvPr>
          <p:cNvSpPr txBox="1"/>
          <p:nvPr/>
        </p:nvSpPr>
        <p:spPr>
          <a:xfrm>
            <a:off x="508000" y="1219200"/>
            <a:ext cx="5715000" cy="5130800"/>
          </a:xfrm>
          <a:prstGeom prst="rect">
            <a:avLst/>
          </a:prstGeom>
          <a:noFill/>
        </p:spPr>
        <p:txBody>
          <a:bodyPr vert="horz" wrap="square" lIns="50800" tIns="25400" rIns="50800" bIns="25400" rtlCol="0">
            <a:noAutofit/>
          </a:bodyPr>
          <a:lstStyle/>
          <a:p>
            <a:pPr marL="254000" indent="-254000">
              <a:spcAft>
                <a:spcPts val="900"/>
              </a:spcAft>
              <a:buClr>
                <a:srgbClr val="4FD1C5"/>
              </a:buClr>
              <a:buFont typeface="+mj-lt"/>
              <a:buChar char="▸"/>
            </a:pPr>
            <a:r>
              <a:rPr lang="en-IN" b="1">
                <a:solidFill>
                  <a:srgbClr val="FFFFFF"/>
                </a:solidFill>
                <a:latin typeface="Segoe UI" panose="020B0502040204020203" pitchFamily="34" charset="0"/>
              </a:rPr>
              <a:t>Tauri 2</a:t>
            </a:r>
            <a:r>
              <a:rPr lang="en-IN">
                <a:solidFill>
                  <a:srgbClr val="E2E8F0"/>
                </a:solidFill>
                <a:latin typeface="Segoe UI" panose="020B0502040204020203" pitchFamily="34" charset="0"/>
              </a:rPr>
              <a:t> (Rust): native Windows window and installers; UI rendered by WebView2</a:t>
            </a:r>
          </a:p>
          <a:p>
            <a:pPr marL="254000" indent="-254000">
              <a:spcAft>
                <a:spcPts val="900"/>
              </a:spcAft>
              <a:buClr>
                <a:srgbClr val="4FD1C5"/>
              </a:buClr>
              <a:buFont typeface="+mj-lt"/>
              <a:buChar char="▸"/>
            </a:pPr>
            <a:r>
              <a:rPr lang="en-IN" b="1">
                <a:solidFill>
                  <a:srgbClr val="FFFFFF"/>
                </a:solidFill>
                <a:latin typeface="Segoe UI" panose="020B0502040204020203" pitchFamily="34" charset="0"/>
              </a:rPr>
              <a:t>React 19 + TypeScript</a:t>
            </a:r>
            <a:r>
              <a:rPr lang="en-IN">
                <a:solidFill>
                  <a:srgbClr val="E2E8F0"/>
                </a:solidFill>
                <a:latin typeface="Segoe UI" panose="020B0502040204020203" pitchFamily="34" charset="0"/>
              </a:rPr>
              <a:t>: menus, visualiser, Lab, tutorial</a:t>
            </a:r>
          </a:p>
          <a:p>
            <a:pPr marL="254000" indent="-254000">
              <a:spcAft>
                <a:spcPts val="900"/>
              </a:spcAft>
              <a:buClr>
                <a:srgbClr val="4FD1C5"/>
              </a:buClr>
              <a:buFont typeface="+mj-lt"/>
              <a:buChar char="▸"/>
            </a:pPr>
            <a:r>
              <a:rPr lang="en-IN" b="1">
                <a:solidFill>
                  <a:srgbClr val="FFFFFF"/>
                </a:solidFill>
                <a:latin typeface="Segoe UI" panose="020B0502040204020203" pitchFamily="34" charset="0"/>
              </a:rPr>
              <a:t>Phaser 3.90</a:t>
            </a:r>
            <a:r>
              <a:rPr lang="en-IN">
                <a:solidFill>
                  <a:srgbClr val="E2E8F0"/>
                </a:solidFill>
                <a:latin typeface="Segoe UI" panose="020B0502040204020203" pitchFamily="34" charset="0"/>
              </a:rPr>
              <a:t>: tilemap, Arcade physics, sprites, input</a:t>
            </a:r>
          </a:p>
          <a:p>
            <a:pPr marL="254000" indent="-254000">
              <a:spcAft>
                <a:spcPts val="900"/>
              </a:spcAft>
              <a:buClr>
                <a:srgbClr val="4FD1C5"/>
              </a:buClr>
              <a:buFont typeface="+mj-lt"/>
              <a:buChar char="▸"/>
            </a:pPr>
            <a:r>
              <a:rPr lang="en-IN" b="1">
                <a:solidFill>
                  <a:srgbClr val="FFFFFF"/>
                </a:solidFill>
                <a:latin typeface="Segoe UI" panose="020B0502040204020203" pitchFamily="34" charset="0"/>
              </a:rPr>
              <a:t>Vite 8</a:t>
            </a:r>
            <a:r>
              <a:rPr lang="en-IN">
                <a:solidFill>
                  <a:srgbClr val="E2E8F0"/>
                </a:solidFill>
                <a:latin typeface="Segoe UI" panose="020B0502040204020203" pitchFamily="34" charset="0"/>
              </a:rPr>
              <a:t>: build · </a:t>
            </a:r>
            <a:r>
              <a:rPr lang="en-IN" b="1">
                <a:solidFill>
                  <a:srgbClr val="FFFFFF"/>
                </a:solidFill>
                <a:latin typeface="Segoe UI" panose="020B0502040204020203" pitchFamily="34" charset="0"/>
              </a:rPr>
              <a:t>Vitest 5</a:t>
            </a:r>
            <a:r>
              <a:rPr lang="en-IN">
                <a:solidFill>
                  <a:srgbClr val="E2E8F0"/>
                </a:solidFill>
                <a:latin typeface="Segoe UI" panose="020B0502040204020203" pitchFamily="34" charset="0"/>
              </a:rPr>
              <a:t>: 527 unit tests</a:t>
            </a:r>
          </a:p>
          <a:p>
            <a:pPr marL="254000" indent="-254000">
              <a:spcAft>
                <a:spcPts val="900"/>
              </a:spcAft>
              <a:buClr>
                <a:srgbClr val="4FD1C5"/>
              </a:buClr>
              <a:buFont typeface="+mj-lt"/>
              <a:buChar char="▸"/>
            </a:pPr>
            <a:r>
              <a:rPr lang="en-IN">
                <a:solidFill>
                  <a:srgbClr val="E2E8F0"/>
                </a:solidFill>
                <a:latin typeface="Segoe UI" panose="020B0502040204020203" pitchFamily="34" charset="0"/>
              </a:rPr>
              <a:t>No image or sound files: pixel art and sound effects are generated in code; works offline</a:t>
            </a:r>
          </a:p>
        </p:txBody>
      </p:sp>
      <p:sp>
        <p:nvSpPr>
          <p:cNvPr id="7" name="Rectangle: Rounded Corners 6">
            <a:extLst>
              <a:ext uri="{FF2B5EF4-FFF2-40B4-BE49-F238E27FC236}">
                <a16:creationId xmlns:a16="http://schemas.microsoft.com/office/drawing/2014/main" id="{AD12B698-80EB-BBEA-C9EE-63705F50AE15}"/>
              </a:ext>
            </a:extLst>
          </p:cNvPr>
          <p:cNvSpPr/>
          <p:nvPr/>
        </p:nvSpPr>
        <p:spPr>
          <a:xfrm>
            <a:off x="6604000" y="1320800"/>
            <a:ext cx="5080000" cy="838200"/>
          </a:xfrm>
          <a:prstGeom prst="roundRect">
            <a:avLst>
              <a:gd name="adj" fmla="val 12000"/>
            </a:avLst>
          </a:prstGeom>
          <a:solidFill>
            <a:srgbClr val="161F34"/>
          </a:solidFill>
          <a:ln w="15875">
            <a:solidFill>
              <a:srgbClr val="4FD1C5"/>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500" b="1">
                <a:solidFill>
                  <a:srgbClr val="4FD1C5"/>
                </a:solidFill>
                <a:latin typeface="Consolas" panose="020B0609020204030204" pitchFamily="49" charset="0"/>
              </a:rPr>
              <a:t>Tauri 2 (Rust)</a:t>
            </a:r>
          </a:p>
          <a:p>
            <a:pPr algn="ctr"/>
            <a:r>
              <a:rPr lang="en-US" sz="1100">
                <a:solidFill>
                  <a:srgbClr val="E2E8F0"/>
                </a:solidFill>
                <a:latin typeface="Consolas" panose="020B0609020204030204" pitchFamily="49" charset="0"/>
              </a:rPr>
              <a:t>native window · installers · WebView2</a:t>
            </a:r>
            <a:endParaRPr lang="en-IN" sz="1100">
              <a:solidFill>
                <a:srgbClr val="E2E8F0"/>
              </a:solidFill>
              <a:latin typeface="Consolas" panose="020B0609020204030204" pitchFamily="49" charset="0"/>
            </a:endParaRPr>
          </a:p>
        </p:txBody>
      </p:sp>
      <p:cxnSp>
        <p:nvCxnSpPr>
          <p:cNvPr id="8" name="Straight Connector 7">
            <a:extLst>
              <a:ext uri="{FF2B5EF4-FFF2-40B4-BE49-F238E27FC236}">
                <a16:creationId xmlns:a16="http://schemas.microsoft.com/office/drawing/2014/main" id="{0D124AD2-AD65-9BDF-DB07-9A020BD9D2AC}"/>
              </a:ext>
            </a:extLst>
          </p:cNvPr>
          <p:cNvCxnSpPr/>
          <p:nvPr/>
        </p:nvCxnSpPr>
        <p:spPr>
          <a:xfrm>
            <a:off x="9144000" y="2159000"/>
            <a:ext cx="0" cy="177800"/>
          </a:xfrm>
          <a:prstGeom prst="line">
            <a:avLst/>
          </a:prstGeom>
          <a:ln w="19050">
            <a:solidFill>
              <a:srgbClr val="4FD1C5"/>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3388B79D-E843-2637-2FE7-5E1B52EE8D59}"/>
              </a:ext>
            </a:extLst>
          </p:cNvPr>
          <p:cNvSpPr/>
          <p:nvPr/>
        </p:nvSpPr>
        <p:spPr>
          <a:xfrm>
            <a:off x="6604000" y="2336800"/>
            <a:ext cx="5080000" cy="838200"/>
          </a:xfrm>
          <a:prstGeom prst="roundRect">
            <a:avLst>
              <a:gd name="adj" fmla="val 12000"/>
            </a:avLst>
          </a:prstGeom>
          <a:solidFill>
            <a:srgbClr val="161F34"/>
          </a:solidFill>
          <a:ln w="15875">
            <a:solidFill>
              <a:srgbClr val="4FD1C5"/>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IN" sz="1500" b="1">
                <a:solidFill>
                  <a:srgbClr val="4FD1C5"/>
                </a:solidFill>
                <a:latin typeface="Consolas" panose="020B0609020204030204" pitchFamily="49" charset="0"/>
              </a:rPr>
              <a:t>React 19 + TypeScript</a:t>
            </a:r>
          </a:p>
          <a:p>
            <a:pPr algn="ctr"/>
            <a:r>
              <a:rPr lang="en-IN" sz="1100">
                <a:solidFill>
                  <a:srgbClr val="E2E8F0"/>
                </a:solidFill>
                <a:latin typeface="Consolas" panose="020B0609020204030204" pitchFamily="49" charset="0"/>
              </a:rPr>
              <a:t>menus · visualiser · Lab · tutorial</a:t>
            </a:r>
          </a:p>
        </p:txBody>
      </p:sp>
      <p:cxnSp>
        <p:nvCxnSpPr>
          <p:cNvPr id="10" name="Straight Connector 9">
            <a:extLst>
              <a:ext uri="{FF2B5EF4-FFF2-40B4-BE49-F238E27FC236}">
                <a16:creationId xmlns:a16="http://schemas.microsoft.com/office/drawing/2014/main" id="{F0CA322A-A9AF-7127-5112-847581813ACC}"/>
              </a:ext>
            </a:extLst>
          </p:cNvPr>
          <p:cNvCxnSpPr/>
          <p:nvPr/>
        </p:nvCxnSpPr>
        <p:spPr>
          <a:xfrm>
            <a:off x="9144000" y="3175000"/>
            <a:ext cx="0" cy="177800"/>
          </a:xfrm>
          <a:prstGeom prst="line">
            <a:avLst/>
          </a:prstGeom>
          <a:ln w="19050">
            <a:solidFill>
              <a:srgbClr val="4FD1C5"/>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DFFCA2EC-36A6-D3BE-DCBF-C955D25A8927}"/>
              </a:ext>
            </a:extLst>
          </p:cNvPr>
          <p:cNvSpPr/>
          <p:nvPr/>
        </p:nvSpPr>
        <p:spPr>
          <a:xfrm>
            <a:off x="6604000" y="3352800"/>
            <a:ext cx="5080000" cy="838200"/>
          </a:xfrm>
          <a:prstGeom prst="roundRect">
            <a:avLst>
              <a:gd name="adj" fmla="val 12000"/>
            </a:avLst>
          </a:prstGeom>
          <a:solidFill>
            <a:srgbClr val="161F34"/>
          </a:solidFill>
          <a:ln w="15875">
            <a:solidFill>
              <a:srgbClr val="4FD1C5"/>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IN" sz="1500" b="1">
                <a:solidFill>
                  <a:srgbClr val="4FD1C5"/>
                </a:solidFill>
                <a:latin typeface="Consolas" panose="020B0609020204030204" pitchFamily="49" charset="0"/>
              </a:rPr>
              <a:t>Phaser 3.90</a:t>
            </a:r>
          </a:p>
          <a:p>
            <a:pPr algn="ctr"/>
            <a:r>
              <a:rPr lang="en-IN" sz="1100">
                <a:solidFill>
                  <a:srgbClr val="E2E8F0"/>
                </a:solidFill>
                <a:latin typeface="Consolas" panose="020B0609020204030204" pitchFamily="49" charset="0"/>
              </a:rPr>
              <a:t>tilemap · Arcade physics · sprites · input</a:t>
            </a:r>
          </a:p>
        </p:txBody>
      </p:sp>
      <p:cxnSp>
        <p:nvCxnSpPr>
          <p:cNvPr id="12" name="Straight Connector 11">
            <a:extLst>
              <a:ext uri="{FF2B5EF4-FFF2-40B4-BE49-F238E27FC236}">
                <a16:creationId xmlns:a16="http://schemas.microsoft.com/office/drawing/2014/main" id="{B8003598-24CC-53F7-780E-DE7AA1299911}"/>
              </a:ext>
            </a:extLst>
          </p:cNvPr>
          <p:cNvCxnSpPr/>
          <p:nvPr/>
        </p:nvCxnSpPr>
        <p:spPr>
          <a:xfrm>
            <a:off x="9144000" y="4191000"/>
            <a:ext cx="0" cy="177800"/>
          </a:xfrm>
          <a:prstGeom prst="line">
            <a:avLst/>
          </a:prstGeom>
          <a:ln w="19050">
            <a:solidFill>
              <a:srgbClr val="4FD1C5"/>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1984F070-E7AA-1177-9E1A-0593BD15366D}"/>
              </a:ext>
            </a:extLst>
          </p:cNvPr>
          <p:cNvSpPr/>
          <p:nvPr/>
        </p:nvSpPr>
        <p:spPr>
          <a:xfrm>
            <a:off x="6604000" y="4368800"/>
            <a:ext cx="5080000" cy="838200"/>
          </a:xfrm>
          <a:prstGeom prst="roundRect">
            <a:avLst>
              <a:gd name="adj" fmla="val 12000"/>
            </a:avLst>
          </a:prstGeom>
          <a:solidFill>
            <a:srgbClr val="161F34"/>
          </a:solidFill>
          <a:ln w="15875">
            <a:solidFill>
              <a:srgbClr val="4FD1C5"/>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IN" sz="1500" b="1">
                <a:solidFill>
                  <a:srgbClr val="4FD1C5"/>
                </a:solidFill>
                <a:latin typeface="Consolas" panose="020B0609020204030204" pitchFamily="49" charset="0"/>
              </a:rPr>
              <a:t>Automata engine</a:t>
            </a:r>
          </a:p>
          <a:p>
            <a:pPr algn="ctr"/>
            <a:r>
              <a:rPr lang="en-IN" sz="1100">
                <a:solidFill>
                  <a:srgbClr val="E2E8F0"/>
                </a:solidFill>
                <a:latin typeface="Consolas" panose="020B0609020204030204" pitchFamily="49" charset="0"/>
              </a:rPr>
              <a:t>pure TypeScript · DFA / NFA · </a:t>
            </a:r>
            <a:r>
              <a:rPr lang="el-GR" sz="1100">
                <a:solidFill>
                  <a:srgbClr val="E2E8F0"/>
                </a:solidFill>
                <a:latin typeface="Consolas" panose="020B0609020204030204" pitchFamily="49" charset="0"/>
              </a:rPr>
              <a:t>ε-</a:t>
            </a:r>
            <a:r>
              <a:rPr lang="en-IN" sz="1100">
                <a:solidFill>
                  <a:srgbClr val="E2E8F0"/>
                </a:solidFill>
                <a:latin typeface="Consolas" panose="020B0609020204030204" pitchFamily="49" charset="0"/>
              </a:rPr>
              <a:t>closure · subset construction</a:t>
            </a:r>
          </a:p>
        </p:txBody>
      </p:sp>
      <p:sp>
        <p:nvSpPr>
          <p:cNvPr id="14" name="Rectangle: Rounded Corners 13">
            <a:extLst>
              <a:ext uri="{FF2B5EF4-FFF2-40B4-BE49-F238E27FC236}">
                <a16:creationId xmlns:a16="http://schemas.microsoft.com/office/drawing/2014/main" id="{FA7B5E89-6E1A-96CF-559D-447DA34D5D88}"/>
              </a:ext>
            </a:extLst>
          </p:cNvPr>
          <p:cNvSpPr/>
          <p:nvPr/>
        </p:nvSpPr>
        <p:spPr>
          <a:xfrm>
            <a:off x="6604000" y="5511800"/>
            <a:ext cx="5080000" cy="482600"/>
          </a:xfrm>
          <a:prstGeom prst="roundRect">
            <a:avLst>
              <a:gd name="adj" fmla="val 12000"/>
            </a:avLst>
          </a:prstGeom>
          <a:solidFill>
            <a:srgbClr val="11182A"/>
          </a:solidFill>
          <a:ln w="15875">
            <a:solidFill>
              <a:srgbClr val="2C7A7B"/>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200">
                <a:solidFill>
                  <a:srgbClr val="E2E8F0"/>
                </a:solidFill>
                <a:latin typeface="Consolas" panose="020B0609020204030204" pitchFamily="49" charset="0"/>
              </a:rPr>
              <a:t>Vite 8 build  ·  Vitest 5: 527 unit tests</a:t>
            </a:r>
            <a:endParaRPr lang="en-IN" sz="1200">
              <a:solidFill>
                <a:srgbClr val="E2E8F0"/>
              </a:solidFill>
              <a:latin typeface="Consolas" panose="020B0609020204030204" pitchFamily="49" charset="0"/>
            </a:endParaRPr>
          </a:p>
        </p:txBody>
      </p:sp>
    </p:spTree>
    <p:extLst>
      <p:ext uri="{BB962C8B-B14F-4D97-AF65-F5344CB8AC3E}">
        <p14:creationId xmlns:p14="http://schemas.microsoft.com/office/powerpoint/2010/main" val="2187696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843AA3-47C5-86F2-5C44-89C945DB58D4}"/>
              </a:ext>
            </a:extLst>
          </p:cNvPr>
          <p:cNvSpPr txBox="1"/>
          <p:nvPr/>
        </p:nvSpPr>
        <p:spPr>
          <a:xfrm>
            <a:off x="457200" y="279400"/>
            <a:ext cx="11277600" cy="558800"/>
          </a:xfrm>
          <a:prstGeom prst="rect">
            <a:avLst/>
          </a:prstGeom>
          <a:noFill/>
        </p:spPr>
        <p:txBody>
          <a:bodyPr vert="horz" wrap="square" lIns="50800" tIns="25400" rIns="50800" bIns="25400" rtlCol="0">
            <a:noAutofit/>
          </a:bodyPr>
          <a:lstStyle/>
          <a:p>
            <a:r>
              <a:rPr lang="en-IN" sz="2600" b="1">
                <a:solidFill>
                  <a:srgbClr val="8A94A6"/>
                </a:solidFill>
                <a:latin typeface="Consolas" panose="020B0609020204030204" pitchFamily="49" charset="0"/>
              </a:rPr>
              <a:t>&gt; </a:t>
            </a:r>
            <a:r>
              <a:rPr lang="en-IN" sz="2600" b="1">
                <a:solidFill>
                  <a:srgbClr val="4FD1C5"/>
                </a:solidFill>
                <a:latin typeface="Consolas" panose="020B0609020204030204" pitchFamily="49" charset="0"/>
              </a:rPr>
              <a:t>SYSTEM ARCHITECTURE </a:t>
            </a:r>
            <a:r>
              <a:rPr lang="en-IN" sz="2600">
                <a:solidFill>
                  <a:srgbClr val="4FD1C5"/>
                </a:solidFill>
                <a:latin typeface="Consolas" panose="020B0609020204030204" pitchFamily="49" charset="0"/>
              </a:rPr>
              <a:t>▌</a:t>
            </a:r>
          </a:p>
        </p:txBody>
      </p:sp>
      <p:cxnSp>
        <p:nvCxnSpPr>
          <p:cNvPr id="3" name="Straight Connector 2">
            <a:extLst>
              <a:ext uri="{FF2B5EF4-FFF2-40B4-BE49-F238E27FC236}">
                <a16:creationId xmlns:a16="http://schemas.microsoft.com/office/drawing/2014/main" id="{D53CA7A9-4A09-D53B-31D1-4A69BAA4B27A}"/>
              </a:ext>
            </a:extLst>
          </p:cNvPr>
          <p:cNvCxnSpPr/>
          <p:nvPr/>
        </p:nvCxnSpPr>
        <p:spPr>
          <a:xfrm>
            <a:off x="508000" y="914400"/>
            <a:ext cx="11176000" cy="0"/>
          </a:xfrm>
          <a:prstGeom prst="line">
            <a:avLst/>
          </a:prstGeom>
          <a:ln w="15875">
            <a:solidFill>
              <a:srgbClr val="2C7A7B"/>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BCBA122E-E3D6-B960-6791-3CB4D541E104}"/>
              </a:ext>
            </a:extLst>
          </p:cNvPr>
          <p:cNvSpPr txBox="1"/>
          <p:nvPr/>
        </p:nvSpPr>
        <p:spPr>
          <a:xfrm>
            <a:off x="508000" y="6426200"/>
            <a:ext cx="6604000" cy="228600"/>
          </a:xfrm>
          <a:prstGeom prst="rect">
            <a:avLst/>
          </a:prstGeom>
          <a:noFill/>
        </p:spPr>
        <p:txBody>
          <a:bodyPr vert="horz" wrap="square" lIns="50800" tIns="25400" rIns="50800" bIns="25400" rtlCol="0">
            <a:noAutofit/>
          </a:bodyPr>
          <a:lstStyle/>
          <a:p>
            <a:r>
              <a:rPr lang="en-US" sz="900">
                <a:solidFill>
                  <a:srgbClr val="8A94A6"/>
                </a:solidFill>
                <a:latin typeface="Consolas" panose="020B0609020204030204" pitchFamily="49" charset="0"/>
              </a:rPr>
              <a:t>SHADOW PROTOCOL // THEORY OF COMPUTATION</a:t>
            </a:r>
            <a:endParaRPr lang="en-IN" sz="900">
              <a:solidFill>
                <a:srgbClr val="8A94A6"/>
              </a:solidFill>
              <a:latin typeface="Consolas" panose="020B0609020204030204" pitchFamily="49" charset="0"/>
            </a:endParaRPr>
          </a:p>
        </p:txBody>
      </p:sp>
      <p:sp>
        <p:nvSpPr>
          <p:cNvPr id="5" name="TextBox 4">
            <a:extLst>
              <a:ext uri="{FF2B5EF4-FFF2-40B4-BE49-F238E27FC236}">
                <a16:creationId xmlns:a16="http://schemas.microsoft.com/office/drawing/2014/main" id="{22FCB6F1-6C3F-2543-233A-597FE2EDCAAB}"/>
              </a:ext>
            </a:extLst>
          </p:cNvPr>
          <p:cNvSpPr txBox="1"/>
          <p:nvPr/>
        </p:nvSpPr>
        <p:spPr>
          <a:xfrm>
            <a:off x="9652000" y="6426200"/>
            <a:ext cx="2032000" cy="228600"/>
          </a:xfrm>
          <a:prstGeom prst="rect">
            <a:avLst/>
          </a:prstGeom>
          <a:noFill/>
        </p:spPr>
        <p:txBody>
          <a:bodyPr vert="horz" wrap="square" lIns="50800" tIns="25400" rIns="50800" bIns="25400" rtlCol="0">
            <a:noAutofit/>
          </a:bodyPr>
          <a:lstStyle/>
          <a:p>
            <a:pPr algn="r"/>
            <a:r>
              <a:rPr lang="en-IN" sz="900">
                <a:solidFill>
                  <a:srgbClr val="8A94A6"/>
                </a:solidFill>
                <a:latin typeface="Consolas" panose="020B0609020204030204" pitchFamily="49" charset="0"/>
              </a:rPr>
              <a:t>05 / 13</a:t>
            </a:r>
          </a:p>
        </p:txBody>
      </p:sp>
      <p:sp>
        <p:nvSpPr>
          <p:cNvPr id="6" name="TextBox 5">
            <a:extLst>
              <a:ext uri="{FF2B5EF4-FFF2-40B4-BE49-F238E27FC236}">
                <a16:creationId xmlns:a16="http://schemas.microsoft.com/office/drawing/2014/main" id="{3B84AF80-BC5B-1363-58B6-617DF90529A6}"/>
              </a:ext>
            </a:extLst>
          </p:cNvPr>
          <p:cNvSpPr txBox="1"/>
          <p:nvPr/>
        </p:nvSpPr>
        <p:spPr>
          <a:xfrm>
            <a:off x="508000" y="1219200"/>
            <a:ext cx="4826000" cy="5130800"/>
          </a:xfrm>
          <a:prstGeom prst="rect">
            <a:avLst/>
          </a:prstGeom>
          <a:noFill/>
        </p:spPr>
        <p:txBody>
          <a:bodyPr vert="horz" wrap="square" lIns="50800" tIns="25400" rIns="50800" bIns="25400" rtlCol="0">
            <a:noAutofit/>
          </a:bodyPr>
          <a:lstStyle/>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Three layers, one direction: </a:t>
            </a:r>
            <a:r>
              <a:rPr lang="en-US" sz="1700">
                <a:solidFill>
                  <a:srgbClr val="4FD1C5"/>
                </a:solidFill>
                <a:latin typeface="Consolas" panose="020B0609020204030204" pitchFamily="49" charset="0"/>
              </a:rPr>
              <a:t>components → game → automata</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Engine is pure TypeScript; a test fails if it imports anything outside itself</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React ↔ Phaser only through </a:t>
            </a:r>
            <a:r>
              <a:rPr lang="en-US" sz="1700" b="1">
                <a:solidFill>
                  <a:srgbClr val="FFFFFF"/>
                </a:solidFill>
                <a:latin typeface="Segoe UI" panose="020B0502040204020203" pitchFamily="34" charset="0"/>
              </a:rPr>
              <a:t>GameBridge</a:t>
            </a:r>
            <a:r>
              <a:rPr lang="en-US" sz="1700">
                <a:solidFill>
                  <a:srgbClr val="E2E8F0"/>
                </a:solidFill>
                <a:latin typeface="Segoe UI" panose="020B0502040204020203" pitchFamily="34" charset="0"/>
              </a:rPr>
              <a:t>: immutable snapshots out, commands in</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Fixed 1/60 s simulation ticks: pause = 0 ticks, step = 1 tick, so runs are reproducible</a:t>
            </a:r>
            <a:endParaRPr lang="en-IN" sz="1700">
              <a:solidFill>
                <a:srgbClr val="E2E8F0"/>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B8220428-090C-54B8-6741-BB8ECD47C40B}"/>
              </a:ext>
            </a:extLst>
          </p:cNvPr>
          <p:cNvSpPr/>
          <p:nvPr/>
        </p:nvSpPr>
        <p:spPr>
          <a:xfrm>
            <a:off x="5588000" y="1117600"/>
            <a:ext cx="6096000" cy="330200"/>
          </a:xfrm>
          <a:prstGeom prst="roundRect">
            <a:avLst>
              <a:gd name="adj" fmla="val 12000"/>
            </a:avLst>
          </a:prstGeom>
          <a:solidFill>
            <a:srgbClr val="11182A"/>
          </a:solidFill>
          <a:ln w="15875">
            <a:solidFill>
              <a:srgbClr val="2C7A7B"/>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000">
                <a:solidFill>
                  <a:srgbClr val="E2E8F0"/>
                </a:solidFill>
                <a:latin typeface="Consolas" panose="020B0609020204030204" pitchFamily="49" charset="0"/>
              </a:rPr>
              <a:t>Tauri 2 shell (Rust) · WebView2 · bundled frontend</a:t>
            </a:r>
            <a:endParaRPr lang="en-IN" sz="1000">
              <a:solidFill>
                <a:srgbClr val="E2E8F0"/>
              </a:solidFill>
              <a:latin typeface="Consolas" panose="020B0609020204030204" pitchFamily="49" charset="0"/>
            </a:endParaRPr>
          </a:p>
        </p:txBody>
      </p:sp>
      <p:cxnSp>
        <p:nvCxnSpPr>
          <p:cNvPr id="8" name="Straight Connector 7">
            <a:extLst>
              <a:ext uri="{FF2B5EF4-FFF2-40B4-BE49-F238E27FC236}">
                <a16:creationId xmlns:a16="http://schemas.microsoft.com/office/drawing/2014/main" id="{C456212C-0865-D505-504A-DB707C7DF8BD}"/>
              </a:ext>
            </a:extLst>
          </p:cNvPr>
          <p:cNvCxnSpPr/>
          <p:nvPr/>
        </p:nvCxnSpPr>
        <p:spPr>
          <a:xfrm>
            <a:off x="8636000" y="1447800"/>
            <a:ext cx="0" cy="152400"/>
          </a:xfrm>
          <a:prstGeom prst="line">
            <a:avLst/>
          </a:prstGeom>
          <a:ln w="19050">
            <a:solidFill>
              <a:srgbClr val="4FD1C5"/>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964BA4EB-27FB-FF23-61B6-6D0667933F88}"/>
              </a:ext>
            </a:extLst>
          </p:cNvPr>
          <p:cNvSpPr/>
          <p:nvPr/>
        </p:nvSpPr>
        <p:spPr>
          <a:xfrm>
            <a:off x="5588000" y="1600200"/>
            <a:ext cx="6096000" cy="1066800"/>
          </a:xfrm>
          <a:prstGeom prst="rect">
            <a:avLst/>
          </a:prstGeom>
          <a:solidFill>
            <a:srgbClr val="11182A"/>
          </a:solidFill>
          <a:ln w="12700">
            <a:solidFill>
              <a:srgbClr val="4A5568"/>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7BCC7537-5993-9BF6-1F21-CC12076501D0}"/>
              </a:ext>
            </a:extLst>
          </p:cNvPr>
          <p:cNvSpPr txBox="1"/>
          <p:nvPr/>
        </p:nvSpPr>
        <p:spPr>
          <a:xfrm>
            <a:off x="5638800" y="1612900"/>
            <a:ext cx="5994400" cy="177800"/>
          </a:xfrm>
          <a:prstGeom prst="rect">
            <a:avLst/>
          </a:prstGeom>
          <a:noFill/>
        </p:spPr>
        <p:txBody>
          <a:bodyPr vert="horz" wrap="square" lIns="50800" tIns="25400" rIns="50800" bIns="25400" rtlCol="0">
            <a:noAutofit/>
          </a:bodyPr>
          <a:lstStyle/>
          <a:p>
            <a:r>
              <a:rPr lang="en-IN" sz="900">
                <a:solidFill>
                  <a:srgbClr val="8A94A6"/>
                </a:solidFill>
                <a:latin typeface="Consolas" panose="020B0609020204030204" pitchFamily="49" charset="0"/>
              </a:rPr>
              <a:t>React 19 UI (src/components)  ·  App.tsx: menu, tabs, settings</a:t>
            </a:r>
          </a:p>
        </p:txBody>
      </p:sp>
      <p:sp>
        <p:nvSpPr>
          <p:cNvPr id="11" name="Rectangle: Rounded Corners 10">
            <a:extLst>
              <a:ext uri="{FF2B5EF4-FFF2-40B4-BE49-F238E27FC236}">
                <a16:creationId xmlns:a16="http://schemas.microsoft.com/office/drawing/2014/main" id="{C1EC10BE-0AF0-B265-0E43-30FFAEB95154}"/>
              </a:ext>
            </a:extLst>
          </p:cNvPr>
          <p:cNvSpPr/>
          <p:nvPr/>
        </p:nvSpPr>
        <p:spPr>
          <a:xfrm>
            <a:off x="5689600" y="1879600"/>
            <a:ext cx="1397000" cy="609600"/>
          </a:xfrm>
          <a:prstGeom prst="roundRect">
            <a:avLst>
              <a:gd name="adj" fmla="val 12000"/>
            </a:avLst>
          </a:prstGeom>
          <a:solidFill>
            <a:srgbClr val="161F34"/>
          </a:solidFill>
          <a:ln w="15875">
            <a:solidFill>
              <a:srgbClr val="4FD1C5"/>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IN" sz="1000">
                <a:solidFill>
                  <a:srgbClr val="E2E8F0"/>
                </a:solidFill>
                <a:latin typeface="Consolas" panose="020B0609020204030204" pitchFamily="49" charset="0"/>
              </a:rPr>
              <a:t>Live DFA visualiser</a:t>
            </a:r>
          </a:p>
        </p:txBody>
      </p:sp>
      <p:sp>
        <p:nvSpPr>
          <p:cNvPr id="12" name="Rectangle: Rounded Corners 11">
            <a:extLst>
              <a:ext uri="{FF2B5EF4-FFF2-40B4-BE49-F238E27FC236}">
                <a16:creationId xmlns:a16="http://schemas.microsoft.com/office/drawing/2014/main" id="{235AE858-2A1C-D55E-504D-8FCE74B05460}"/>
              </a:ext>
            </a:extLst>
          </p:cNvPr>
          <p:cNvSpPr/>
          <p:nvPr/>
        </p:nvSpPr>
        <p:spPr>
          <a:xfrm>
            <a:off x="7175500" y="1879600"/>
            <a:ext cx="1397000" cy="609600"/>
          </a:xfrm>
          <a:prstGeom prst="roundRect">
            <a:avLst>
              <a:gd name="adj" fmla="val 12000"/>
            </a:avLst>
          </a:prstGeom>
          <a:solidFill>
            <a:srgbClr val="161F34"/>
          </a:solidFill>
          <a:ln w="15875">
            <a:solidFill>
              <a:srgbClr val="4FD1C5"/>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IN" sz="1000">
                <a:solidFill>
                  <a:srgbClr val="E2E8F0"/>
                </a:solidFill>
                <a:latin typeface="Consolas" panose="020B0609020204030204" pitchFamily="49" charset="0"/>
              </a:rPr>
              <a:t>NFA ⇄ DFA comparison</a:t>
            </a:r>
          </a:p>
        </p:txBody>
      </p:sp>
      <p:sp>
        <p:nvSpPr>
          <p:cNvPr id="13" name="Rectangle: Rounded Corners 12">
            <a:extLst>
              <a:ext uri="{FF2B5EF4-FFF2-40B4-BE49-F238E27FC236}">
                <a16:creationId xmlns:a16="http://schemas.microsoft.com/office/drawing/2014/main" id="{C4F46E06-28BE-3766-6519-A915FF049878}"/>
              </a:ext>
            </a:extLst>
          </p:cNvPr>
          <p:cNvSpPr/>
          <p:nvPr/>
        </p:nvSpPr>
        <p:spPr>
          <a:xfrm>
            <a:off x="8661400" y="1879600"/>
            <a:ext cx="1397000" cy="609600"/>
          </a:xfrm>
          <a:prstGeom prst="roundRect">
            <a:avLst>
              <a:gd name="adj" fmla="val 12000"/>
            </a:avLst>
          </a:prstGeom>
          <a:solidFill>
            <a:srgbClr val="161F34"/>
          </a:solidFill>
          <a:ln w="15875">
            <a:solidFill>
              <a:srgbClr val="4FD1C5"/>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IN" sz="1000">
                <a:solidFill>
                  <a:srgbClr val="E2E8F0"/>
                </a:solidFill>
                <a:latin typeface="Consolas" panose="020B0609020204030204" pitchFamily="49" charset="0"/>
              </a:rPr>
              <a:t>Automata Lab</a:t>
            </a:r>
          </a:p>
        </p:txBody>
      </p:sp>
      <p:sp>
        <p:nvSpPr>
          <p:cNvPr id="14" name="Rectangle: Rounded Corners 13">
            <a:extLst>
              <a:ext uri="{FF2B5EF4-FFF2-40B4-BE49-F238E27FC236}">
                <a16:creationId xmlns:a16="http://schemas.microsoft.com/office/drawing/2014/main" id="{FC484437-8AA3-522C-4B0E-3290BE3CEAFB}"/>
              </a:ext>
            </a:extLst>
          </p:cNvPr>
          <p:cNvSpPr/>
          <p:nvPr/>
        </p:nvSpPr>
        <p:spPr>
          <a:xfrm>
            <a:off x="10147300" y="1879600"/>
            <a:ext cx="1397000" cy="609600"/>
          </a:xfrm>
          <a:prstGeom prst="roundRect">
            <a:avLst>
              <a:gd name="adj" fmla="val 12000"/>
            </a:avLst>
          </a:prstGeom>
          <a:solidFill>
            <a:srgbClr val="161F34"/>
          </a:solidFill>
          <a:ln w="15875">
            <a:solidFill>
              <a:srgbClr val="4FD1C5"/>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IN" sz="1000">
                <a:solidFill>
                  <a:srgbClr val="E2E8F0"/>
                </a:solidFill>
                <a:latin typeface="Consolas" panose="020B0609020204030204" pitchFamily="49" charset="0"/>
              </a:rPr>
              <a:t>Tutorial</a:t>
            </a:r>
          </a:p>
        </p:txBody>
      </p:sp>
      <p:sp>
        <p:nvSpPr>
          <p:cNvPr id="15" name="TextBox 14">
            <a:extLst>
              <a:ext uri="{FF2B5EF4-FFF2-40B4-BE49-F238E27FC236}">
                <a16:creationId xmlns:a16="http://schemas.microsoft.com/office/drawing/2014/main" id="{214D1889-0AD3-0FD2-49F4-4412C69F4DD4}"/>
              </a:ext>
            </a:extLst>
          </p:cNvPr>
          <p:cNvSpPr txBox="1"/>
          <p:nvPr/>
        </p:nvSpPr>
        <p:spPr>
          <a:xfrm>
            <a:off x="8763000" y="2501900"/>
            <a:ext cx="2794000" cy="152400"/>
          </a:xfrm>
          <a:prstGeom prst="rect">
            <a:avLst/>
          </a:prstGeom>
          <a:noFill/>
        </p:spPr>
        <p:txBody>
          <a:bodyPr vert="horz" wrap="square" lIns="50800" tIns="25400" rIns="50800" bIns="25400" rtlCol="0">
            <a:noAutofit/>
          </a:bodyPr>
          <a:lstStyle/>
          <a:p>
            <a:r>
              <a:rPr lang="en-US" sz="800">
                <a:solidFill>
                  <a:srgbClr val="8A94A6"/>
                </a:solidFill>
                <a:latin typeface="Consolas" panose="020B0609020204030204" pitchFamily="49" charset="0"/>
              </a:rPr>
              <a:t>tutorial challenges load into the Lab</a:t>
            </a:r>
            <a:endParaRPr lang="en-IN" sz="800">
              <a:solidFill>
                <a:srgbClr val="8A94A6"/>
              </a:solidFill>
              <a:latin typeface="Consolas" panose="020B0609020204030204" pitchFamily="49" charset="0"/>
            </a:endParaRPr>
          </a:p>
        </p:txBody>
      </p:sp>
      <p:sp>
        <p:nvSpPr>
          <p:cNvPr id="16" name="Rectangle: Rounded Corners 15">
            <a:extLst>
              <a:ext uri="{FF2B5EF4-FFF2-40B4-BE49-F238E27FC236}">
                <a16:creationId xmlns:a16="http://schemas.microsoft.com/office/drawing/2014/main" id="{FAC4EBDF-9E7A-0A53-4047-7FDA923A836B}"/>
              </a:ext>
            </a:extLst>
          </p:cNvPr>
          <p:cNvSpPr/>
          <p:nvPr/>
        </p:nvSpPr>
        <p:spPr>
          <a:xfrm>
            <a:off x="5588000" y="2844800"/>
            <a:ext cx="2921000" cy="508000"/>
          </a:xfrm>
          <a:prstGeom prst="roundRect">
            <a:avLst>
              <a:gd name="adj" fmla="val 12000"/>
            </a:avLst>
          </a:prstGeom>
          <a:solidFill>
            <a:srgbClr val="161F34"/>
          </a:solidFill>
          <a:ln w="15875">
            <a:solidFill>
              <a:srgbClr val="4FD1C5"/>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IN" sz="1000">
                <a:solidFill>
                  <a:srgbClr val="E2E8F0"/>
                </a:solidFill>
                <a:latin typeface="Consolas" panose="020B0609020204030204" pitchFamily="49" charset="0"/>
              </a:rPr>
              <a:t>GameBridge</a:t>
            </a:r>
          </a:p>
          <a:p>
            <a:pPr algn="ctr"/>
            <a:r>
              <a:rPr lang="en-IN" sz="1000">
                <a:solidFill>
                  <a:srgbClr val="E2E8F0"/>
                </a:solidFill>
                <a:latin typeface="Consolas" panose="020B0609020204030204" pitchFamily="49" charset="0"/>
              </a:rPr>
              <a:t>snapshots ↑ · commands ↓</a:t>
            </a:r>
          </a:p>
        </p:txBody>
      </p:sp>
      <p:cxnSp>
        <p:nvCxnSpPr>
          <p:cNvPr id="17" name="Straight Connector 16">
            <a:extLst>
              <a:ext uri="{FF2B5EF4-FFF2-40B4-BE49-F238E27FC236}">
                <a16:creationId xmlns:a16="http://schemas.microsoft.com/office/drawing/2014/main" id="{7DC4D2EC-B0ED-62F9-28E6-118407C4EFB2}"/>
              </a:ext>
            </a:extLst>
          </p:cNvPr>
          <p:cNvCxnSpPr/>
          <p:nvPr/>
        </p:nvCxnSpPr>
        <p:spPr>
          <a:xfrm>
            <a:off x="6388100" y="2489200"/>
            <a:ext cx="0" cy="355600"/>
          </a:xfrm>
          <a:prstGeom prst="line">
            <a:avLst/>
          </a:prstGeom>
          <a:ln w="19050">
            <a:solidFill>
              <a:srgbClr val="4FD1C5"/>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E537C417-B193-4D6B-F6B8-2750644C0D04}"/>
              </a:ext>
            </a:extLst>
          </p:cNvPr>
          <p:cNvSpPr/>
          <p:nvPr/>
        </p:nvSpPr>
        <p:spPr>
          <a:xfrm>
            <a:off x="5588000" y="3505200"/>
            <a:ext cx="6096000" cy="965200"/>
          </a:xfrm>
          <a:prstGeom prst="rect">
            <a:avLst/>
          </a:prstGeom>
          <a:solidFill>
            <a:srgbClr val="11182A"/>
          </a:solidFill>
          <a:ln w="12700">
            <a:solidFill>
              <a:srgbClr val="4A5568"/>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7233D6C2-3FB9-AB5B-4DDF-5C678E1BD9CD}"/>
              </a:ext>
            </a:extLst>
          </p:cNvPr>
          <p:cNvSpPr txBox="1"/>
          <p:nvPr/>
        </p:nvSpPr>
        <p:spPr>
          <a:xfrm>
            <a:off x="5638800" y="3517900"/>
            <a:ext cx="5994400" cy="177800"/>
          </a:xfrm>
          <a:prstGeom prst="rect">
            <a:avLst/>
          </a:prstGeom>
          <a:noFill/>
        </p:spPr>
        <p:txBody>
          <a:bodyPr vert="horz" wrap="square" lIns="50800" tIns="25400" rIns="50800" bIns="25400" rtlCol="0">
            <a:noAutofit/>
          </a:bodyPr>
          <a:lstStyle/>
          <a:p>
            <a:r>
              <a:rPr lang="en-US" sz="900">
                <a:solidFill>
                  <a:srgbClr val="8A94A6"/>
                </a:solidFill>
                <a:latin typeface="Consolas" panose="020B0609020204030204" pitchFamily="49" charset="0"/>
              </a:rPr>
              <a:t>Phaser 3.90 game (src/game)  ·  fixed 1/60 s ticks</a:t>
            </a:r>
            <a:endParaRPr lang="en-IN" sz="900">
              <a:solidFill>
                <a:srgbClr val="8A94A6"/>
              </a:solidFill>
              <a:latin typeface="Consolas" panose="020B0609020204030204" pitchFamily="49" charset="0"/>
            </a:endParaRPr>
          </a:p>
        </p:txBody>
      </p:sp>
      <p:sp>
        <p:nvSpPr>
          <p:cNvPr id="20" name="Rectangle: Rounded Corners 19">
            <a:extLst>
              <a:ext uri="{FF2B5EF4-FFF2-40B4-BE49-F238E27FC236}">
                <a16:creationId xmlns:a16="http://schemas.microsoft.com/office/drawing/2014/main" id="{8DB76EA5-95BF-B874-27B6-87FA4B3FCD2F}"/>
              </a:ext>
            </a:extLst>
          </p:cNvPr>
          <p:cNvSpPr/>
          <p:nvPr/>
        </p:nvSpPr>
        <p:spPr>
          <a:xfrm>
            <a:off x="5689600" y="3759200"/>
            <a:ext cx="1905000" cy="584200"/>
          </a:xfrm>
          <a:prstGeom prst="roundRect">
            <a:avLst>
              <a:gd name="adj" fmla="val 12000"/>
            </a:avLst>
          </a:prstGeom>
          <a:solidFill>
            <a:srgbClr val="161F34"/>
          </a:solidFill>
          <a:ln w="15875">
            <a:solidFill>
              <a:srgbClr val="4FD1C5"/>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IN" sz="1000">
                <a:solidFill>
                  <a:srgbClr val="E2E8F0"/>
                </a:solidFill>
                <a:latin typeface="Consolas" panose="020B0609020204030204" pitchFamily="49" charset="0"/>
              </a:rPr>
              <a:t>MainScene</a:t>
            </a:r>
          </a:p>
          <a:p>
            <a:pPr algn="ctr"/>
            <a:r>
              <a:rPr lang="en-IN" sz="1000">
                <a:solidFill>
                  <a:srgbClr val="E2E8F0"/>
                </a:solidFill>
                <a:latin typeface="Consolas" panose="020B0609020204030204" pitchFamily="49" charset="0"/>
              </a:rPr>
              <a:t>SimulationClock</a:t>
            </a:r>
          </a:p>
        </p:txBody>
      </p:sp>
      <p:sp>
        <p:nvSpPr>
          <p:cNvPr id="21" name="Rectangle: Rounded Corners 20">
            <a:extLst>
              <a:ext uri="{FF2B5EF4-FFF2-40B4-BE49-F238E27FC236}">
                <a16:creationId xmlns:a16="http://schemas.microsoft.com/office/drawing/2014/main" id="{79F5E687-966D-B6C3-94A3-55EBB1ED46C6}"/>
              </a:ext>
            </a:extLst>
          </p:cNvPr>
          <p:cNvSpPr/>
          <p:nvPr/>
        </p:nvSpPr>
        <p:spPr>
          <a:xfrm>
            <a:off x="7696200" y="3759200"/>
            <a:ext cx="1397000" cy="584200"/>
          </a:xfrm>
          <a:prstGeom prst="roundRect">
            <a:avLst>
              <a:gd name="adj" fmla="val 12000"/>
            </a:avLst>
          </a:prstGeom>
          <a:solidFill>
            <a:srgbClr val="161F34"/>
          </a:solidFill>
          <a:ln w="15875">
            <a:solidFill>
              <a:srgbClr val="4FD1C5"/>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IN" sz="1000">
                <a:solidFill>
                  <a:srgbClr val="E2E8F0"/>
                </a:solidFill>
                <a:latin typeface="Consolas" panose="020B0609020204030204" pitchFamily="49" charset="0"/>
              </a:rPr>
              <a:t>Player</a:t>
            </a:r>
          </a:p>
          <a:p>
            <a:pPr algn="ctr"/>
            <a:r>
              <a:rPr lang="en-IN" sz="1000">
                <a:solidFill>
                  <a:srgbClr val="E2E8F0"/>
                </a:solidFill>
                <a:latin typeface="Consolas" panose="020B0609020204030204" pitchFamily="49" charset="0"/>
              </a:rPr>
              <a:t>+ controls</a:t>
            </a:r>
          </a:p>
        </p:txBody>
      </p:sp>
      <p:sp>
        <p:nvSpPr>
          <p:cNvPr id="22" name="Rectangle: Rounded Corners 21">
            <a:extLst>
              <a:ext uri="{FF2B5EF4-FFF2-40B4-BE49-F238E27FC236}">
                <a16:creationId xmlns:a16="http://schemas.microsoft.com/office/drawing/2014/main" id="{EB0D9271-267C-F0E4-2E71-2A9915B84152}"/>
              </a:ext>
            </a:extLst>
          </p:cNvPr>
          <p:cNvSpPr/>
          <p:nvPr/>
        </p:nvSpPr>
        <p:spPr>
          <a:xfrm>
            <a:off x="9194800" y="3759200"/>
            <a:ext cx="1905000" cy="584200"/>
          </a:xfrm>
          <a:prstGeom prst="roundRect">
            <a:avLst>
              <a:gd name="adj" fmla="val 12000"/>
            </a:avLst>
          </a:prstGeom>
          <a:solidFill>
            <a:srgbClr val="161F34"/>
          </a:solidFill>
          <a:ln w="15875">
            <a:solidFill>
              <a:srgbClr val="4FD1C5"/>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900">
                <a:solidFill>
                  <a:srgbClr val="E2E8F0"/>
                </a:solidFill>
                <a:latin typeface="Consolas" panose="020B0609020204030204" pitchFamily="49" charset="0"/>
              </a:rPr>
              <a:t>Guard × 3</a:t>
            </a:r>
          </a:p>
          <a:p>
            <a:pPr algn="ctr"/>
            <a:r>
              <a:rPr lang="en-US" sz="900">
                <a:solidFill>
                  <a:srgbClr val="E2E8F0"/>
                </a:solidFill>
                <a:latin typeface="Consolas" panose="020B0609020204030204" pitchFamily="49" charset="0"/>
              </a:rPr>
              <a:t>perception · GuardBrain</a:t>
            </a:r>
          </a:p>
          <a:p>
            <a:pPr algn="ctr"/>
            <a:r>
              <a:rPr lang="en-US" sz="900">
                <a:solidFill>
                  <a:srgbClr val="E2E8F0"/>
                </a:solidFill>
                <a:latin typeface="Consolas" panose="020B0609020204030204" pitchFamily="49" charset="0"/>
              </a:rPr>
              <a:t>BFS mover</a:t>
            </a:r>
            <a:endParaRPr lang="en-IN" sz="900">
              <a:solidFill>
                <a:srgbClr val="E2E8F0"/>
              </a:solidFill>
              <a:latin typeface="Consolas" panose="020B0609020204030204" pitchFamily="49" charset="0"/>
            </a:endParaRPr>
          </a:p>
        </p:txBody>
      </p:sp>
      <p:cxnSp>
        <p:nvCxnSpPr>
          <p:cNvPr id="23" name="Straight Connector 22">
            <a:extLst>
              <a:ext uri="{FF2B5EF4-FFF2-40B4-BE49-F238E27FC236}">
                <a16:creationId xmlns:a16="http://schemas.microsoft.com/office/drawing/2014/main" id="{D382FD35-E0A0-C46A-9C96-A1390EC4EFB6}"/>
              </a:ext>
            </a:extLst>
          </p:cNvPr>
          <p:cNvCxnSpPr/>
          <p:nvPr/>
        </p:nvCxnSpPr>
        <p:spPr>
          <a:xfrm>
            <a:off x="6604000" y="3352800"/>
            <a:ext cx="0" cy="152400"/>
          </a:xfrm>
          <a:prstGeom prst="line">
            <a:avLst/>
          </a:prstGeom>
          <a:ln w="19050">
            <a:solidFill>
              <a:srgbClr val="4FD1C5"/>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B07192AC-3EF9-926C-8397-A03A3FDBAA3F}"/>
              </a:ext>
            </a:extLst>
          </p:cNvPr>
          <p:cNvSpPr/>
          <p:nvPr/>
        </p:nvSpPr>
        <p:spPr>
          <a:xfrm>
            <a:off x="5588000" y="4648200"/>
            <a:ext cx="6096000" cy="1168400"/>
          </a:xfrm>
          <a:prstGeom prst="rect">
            <a:avLst/>
          </a:prstGeom>
          <a:solidFill>
            <a:srgbClr val="11182A"/>
          </a:solidFill>
          <a:ln w="12700">
            <a:solidFill>
              <a:srgbClr val="4A5568"/>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0572400A-52FF-6D18-49D4-DD13916CAD62}"/>
              </a:ext>
            </a:extLst>
          </p:cNvPr>
          <p:cNvSpPr txBox="1"/>
          <p:nvPr/>
        </p:nvSpPr>
        <p:spPr>
          <a:xfrm>
            <a:off x="5638800" y="4660900"/>
            <a:ext cx="5994400" cy="177800"/>
          </a:xfrm>
          <a:prstGeom prst="rect">
            <a:avLst/>
          </a:prstGeom>
          <a:noFill/>
        </p:spPr>
        <p:txBody>
          <a:bodyPr vert="horz" wrap="square" lIns="50800" tIns="25400" rIns="50800" bIns="25400" rtlCol="0">
            <a:noAutofit/>
          </a:bodyPr>
          <a:lstStyle/>
          <a:p>
            <a:r>
              <a:rPr lang="en-IN" sz="900">
                <a:solidFill>
                  <a:srgbClr val="8A94A6"/>
                </a:solidFill>
                <a:latin typeface="Consolas" panose="020B0609020204030204" pitchFamily="49" charset="0"/>
              </a:rPr>
              <a:t>Automata engine (src/automata) · pure TypeScript</a:t>
            </a:r>
          </a:p>
        </p:txBody>
      </p:sp>
      <p:sp>
        <p:nvSpPr>
          <p:cNvPr id="26" name="Rectangle: Rounded Corners 25">
            <a:extLst>
              <a:ext uri="{FF2B5EF4-FFF2-40B4-BE49-F238E27FC236}">
                <a16:creationId xmlns:a16="http://schemas.microsoft.com/office/drawing/2014/main" id="{F2D8E2EC-5840-A724-F6E9-409D744C64B2}"/>
              </a:ext>
            </a:extLst>
          </p:cNvPr>
          <p:cNvSpPr/>
          <p:nvPr/>
        </p:nvSpPr>
        <p:spPr>
          <a:xfrm>
            <a:off x="5689600" y="4927600"/>
            <a:ext cx="1117600" cy="685800"/>
          </a:xfrm>
          <a:prstGeom prst="roundRect">
            <a:avLst>
              <a:gd name="adj" fmla="val 12000"/>
            </a:avLst>
          </a:prstGeom>
          <a:solidFill>
            <a:srgbClr val="161F34"/>
          </a:solidFill>
          <a:ln w="15875">
            <a:solidFill>
              <a:srgbClr val="4FD1C5"/>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IN" sz="1000">
                <a:solidFill>
                  <a:srgbClr val="E2E8F0"/>
                </a:solidFill>
                <a:latin typeface="Consolas" panose="020B0609020204030204" pitchFamily="49" charset="0"/>
              </a:rPr>
              <a:t>validate</a:t>
            </a:r>
          </a:p>
        </p:txBody>
      </p:sp>
      <p:sp>
        <p:nvSpPr>
          <p:cNvPr id="27" name="Rectangle: Rounded Corners 26">
            <a:extLst>
              <a:ext uri="{FF2B5EF4-FFF2-40B4-BE49-F238E27FC236}">
                <a16:creationId xmlns:a16="http://schemas.microsoft.com/office/drawing/2014/main" id="{854730B2-C3F6-CF4D-61FA-20B0B6B436F3}"/>
              </a:ext>
            </a:extLst>
          </p:cNvPr>
          <p:cNvSpPr/>
          <p:nvPr/>
        </p:nvSpPr>
        <p:spPr>
          <a:xfrm>
            <a:off x="6883400" y="4927600"/>
            <a:ext cx="1117600" cy="685800"/>
          </a:xfrm>
          <a:prstGeom prst="roundRect">
            <a:avLst>
              <a:gd name="adj" fmla="val 12000"/>
            </a:avLst>
          </a:prstGeom>
          <a:solidFill>
            <a:srgbClr val="161F34"/>
          </a:solidFill>
          <a:ln w="15875">
            <a:solidFill>
              <a:srgbClr val="4FD1C5"/>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IN" sz="1000">
                <a:solidFill>
                  <a:srgbClr val="E2E8F0"/>
                </a:solidFill>
                <a:latin typeface="Consolas" panose="020B0609020204030204" pitchFamily="49" charset="0"/>
              </a:rPr>
              <a:t>runDFA</a:t>
            </a:r>
          </a:p>
        </p:txBody>
      </p:sp>
      <p:sp>
        <p:nvSpPr>
          <p:cNvPr id="28" name="Rectangle: Rounded Corners 27">
            <a:extLst>
              <a:ext uri="{FF2B5EF4-FFF2-40B4-BE49-F238E27FC236}">
                <a16:creationId xmlns:a16="http://schemas.microsoft.com/office/drawing/2014/main" id="{843E1F96-0F27-D5B2-09B4-76A68C59B705}"/>
              </a:ext>
            </a:extLst>
          </p:cNvPr>
          <p:cNvSpPr/>
          <p:nvPr/>
        </p:nvSpPr>
        <p:spPr>
          <a:xfrm>
            <a:off x="8077200" y="4927600"/>
            <a:ext cx="1117600" cy="685800"/>
          </a:xfrm>
          <a:prstGeom prst="roundRect">
            <a:avLst>
              <a:gd name="adj" fmla="val 12000"/>
            </a:avLst>
          </a:prstGeom>
          <a:solidFill>
            <a:srgbClr val="161F34"/>
          </a:solidFill>
          <a:ln w="15875">
            <a:solidFill>
              <a:srgbClr val="4FD1C5"/>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IN" sz="1000">
                <a:solidFill>
                  <a:srgbClr val="E2E8F0"/>
                </a:solidFill>
                <a:latin typeface="Consolas" panose="020B0609020204030204" pitchFamily="49" charset="0"/>
              </a:rPr>
              <a:t>runNFA</a:t>
            </a:r>
          </a:p>
          <a:p>
            <a:pPr algn="ctr"/>
            <a:r>
              <a:rPr lang="el-GR" sz="1000">
                <a:solidFill>
                  <a:srgbClr val="E2E8F0"/>
                </a:solidFill>
                <a:latin typeface="Consolas" panose="020B0609020204030204" pitchFamily="49" charset="0"/>
              </a:rPr>
              <a:t>ε-</a:t>
            </a:r>
            <a:r>
              <a:rPr lang="en-IN" sz="1000">
                <a:solidFill>
                  <a:srgbClr val="E2E8F0"/>
                </a:solidFill>
                <a:latin typeface="Consolas" panose="020B0609020204030204" pitchFamily="49" charset="0"/>
              </a:rPr>
              <a:t>closure</a:t>
            </a:r>
          </a:p>
        </p:txBody>
      </p:sp>
      <p:sp>
        <p:nvSpPr>
          <p:cNvPr id="29" name="Rectangle: Rounded Corners 28">
            <a:extLst>
              <a:ext uri="{FF2B5EF4-FFF2-40B4-BE49-F238E27FC236}">
                <a16:creationId xmlns:a16="http://schemas.microsoft.com/office/drawing/2014/main" id="{B1AEC0E8-7C79-33B3-76D6-8A6786B68284}"/>
              </a:ext>
            </a:extLst>
          </p:cNvPr>
          <p:cNvSpPr/>
          <p:nvPr/>
        </p:nvSpPr>
        <p:spPr>
          <a:xfrm>
            <a:off x="9271000" y="4927600"/>
            <a:ext cx="1117600" cy="685800"/>
          </a:xfrm>
          <a:prstGeom prst="roundRect">
            <a:avLst>
              <a:gd name="adj" fmla="val 12000"/>
            </a:avLst>
          </a:prstGeom>
          <a:solidFill>
            <a:srgbClr val="161F34"/>
          </a:solidFill>
          <a:ln w="15875">
            <a:solidFill>
              <a:srgbClr val="4FD1C5"/>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IN" sz="1000">
                <a:solidFill>
                  <a:srgbClr val="E2E8F0"/>
                </a:solidFill>
                <a:latin typeface="Consolas" panose="020B0609020204030204" pitchFamily="49" charset="0"/>
              </a:rPr>
              <a:t>nfaToDfa</a:t>
            </a:r>
          </a:p>
        </p:txBody>
      </p:sp>
      <p:sp>
        <p:nvSpPr>
          <p:cNvPr id="30" name="Rectangle: Rounded Corners 29">
            <a:extLst>
              <a:ext uri="{FF2B5EF4-FFF2-40B4-BE49-F238E27FC236}">
                <a16:creationId xmlns:a16="http://schemas.microsoft.com/office/drawing/2014/main" id="{A391D32F-B494-7DE6-C7B5-0380B4F0BCA4}"/>
              </a:ext>
            </a:extLst>
          </p:cNvPr>
          <p:cNvSpPr/>
          <p:nvPr/>
        </p:nvSpPr>
        <p:spPr>
          <a:xfrm>
            <a:off x="10464800" y="4927600"/>
            <a:ext cx="1117600" cy="685800"/>
          </a:xfrm>
          <a:prstGeom prst="roundRect">
            <a:avLst>
              <a:gd name="adj" fmla="val 12000"/>
            </a:avLst>
          </a:prstGeom>
          <a:solidFill>
            <a:srgbClr val="161F34"/>
          </a:solidFill>
          <a:ln w="15875">
            <a:solidFill>
              <a:srgbClr val="4FD1C5"/>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IN" sz="1000">
                <a:solidFill>
                  <a:srgbClr val="E2E8F0"/>
                </a:solidFill>
                <a:latin typeface="Consolas" panose="020B0609020204030204" pitchFamily="49" charset="0"/>
              </a:rPr>
              <a:t>Automaton-</a:t>
            </a:r>
          </a:p>
          <a:p>
            <a:pPr algn="ctr"/>
            <a:r>
              <a:rPr lang="en-IN" sz="1000">
                <a:solidFill>
                  <a:srgbClr val="E2E8F0"/>
                </a:solidFill>
                <a:latin typeface="Consolas" panose="020B0609020204030204" pitchFamily="49" charset="0"/>
              </a:rPr>
              <a:t>Runner</a:t>
            </a:r>
          </a:p>
        </p:txBody>
      </p:sp>
      <p:cxnSp>
        <p:nvCxnSpPr>
          <p:cNvPr id="31" name="Straight Connector 30">
            <a:extLst>
              <a:ext uri="{FF2B5EF4-FFF2-40B4-BE49-F238E27FC236}">
                <a16:creationId xmlns:a16="http://schemas.microsoft.com/office/drawing/2014/main" id="{518F78A9-C6B3-ED7D-AC6C-862255F7856F}"/>
              </a:ext>
            </a:extLst>
          </p:cNvPr>
          <p:cNvCxnSpPr/>
          <p:nvPr/>
        </p:nvCxnSpPr>
        <p:spPr>
          <a:xfrm>
            <a:off x="10147300" y="4343400"/>
            <a:ext cx="596900" cy="584200"/>
          </a:xfrm>
          <a:prstGeom prst="line">
            <a:avLst/>
          </a:prstGeom>
          <a:ln w="19050">
            <a:solidFill>
              <a:srgbClr val="4FD1C5"/>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9F048E9C-CFF4-A5D7-F3FA-A8DCEAB781CA}"/>
              </a:ext>
            </a:extLst>
          </p:cNvPr>
          <p:cNvSpPr txBox="1"/>
          <p:nvPr/>
        </p:nvSpPr>
        <p:spPr>
          <a:xfrm>
            <a:off x="8890000" y="4445000"/>
            <a:ext cx="1219200" cy="177800"/>
          </a:xfrm>
          <a:prstGeom prst="rect">
            <a:avLst/>
          </a:prstGeom>
          <a:noFill/>
        </p:spPr>
        <p:txBody>
          <a:bodyPr vert="horz" wrap="square" lIns="50800" tIns="25400" rIns="50800" bIns="25400" rtlCol="0">
            <a:noAutofit/>
          </a:bodyPr>
          <a:lstStyle/>
          <a:p>
            <a:pPr algn="r"/>
            <a:r>
              <a:rPr lang="en-IN" sz="800">
                <a:solidFill>
                  <a:srgbClr val="8A94A6"/>
                </a:solidFill>
                <a:latin typeface="Consolas" panose="020B0609020204030204" pitchFamily="49" charset="0"/>
              </a:rPr>
              <a:t>GuardBrain wraps</a:t>
            </a:r>
          </a:p>
        </p:txBody>
      </p:sp>
      <p:cxnSp>
        <p:nvCxnSpPr>
          <p:cNvPr id="33" name="Straight Connector 32">
            <a:extLst>
              <a:ext uri="{FF2B5EF4-FFF2-40B4-BE49-F238E27FC236}">
                <a16:creationId xmlns:a16="http://schemas.microsoft.com/office/drawing/2014/main" id="{E12F75DA-5C6E-6B1C-45C8-241AE224C7E2}"/>
              </a:ext>
            </a:extLst>
          </p:cNvPr>
          <p:cNvCxnSpPr/>
          <p:nvPr/>
        </p:nvCxnSpPr>
        <p:spPr>
          <a:xfrm>
            <a:off x="11430000" y="2489200"/>
            <a:ext cx="0" cy="2438400"/>
          </a:xfrm>
          <a:prstGeom prst="line">
            <a:avLst/>
          </a:prstGeom>
          <a:ln w="19050">
            <a:solidFill>
              <a:srgbClr val="4FD1C5"/>
            </a:solidFill>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8A5D0860-A9A2-2F8E-AFA6-C42231BCF803}"/>
              </a:ext>
            </a:extLst>
          </p:cNvPr>
          <p:cNvSpPr txBox="1"/>
          <p:nvPr/>
        </p:nvSpPr>
        <p:spPr>
          <a:xfrm>
            <a:off x="8763000" y="2895600"/>
            <a:ext cx="2540000" cy="381000"/>
          </a:xfrm>
          <a:prstGeom prst="rect">
            <a:avLst/>
          </a:prstGeom>
          <a:noFill/>
        </p:spPr>
        <p:txBody>
          <a:bodyPr vert="horz" wrap="square" lIns="50800" tIns="25400" rIns="50800" bIns="25400" rtlCol="0">
            <a:noAutofit/>
          </a:bodyPr>
          <a:lstStyle/>
          <a:p>
            <a:pPr algn="r"/>
            <a:r>
              <a:rPr lang="en-US" sz="800">
                <a:solidFill>
                  <a:srgbClr val="8A94A6"/>
                </a:solidFill>
                <a:latin typeface="Consolas" panose="020B0609020204030204" pitchFamily="49" charset="0"/>
              </a:rPr>
              <a:t>comparison, Lab and tutorial</a:t>
            </a:r>
          </a:p>
          <a:p>
            <a:pPr algn="r"/>
            <a:r>
              <a:rPr lang="en-US" sz="800">
                <a:solidFill>
                  <a:srgbClr val="8A94A6"/>
                </a:solidFill>
                <a:latin typeface="Consolas" panose="020B0609020204030204" pitchFamily="49" charset="0"/>
              </a:rPr>
              <a:t>call the engine</a:t>
            </a:r>
            <a:endParaRPr lang="en-IN" sz="800">
              <a:solidFill>
                <a:srgbClr val="8A94A6"/>
              </a:solidFill>
              <a:latin typeface="Consolas" panose="020B0609020204030204" pitchFamily="49" charset="0"/>
            </a:endParaRPr>
          </a:p>
        </p:txBody>
      </p:sp>
      <p:sp>
        <p:nvSpPr>
          <p:cNvPr id="35" name="TextBox 34">
            <a:extLst>
              <a:ext uri="{FF2B5EF4-FFF2-40B4-BE49-F238E27FC236}">
                <a16:creationId xmlns:a16="http://schemas.microsoft.com/office/drawing/2014/main" id="{DDF485D0-7777-67CD-64CA-99BC723992BB}"/>
              </a:ext>
            </a:extLst>
          </p:cNvPr>
          <p:cNvSpPr txBox="1"/>
          <p:nvPr/>
        </p:nvSpPr>
        <p:spPr>
          <a:xfrm>
            <a:off x="5588000" y="5918200"/>
            <a:ext cx="6096000" cy="228600"/>
          </a:xfrm>
          <a:prstGeom prst="rect">
            <a:avLst/>
          </a:prstGeom>
          <a:noFill/>
        </p:spPr>
        <p:txBody>
          <a:bodyPr vert="horz" wrap="square" lIns="50800" tIns="25400" rIns="50800" bIns="25400" rtlCol="0">
            <a:noAutofit/>
          </a:bodyPr>
          <a:lstStyle/>
          <a:p>
            <a:pPr algn="ctr"/>
            <a:r>
              <a:rPr lang="en-US" sz="1000">
                <a:solidFill>
                  <a:srgbClr val="8A94A6"/>
                </a:solidFill>
                <a:latin typeface="Consolas" panose="020B0609020204030204" pitchFamily="49" charset="0"/>
              </a:rPr>
              <a:t>simplified from diagrams/01-system-architecture.mmd (full figure in the report)</a:t>
            </a:r>
            <a:endParaRPr lang="en-IN" sz="1000">
              <a:solidFill>
                <a:srgbClr val="8A94A6"/>
              </a:solidFill>
              <a:latin typeface="Consolas" panose="020B0609020204030204" pitchFamily="49" charset="0"/>
            </a:endParaRPr>
          </a:p>
        </p:txBody>
      </p:sp>
    </p:spTree>
    <p:extLst>
      <p:ext uri="{BB962C8B-B14F-4D97-AF65-F5344CB8AC3E}">
        <p14:creationId xmlns:p14="http://schemas.microsoft.com/office/powerpoint/2010/main" val="3409011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6EC9F1-EB24-CC52-ADD0-DA6AA36A99B6}"/>
              </a:ext>
            </a:extLst>
          </p:cNvPr>
          <p:cNvSpPr txBox="1"/>
          <p:nvPr/>
        </p:nvSpPr>
        <p:spPr>
          <a:xfrm>
            <a:off x="457200" y="279400"/>
            <a:ext cx="11277600" cy="558800"/>
          </a:xfrm>
          <a:prstGeom prst="rect">
            <a:avLst/>
          </a:prstGeom>
          <a:noFill/>
        </p:spPr>
        <p:txBody>
          <a:bodyPr vert="horz" wrap="square" lIns="50800" tIns="25400" rIns="50800" bIns="25400" rtlCol="0">
            <a:noAutofit/>
          </a:bodyPr>
          <a:lstStyle/>
          <a:p>
            <a:r>
              <a:rPr lang="en-IN" sz="2600" b="1">
                <a:solidFill>
                  <a:srgbClr val="8A94A6"/>
                </a:solidFill>
                <a:latin typeface="Consolas" panose="020B0609020204030204" pitchFamily="49" charset="0"/>
              </a:rPr>
              <a:t>&gt; </a:t>
            </a:r>
            <a:r>
              <a:rPr lang="en-IN" sz="2600" b="1">
                <a:solidFill>
                  <a:srgbClr val="4FD1C5"/>
                </a:solidFill>
                <a:latin typeface="Consolas" panose="020B0609020204030204" pitchFamily="49" charset="0"/>
              </a:rPr>
              <a:t>DFA FUNDAMENTALS </a:t>
            </a:r>
            <a:r>
              <a:rPr lang="en-IN" sz="2600">
                <a:solidFill>
                  <a:srgbClr val="4FD1C5"/>
                </a:solidFill>
                <a:latin typeface="Consolas" panose="020B0609020204030204" pitchFamily="49" charset="0"/>
              </a:rPr>
              <a:t>▌</a:t>
            </a:r>
          </a:p>
        </p:txBody>
      </p:sp>
      <p:cxnSp>
        <p:nvCxnSpPr>
          <p:cNvPr id="3" name="Straight Connector 2">
            <a:extLst>
              <a:ext uri="{FF2B5EF4-FFF2-40B4-BE49-F238E27FC236}">
                <a16:creationId xmlns:a16="http://schemas.microsoft.com/office/drawing/2014/main" id="{E97D6579-B0E9-ED03-2713-427E00667C8C}"/>
              </a:ext>
            </a:extLst>
          </p:cNvPr>
          <p:cNvCxnSpPr/>
          <p:nvPr/>
        </p:nvCxnSpPr>
        <p:spPr>
          <a:xfrm>
            <a:off x="508000" y="914400"/>
            <a:ext cx="11176000" cy="0"/>
          </a:xfrm>
          <a:prstGeom prst="line">
            <a:avLst/>
          </a:prstGeom>
          <a:ln w="15875">
            <a:solidFill>
              <a:srgbClr val="2C7A7B"/>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B4DD2FC0-FAA8-B763-9F16-3D9104278085}"/>
              </a:ext>
            </a:extLst>
          </p:cNvPr>
          <p:cNvSpPr txBox="1"/>
          <p:nvPr/>
        </p:nvSpPr>
        <p:spPr>
          <a:xfrm>
            <a:off x="508000" y="6426200"/>
            <a:ext cx="6604000" cy="228600"/>
          </a:xfrm>
          <a:prstGeom prst="rect">
            <a:avLst/>
          </a:prstGeom>
          <a:noFill/>
        </p:spPr>
        <p:txBody>
          <a:bodyPr vert="horz" wrap="square" lIns="50800" tIns="25400" rIns="50800" bIns="25400" rtlCol="0">
            <a:noAutofit/>
          </a:bodyPr>
          <a:lstStyle/>
          <a:p>
            <a:r>
              <a:rPr lang="en-US" sz="900">
                <a:solidFill>
                  <a:srgbClr val="8A94A6"/>
                </a:solidFill>
                <a:latin typeface="Consolas" panose="020B0609020204030204" pitchFamily="49" charset="0"/>
              </a:rPr>
              <a:t>SHADOW PROTOCOL // THEORY OF COMPUTATION</a:t>
            </a:r>
            <a:endParaRPr lang="en-IN" sz="900">
              <a:solidFill>
                <a:srgbClr val="8A94A6"/>
              </a:solidFill>
              <a:latin typeface="Consolas" panose="020B0609020204030204" pitchFamily="49" charset="0"/>
            </a:endParaRPr>
          </a:p>
        </p:txBody>
      </p:sp>
      <p:sp>
        <p:nvSpPr>
          <p:cNvPr id="5" name="TextBox 4">
            <a:extLst>
              <a:ext uri="{FF2B5EF4-FFF2-40B4-BE49-F238E27FC236}">
                <a16:creationId xmlns:a16="http://schemas.microsoft.com/office/drawing/2014/main" id="{CD143686-3920-2100-6487-3C1AFAD57268}"/>
              </a:ext>
            </a:extLst>
          </p:cNvPr>
          <p:cNvSpPr txBox="1"/>
          <p:nvPr/>
        </p:nvSpPr>
        <p:spPr>
          <a:xfrm>
            <a:off x="9652000" y="6426200"/>
            <a:ext cx="2032000" cy="228600"/>
          </a:xfrm>
          <a:prstGeom prst="rect">
            <a:avLst/>
          </a:prstGeom>
          <a:noFill/>
        </p:spPr>
        <p:txBody>
          <a:bodyPr vert="horz" wrap="square" lIns="50800" tIns="25400" rIns="50800" bIns="25400" rtlCol="0">
            <a:noAutofit/>
          </a:bodyPr>
          <a:lstStyle/>
          <a:p>
            <a:pPr algn="r"/>
            <a:r>
              <a:rPr lang="en-IN" sz="900">
                <a:solidFill>
                  <a:srgbClr val="8A94A6"/>
                </a:solidFill>
                <a:latin typeface="Consolas" panose="020B0609020204030204" pitchFamily="49" charset="0"/>
              </a:rPr>
              <a:t>06 / 13</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595EFB3-2853-C4C3-AC3A-86DDCFCECDFD}"/>
                  </a:ext>
                </a:extLst>
              </p:cNvPr>
              <p:cNvSpPr txBox="1"/>
              <p:nvPr/>
            </p:nvSpPr>
            <p:spPr>
              <a:xfrm>
                <a:off x="508000" y="1219200"/>
                <a:ext cx="5461000" cy="5130800"/>
              </a:xfrm>
              <a:prstGeom prst="rect">
                <a:avLst/>
              </a:prstGeom>
              <a:noFill/>
            </p:spPr>
            <p:txBody>
              <a:bodyPr vert="horz" wrap="square" lIns="50800" tIns="25400" rIns="50800" bIns="25400" rtlCol="0">
                <a:noAutofit/>
              </a:bodyPr>
              <a:lstStyle/>
              <a:p>
                <a:pPr marL="254000" indent="-254000">
                  <a:spcAft>
                    <a:spcPts val="900"/>
                  </a:spcAft>
                  <a:buClr>
                    <a:srgbClr val="4FD1C5"/>
                  </a:buClr>
                  <a:buFont typeface="+mj-lt"/>
                  <a:buChar char="▸"/>
                </a:pPr>
                <a14:m>
                  <m:oMath xmlns:m="http://schemas.openxmlformats.org/officeDocument/2006/math">
                    <m:r>
                      <a:rPr lang="en-US">
                        <a:solidFill>
                          <a:srgbClr val="E2E8F0"/>
                        </a:solidFill>
                        <a:latin typeface="Cambria Math" panose="02040503050406030204" pitchFamily="18" charset="0"/>
                      </a:rPr>
                      <m:t>𝑀</m:t>
                    </m:r>
                    <m:r>
                      <a:rPr lang="en-US">
                        <a:solidFill>
                          <a:srgbClr val="E2E8F0"/>
                        </a:solidFill>
                        <a:latin typeface="Cambria Math" panose="02040503050406030204" pitchFamily="18" charset="0"/>
                      </a:rPr>
                      <m:t>=</m:t>
                    </m:r>
                    <m:d>
                      <m:dPr>
                        <m:ctrlPr>
                          <a:rPr lang="en-US">
                            <a:solidFill>
                              <a:srgbClr val="E2E8F0"/>
                            </a:solidFill>
                            <a:latin typeface="Cambria Math" panose="02040503050406030204" pitchFamily="18" charset="0"/>
                          </a:rPr>
                        </m:ctrlPr>
                      </m:dPr>
                      <m:e>
                        <m:r>
                          <a:rPr lang="en-US">
                            <a:solidFill>
                              <a:srgbClr val="E2E8F0"/>
                            </a:solidFill>
                            <a:latin typeface="Cambria Math" panose="02040503050406030204" pitchFamily="18" charset="0"/>
                          </a:rPr>
                          <m:t>𝑄</m:t>
                        </m:r>
                        <m:r>
                          <a:rPr lang="en-US">
                            <a:solidFill>
                              <a:srgbClr val="E2E8F0"/>
                            </a:solidFill>
                            <a:latin typeface="Cambria Math" panose="02040503050406030204" pitchFamily="18" charset="0"/>
                          </a:rPr>
                          <m:t>,</m:t>
                        </m:r>
                        <m:r>
                          <a:rPr lang="en-US">
                            <a:solidFill>
                              <a:srgbClr val="E2E8F0"/>
                            </a:solidFill>
                            <a:latin typeface="Cambria Math" panose="02040503050406030204" pitchFamily="18" charset="0"/>
                          </a:rPr>
                          <m:t>𝛴</m:t>
                        </m:r>
                        <m:r>
                          <a:rPr lang="en-US">
                            <a:solidFill>
                              <a:srgbClr val="E2E8F0"/>
                            </a:solidFill>
                            <a:latin typeface="Cambria Math" panose="02040503050406030204" pitchFamily="18" charset="0"/>
                          </a:rPr>
                          <m:t>,</m:t>
                        </m:r>
                        <m:r>
                          <a:rPr lang="en-US">
                            <a:solidFill>
                              <a:srgbClr val="E2E8F0"/>
                            </a:solidFill>
                            <a:latin typeface="Cambria Math" panose="02040503050406030204" pitchFamily="18" charset="0"/>
                          </a:rPr>
                          <m:t>𝛿</m:t>
                        </m:r>
                        <m:r>
                          <a:rPr lang="en-US">
                            <a:solidFill>
                              <a:srgbClr val="E2E8F0"/>
                            </a:solidFill>
                            <a:latin typeface="Cambria Math" panose="02040503050406030204" pitchFamily="18" charset="0"/>
                          </a:rPr>
                          <m:t>,</m:t>
                        </m:r>
                        <m:sSub>
                          <m:sSubPr>
                            <m:ctrlPr>
                              <a:rPr lang="en-US">
                                <a:solidFill>
                                  <a:srgbClr val="E2E8F0"/>
                                </a:solidFill>
                                <a:latin typeface="Cambria Math" panose="02040503050406030204" pitchFamily="18" charset="0"/>
                              </a:rPr>
                            </m:ctrlPr>
                          </m:sSubPr>
                          <m:e>
                            <m:r>
                              <a:rPr lang="en-US">
                                <a:solidFill>
                                  <a:srgbClr val="E2E8F0"/>
                                </a:solidFill>
                                <a:latin typeface="Cambria Math" panose="02040503050406030204" pitchFamily="18" charset="0"/>
                              </a:rPr>
                              <m:t>𝑞</m:t>
                            </m:r>
                          </m:e>
                          <m:sub>
                            <m:r>
                              <a:rPr lang="en-US">
                                <a:solidFill>
                                  <a:srgbClr val="E2E8F0"/>
                                </a:solidFill>
                                <a:latin typeface="Cambria Math" panose="02040503050406030204" pitchFamily="18" charset="0"/>
                              </a:rPr>
                              <m:t>0</m:t>
                            </m:r>
                          </m:sub>
                        </m:sSub>
                        <m:r>
                          <a:rPr lang="en-US">
                            <a:solidFill>
                              <a:srgbClr val="E2E8F0"/>
                            </a:solidFill>
                            <a:latin typeface="Cambria Math" panose="02040503050406030204" pitchFamily="18" charset="0"/>
                          </a:rPr>
                          <m:t>,</m:t>
                        </m:r>
                        <m:r>
                          <a:rPr lang="en-US">
                            <a:solidFill>
                              <a:srgbClr val="E2E8F0"/>
                            </a:solidFill>
                            <a:latin typeface="Cambria Math" panose="02040503050406030204" pitchFamily="18" charset="0"/>
                          </a:rPr>
                          <m:t>𝐹</m:t>
                        </m:r>
                      </m:e>
                    </m:d>
                  </m:oMath>
                </a14:m>
                <a:r>
                  <a:rPr lang="en-US">
                    <a:solidFill>
                      <a:srgbClr val="E2E8F0"/>
                    </a:solidFill>
                    <a:latin typeface="Segoe UI" panose="020B0502040204020203" pitchFamily="34" charset="0"/>
                  </a:rPr>
                  <a:t> with </a:t>
                </a:r>
                <a14:m>
                  <m:oMath xmlns:m="http://schemas.openxmlformats.org/officeDocument/2006/math">
                    <m:r>
                      <a:rPr lang="en-US">
                        <a:solidFill>
                          <a:srgbClr val="E2E8F0"/>
                        </a:solidFill>
                        <a:latin typeface="Cambria Math" panose="02040503050406030204" pitchFamily="18" charset="0"/>
                      </a:rPr>
                      <m:t>𝛿</m:t>
                    </m:r>
                    <m:r>
                      <a:rPr lang="en-US">
                        <a:solidFill>
                          <a:srgbClr val="E2E8F0"/>
                        </a:solidFill>
                        <a:latin typeface="Cambria Math" panose="02040503050406030204" pitchFamily="18" charset="0"/>
                      </a:rPr>
                      <m:t>:</m:t>
                    </m:r>
                    <m:r>
                      <a:rPr lang="en-US">
                        <a:solidFill>
                          <a:srgbClr val="E2E8F0"/>
                        </a:solidFill>
                        <a:latin typeface="Cambria Math" panose="02040503050406030204" pitchFamily="18" charset="0"/>
                      </a:rPr>
                      <m:t>𝑄</m:t>
                    </m:r>
                    <m:r>
                      <a:rPr lang="en-US">
                        <a:solidFill>
                          <a:srgbClr val="E2E8F0"/>
                        </a:solidFill>
                        <a:latin typeface="Cambria Math" panose="02040503050406030204" pitchFamily="18" charset="0"/>
                      </a:rPr>
                      <m:t>×</m:t>
                    </m:r>
                    <m:r>
                      <a:rPr lang="en-US">
                        <a:solidFill>
                          <a:srgbClr val="E2E8F0"/>
                        </a:solidFill>
                        <a:latin typeface="Cambria Math" panose="02040503050406030204" pitchFamily="18" charset="0"/>
                      </a:rPr>
                      <m:t>𝛴</m:t>
                    </m:r>
                    <m:r>
                      <a:rPr lang="en-US">
                        <a:solidFill>
                          <a:srgbClr val="E2E8F0"/>
                        </a:solidFill>
                        <a:latin typeface="Cambria Math" panose="02040503050406030204" pitchFamily="18" charset="0"/>
                      </a:rPr>
                      <m:t>→</m:t>
                    </m:r>
                    <m:r>
                      <a:rPr lang="en-US">
                        <a:solidFill>
                          <a:srgbClr val="E2E8F0"/>
                        </a:solidFill>
                        <a:latin typeface="Cambria Math" panose="02040503050406030204" pitchFamily="18" charset="0"/>
                      </a:rPr>
                      <m:t>𝑄</m:t>
                    </m:r>
                  </m:oMath>
                </a14:m>
                <a:r>
                  <a:rPr lang="en-US">
                    <a:solidFill>
                      <a:srgbClr val="E2E8F0"/>
                    </a:solidFill>
                    <a:latin typeface="Segoe UI" panose="020B0502040204020203" pitchFamily="34" charset="0"/>
                  </a:rPr>
                  <a:t> (</a:t>
                </a:r>
                <a:r>
                  <a:rPr lang="en-US" b="1">
                    <a:solidFill>
                      <a:srgbClr val="FFFFFF"/>
                    </a:solidFill>
                    <a:latin typeface="Segoe UI" panose="020B0502040204020203" pitchFamily="34" charset="0"/>
                  </a:rPr>
                  <a:t>total and deterministic</a:t>
                </a:r>
                <a:r>
                  <a:rPr lang="en-US">
                    <a:solidFill>
                      <a:srgbClr val="E2E8F0"/>
                    </a:solidFill>
                    <a:latin typeface="Segoe UI" panose="020B0502040204020203" pitchFamily="34" charset="0"/>
                  </a:rPr>
                  <a:t>)</a:t>
                </a:r>
              </a:p>
              <a:p>
                <a:pPr marL="254000" indent="-254000">
                  <a:spcAft>
                    <a:spcPts val="900"/>
                  </a:spcAft>
                  <a:buClr>
                    <a:srgbClr val="4FD1C5"/>
                  </a:buClr>
                  <a:buFont typeface="+mj-lt"/>
                  <a:buChar char="▸"/>
                </a:pPr>
                <a14:m>
                  <m:oMath xmlns:m="http://schemas.openxmlformats.org/officeDocument/2006/math">
                    <m:acc>
                      <m:accPr>
                        <m:chr m:val="̂"/>
                        <m:ctrlPr>
                          <a:rPr lang="en-US">
                            <a:solidFill>
                              <a:srgbClr val="E2E8F0"/>
                            </a:solidFill>
                            <a:latin typeface="Cambria Math" panose="02040503050406030204" pitchFamily="18" charset="0"/>
                          </a:rPr>
                        </m:ctrlPr>
                      </m:accPr>
                      <m:e>
                        <m:r>
                          <a:rPr lang="en-US">
                            <a:solidFill>
                              <a:srgbClr val="E2E8F0"/>
                            </a:solidFill>
                            <a:latin typeface="Cambria Math" panose="02040503050406030204" pitchFamily="18" charset="0"/>
                          </a:rPr>
                          <m:t>𝛿</m:t>
                        </m:r>
                      </m:e>
                    </m:acc>
                    <m:d>
                      <m:dPr>
                        <m:ctrlPr>
                          <a:rPr lang="en-US">
                            <a:solidFill>
                              <a:srgbClr val="E2E8F0"/>
                            </a:solidFill>
                            <a:latin typeface="Cambria Math" panose="02040503050406030204" pitchFamily="18" charset="0"/>
                          </a:rPr>
                        </m:ctrlPr>
                      </m:dPr>
                      <m:e>
                        <m:r>
                          <a:rPr lang="en-US">
                            <a:solidFill>
                              <a:srgbClr val="E2E8F0"/>
                            </a:solidFill>
                            <a:latin typeface="Cambria Math" panose="02040503050406030204" pitchFamily="18" charset="0"/>
                          </a:rPr>
                          <m:t>𝑞</m:t>
                        </m:r>
                        <m:r>
                          <a:rPr lang="en-US">
                            <a:solidFill>
                              <a:srgbClr val="E2E8F0"/>
                            </a:solidFill>
                            <a:latin typeface="Cambria Math" panose="02040503050406030204" pitchFamily="18" charset="0"/>
                          </a:rPr>
                          <m:t>,</m:t>
                        </m:r>
                        <m:r>
                          <a:rPr lang="en-US">
                            <a:solidFill>
                              <a:srgbClr val="E2E8F0"/>
                            </a:solidFill>
                            <a:latin typeface="Cambria Math" panose="02040503050406030204" pitchFamily="18" charset="0"/>
                          </a:rPr>
                          <m:t>𝜀</m:t>
                        </m:r>
                      </m:e>
                    </m:d>
                    <m:r>
                      <a:rPr lang="en-US">
                        <a:solidFill>
                          <a:srgbClr val="E2E8F0"/>
                        </a:solidFill>
                        <a:latin typeface="Cambria Math" panose="02040503050406030204" pitchFamily="18" charset="0"/>
                      </a:rPr>
                      <m:t>=</m:t>
                    </m:r>
                    <m:r>
                      <a:rPr lang="en-US">
                        <a:solidFill>
                          <a:srgbClr val="E2E8F0"/>
                        </a:solidFill>
                        <a:latin typeface="Cambria Math" panose="02040503050406030204" pitchFamily="18" charset="0"/>
                      </a:rPr>
                      <m:t>𝑞</m:t>
                    </m:r>
                  </m:oMath>
                </a14:m>
                <a:r>
                  <a:rPr lang="en-US">
                    <a:solidFill>
                      <a:srgbClr val="E2E8F0"/>
                    </a:solidFill>
                    <a:latin typeface="Segoe UI" panose="020B0502040204020203" pitchFamily="34" charset="0"/>
                  </a:rPr>
                  <a:t>, </a:t>
                </a:r>
                <a14:m>
                  <m:oMath xmlns:m="http://schemas.openxmlformats.org/officeDocument/2006/math">
                    <m:acc>
                      <m:accPr>
                        <m:chr m:val="̂"/>
                        <m:ctrlPr>
                          <a:rPr lang="en-US">
                            <a:solidFill>
                              <a:srgbClr val="E2E8F0"/>
                            </a:solidFill>
                            <a:latin typeface="Cambria Math" panose="02040503050406030204" pitchFamily="18" charset="0"/>
                          </a:rPr>
                        </m:ctrlPr>
                      </m:accPr>
                      <m:e>
                        <m:r>
                          <a:rPr lang="en-US">
                            <a:solidFill>
                              <a:srgbClr val="E2E8F0"/>
                            </a:solidFill>
                            <a:latin typeface="Cambria Math" panose="02040503050406030204" pitchFamily="18" charset="0"/>
                          </a:rPr>
                          <m:t>𝛿</m:t>
                        </m:r>
                      </m:e>
                    </m:acc>
                    <m:d>
                      <m:dPr>
                        <m:ctrlPr>
                          <a:rPr lang="en-US">
                            <a:solidFill>
                              <a:srgbClr val="E2E8F0"/>
                            </a:solidFill>
                            <a:latin typeface="Cambria Math" panose="02040503050406030204" pitchFamily="18" charset="0"/>
                          </a:rPr>
                        </m:ctrlPr>
                      </m:dPr>
                      <m:e>
                        <m:r>
                          <a:rPr lang="en-US">
                            <a:solidFill>
                              <a:srgbClr val="E2E8F0"/>
                            </a:solidFill>
                            <a:latin typeface="Cambria Math" panose="02040503050406030204" pitchFamily="18" charset="0"/>
                          </a:rPr>
                          <m:t>𝑞</m:t>
                        </m:r>
                        <m:r>
                          <a:rPr lang="en-US">
                            <a:solidFill>
                              <a:srgbClr val="E2E8F0"/>
                            </a:solidFill>
                            <a:latin typeface="Cambria Math" panose="02040503050406030204" pitchFamily="18" charset="0"/>
                          </a:rPr>
                          <m:t>,</m:t>
                        </m:r>
                        <m:r>
                          <a:rPr lang="en-US">
                            <a:solidFill>
                              <a:srgbClr val="E2E8F0"/>
                            </a:solidFill>
                            <a:latin typeface="Cambria Math" panose="02040503050406030204" pitchFamily="18" charset="0"/>
                          </a:rPr>
                          <m:t>𝑤𝑎</m:t>
                        </m:r>
                      </m:e>
                    </m:d>
                    <m:r>
                      <a:rPr lang="en-US">
                        <a:solidFill>
                          <a:srgbClr val="E2E8F0"/>
                        </a:solidFill>
                        <a:latin typeface="Cambria Math" panose="02040503050406030204" pitchFamily="18" charset="0"/>
                      </a:rPr>
                      <m:t>=</m:t>
                    </m:r>
                    <m:r>
                      <a:rPr lang="en-US">
                        <a:solidFill>
                          <a:srgbClr val="E2E8F0"/>
                        </a:solidFill>
                        <a:latin typeface="Cambria Math" panose="02040503050406030204" pitchFamily="18" charset="0"/>
                      </a:rPr>
                      <m:t>𝛿</m:t>
                    </m:r>
                    <m:d>
                      <m:dPr>
                        <m:ctrlPr>
                          <a:rPr lang="en-US" i="1">
                            <a:solidFill>
                              <a:srgbClr val="E2E8F0"/>
                            </a:solidFill>
                            <a:latin typeface="Cambria Math" panose="02040503050406030204" pitchFamily="18" charset="0"/>
                          </a:rPr>
                        </m:ctrlPr>
                      </m:dPr>
                      <m:e>
                        <m:acc>
                          <m:accPr>
                            <m:chr m:val="̂"/>
                            <m:ctrlPr>
                              <a:rPr lang="en-US">
                                <a:solidFill>
                                  <a:srgbClr val="E2E8F0"/>
                                </a:solidFill>
                                <a:latin typeface="Cambria Math" panose="02040503050406030204" pitchFamily="18" charset="0"/>
                              </a:rPr>
                            </m:ctrlPr>
                          </m:accPr>
                          <m:e>
                            <m:r>
                              <a:rPr lang="en-US">
                                <a:solidFill>
                                  <a:srgbClr val="E2E8F0"/>
                                </a:solidFill>
                                <a:latin typeface="Cambria Math" panose="02040503050406030204" pitchFamily="18" charset="0"/>
                              </a:rPr>
                              <m:t>𝛿</m:t>
                            </m:r>
                          </m:e>
                        </m:acc>
                        <m:d>
                          <m:dPr>
                            <m:ctrlPr>
                              <a:rPr lang="en-US">
                                <a:solidFill>
                                  <a:srgbClr val="E2E8F0"/>
                                </a:solidFill>
                                <a:latin typeface="Cambria Math" panose="02040503050406030204" pitchFamily="18" charset="0"/>
                              </a:rPr>
                            </m:ctrlPr>
                          </m:dPr>
                          <m:e>
                            <m:r>
                              <a:rPr lang="en-US">
                                <a:solidFill>
                                  <a:srgbClr val="E2E8F0"/>
                                </a:solidFill>
                                <a:latin typeface="Cambria Math" panose="02040503050406030204" pitchFamily="18" charset="0"/>
                              </a:rPr>
                              <m:t>𝑞</m:t>
                            </m:r>
                            <m:r>
                              <a:rPr lang="en-US">
                                <a:solidFill>
                                  <a:srgbClr val="E2E8F0"/>
                                </a:solidFill>
                                <a:latin typeface="Cambria Math" panose="02040503050406030204" pitchFamily="18" charset="0"/>
                              </a:rPr>
                              <m:t>,</m:t>
                            </m:r>
                            <m:r>
                              <a:rPr lang="en-US">
                                <a:solidFill>
                                  <a:srgbClr val="E2E8F0"/>
                                </a:solidFill>
                                <a:latin typeface="Cambria Math" panose="02040503050406030204" pitchFamily="18" charset="0"/>
                              </a:rPr>
                              <m:t>𝑤</m:t>
                            </m:r>
                          </m:e>
                        </m:d>
                        <m:r>
                          <a:rPr lang="en-US">
                            <a:solidFill>
                              <a:srgbClr val="E2E8F0"/>
                            </a:solidFill>
                            <a:latin typeface="Cambria Math" panose="02040503050406030204" pitchFamily="18" charset="0"/>
                          </a:rPr>
                          <m:t>,</m:t>
                        </m:r>
                        <m:r>
                          <a:rPr lang="en-US">
                            <a:solidFill>
                              <a:srgbClr val="E2E8F0"/>
                            </a:solidFill>
                            <a:latin typeface="Cambria Math" panose="02040503050406030204" pitchFamily="18" charset="0"/>
                          </a:rPr>
                          <m:t>𝑎</m:t>
                        </m:r>
                      </m:e>
                    </m:d>
                  </m:oMath>
                </a14:m>
                <a:r>
                  <a:rPr lang="en-US">
                    <a:solidFill>
                      <a:srgbClr val="E2E8F0"/>
                    </a:solidFill>
                    <a:latin typeface="Segoe UI" panose="020B0502040204020203" pitchFamily="34" charset="0"/>
                  </a:rPr>
                  <a:t>; </a:t>
                </a:r>
                <a14:m>
                  <m:oMath xmlns:m="http://schemas.openxmlformats.org/officeDocument/2006/math">
                    <m:r>
                      <a:rPr lang="en-US">
                        <a:solidFill>
                          <a:srgbClr val="E2E8F0"/>
                        </a:solidFill>
                        <a:latin typeface="Cambria Math" panose="02040503050406030204" pitchFamily="18" charset="0"/>
                      </a:rPr>
                      <m:t>𝐿</m:t>
                    </m:r>
                    <m:d>
                      <m:dPr>
                        <m:ctrlPr>
                          <a:rPr lang="en-US">
                            <a:solidFill>
                              <a:srgbClr val="E2E8F0"/>
                            </a:solidFill>
                            <a:latin typeface="Cambria Math" panose="02040503050406030204" pitchFamily="18" charset="0"/>
                          </a:rPr>
                        </m:ctrlPr>
                      </m:dPr>
                      <m:e>
                        <m:r>
                          <a:rPr lang="en-US">
                            <a:solidFill>
                              <a:srgbClr val="E2E8F0"/>
                            </a:solidFill>
                            <a:latin typeface="Cambria Math" panose="02040503050406030204" pitchFamily="18" charset="0"/>
                          </a:rPr>
                          <m:t>𝑀</m:t>
                        </m:r>
                      </m:e>
                    </m:d>
                    <m:r>
                      <a:rPr lang="en-US">
                        <a:solidFill>
                          <a:srgbClr val="E2E8F0"/>
                        </a:solidFill>
                        <a:latin typeface="Cambria Math" panose="02040503050406030204" pitchFamily="18" charset="0"/>
                      </a:rPr>
                      <m:t>=</m:t>
                    </m:r>
                    <m:d>
                      <m:dPr>
                        <m:begChr m:val="{"/>
                        <m:endChr m:val="}"/>
                        <m:sepChr m:val="∣"/>
                        <m:ctrlPr>
                          <a:rPr lang="en-US">
                            <a:solidFill>
                              <a:srgbClr val="E2E8F0"/>
                            </a:solidFill>
                            <a:latin typeface="Cambria Math" panose="02040503050406030204" pitchFamily="18" charset="0"/>
                          </a:rPr>
                        </m:ctrlPr>
                      </m:dPr>
                      <m:e>
                        <m:r>
                          <a:rPr lang="en-US">
                            <a:solidFill>
                              <a:srgbClr val="E2E8F0"/>
                            </a:solidFill>
                            <a:latin typeface="Cambria Math" panose="02040503050406030204" pitchFamily="18" charset="0"/>
                          </a:rPr>
                          <m:t>𝑤</m:t>
                        </m:r>
                      </m:e>
                      <m:e>
                        <m:acc>
                          <m:accPr>
                            <m:chr m:val="̂"/>
                            <m:ctrlPr>
                              <a:rPr lang="en-US">
                                <a:solidFill>
                                  <a:srgbClr val="E2E8F0"/>
                                </a:solidFill>
                                <a:latin typeface="Cambria Math" panose="02040503050406030204" pitchFamily="18" charset="0"/>
                              </a:rPr>
                            </m:ctrlPr>
                          </m:accPr>
                          <m:e>
                            <m:r>
                              <a:rPr lang="en-US">
                                <a:solidFill>
                                  <a:srgbClr val="E2E8F0"/>
                                </a:solidFill>
                                <a:latin typeface="Cambria Math" panose="02040503050406030204" pitchFamily="18" charset="0"/>
                              </a:rPr>
                              <m:t>𝛿</m:t>
                            </m:r>
                          </m:e>
                        </m:acc>
                        <m:d>
                          <m:dPr>
                            <m:ctrlPr>
                              <a:rPr lang="en-US" i="1">
                                <a:solidFill>
                                  <a:srgbClr val="E2E8F0"/>
                                </a:solidFill>
                                <a:latin typeface="Cambria Math" panose="02040503050406030204" pitchFamily="18" charset="0"/>
                              </a:rPr>
                            </m:ctrlPr>
                          </m:dPr>
                          <m:e>
                            <m:sSub>
                              <m:sSubPr>
                                <m:ctrlPr>
                                  <a:rPr lang="en-US">
                                    <a:solidFill>
                                      <a:srgbClr val="E2E8F0"/>
                                    </a:solidFill>
                                    <a:latin typeface="Cambria Math" panose="02040503050406030204" pitchFamily="18" charset="0"/>
                                  </a:rPr>
                                </m:ctrlPr>
                              </m:sSubPr>
                              <m:e>
                                <m:r>
                                  <a:rPr lang="en-US">
                                    <a:solidFill>
                                      <a:srgbClr val="E2E8F0"/>
                                    </a:solidFill>
                                    <a:latin typeface="Cambria Math" panose="02040503050406030204" pitchFamily="18" charset="0"/>
                                  </a:rPr>
                                  <m:t>𝑞</m:t>
                                </m:r>
                              </m:e>
                              <m:sub>
                                <m:r>
                                  <a:rPr lang="en-US">
                                    <a:solidFill>
                                      <a:srgbClr val="E2E8F0"/>
                                    </a:solidFill>
                                    <a:latin typeface="Cambria Math" panose="02040503050406030204" pitchFamily="18" charset="0"/>
                                  </a:rPr>
                                  <m:t>0</m:t>
                                </m:r>
                              </m:sub>
                            </m:sSub>
                            <m:r>
                              <a:rPr lang="en-US">
                                <a:solidFill>
                                  <a:srgbClr val="E2E8F0"/>
                                </a:solidFill>
                                <a:latin typeface="Cambria Math" panose="02040503050406030204" pitchFamily="18" charset="0"/>
                              </a:rPr>
                              <m:t>,</m:t>
                            </m:r>
                            <m:r>
                              <a:rPr lang="en-US">
                                <a:solidFill>
                                  <a:srgbClr val="E2E8F0"/>
                                </a:solidFill>
                                <a:latin typeface="Cambria Math" panose="02040503050406030204" pitchFamily="18" charset="0"/>
                              </a:rPr>
                              <m:t>𝑤</m:t>
                            </m:r>
                          </m:e>
                        </m:d>
                        <m:r>
                          <a:rPr lang="en-US">
                            <a:solidFill>
                              <a:srgbClr val="E2E8F0"/>
                            </a:solidFill>
                            <a:latin typeface="Cambria Math" panose="02040503050406030204" pitchFamily="18" charset="0"/>
                          </a:rPr>
                          <m:t>∈</m:t>
                        </m:r>
                        <m:r>
                          <a:rPr lang="en-US">
                            <a:solidFill>
                              <a:srgbClr val="E2E8F0"/>
                            </a:solidFill>
                            <a:latin typeface="Cambria Math" panose="02040503050406030204" pitchFamily="18" charset="0"/>
                          </a:rPr>
                          <m:t>𝐹</m:t>
                        </m:r>
                      </m:e>
                    </m:d>
                  </m:oMath>
                </a14:m>
                <a:endParaRPr lang="en-US">
                  <a:solidFill>
                    <a:srgbClr val="E2E8F0"/>
                  </a:solidFill>
                  <a:latin typeface="Segoe UI" panose="020B0502040204020203" pitchFamily="34" charset="0"/>
                </a:endParaRPr>
              </a:p>
              <a:p>
                <a:pPr marL="254000" indent="-254000">
                  <a:spcAft>
                    <a:spcPts val="900"/>
                  </a:spcAft>
                  <a:buClr>
                    <a:srgbClr val="4FD1C5"/>
                  </a:buClr>
                  <a:buFont typeface="+mj-lt"/>
                  <a:buChar char="▸"/>
                </a:pPr>
                <a:r>
                  <a:rPr lang="en-US">
                    <a:solidFill>
                      <a:srgbClr val="E2E8F0"/>
                    </a:solidFill>
                    <a:latin typeface="Segoe UI" panose="020B0502040204020203" pitchFamily="34" charset="0"/>
                  </a:rPr>
                  <a:t>In the engine: δ is an edge list; missing or duplicate (q, a) pairs are </a:t>
                </a:r>
                <a:r>
                  <a:rPr lang="en-US" b="1">
                    <a:solidFill>
                      <a:srgbClr val="FFFFFF"/>
                    </a:solidFill>
                    <a:latin typeface="Segoe UI" panose="020B0502040204020203" pitchFamily="34" charset="0"/>
                  </a:rPr>
                  <a:t>errors</a:t>
                </a:r>
                <a:r>
                  <a:rPr lang="en-US">
                    <a:solidFill>
                      <a:srgbClr val="E2E8F0"/>
                    </a:solidFill>
                    <a:latin typeface="Segoe UI" panose="020B0502040204020203" pitchFamily="34" charset="0"/>
                  </a:rPr>
                  <a:t>, never silently filled</a:t>
                </a:r>
              </a:p>
              <a:p>
                <a:pPr marL="254000" indent="-254000">
                  <a:spcAft>
                    <a:spcPts val="900"/>
                  </a:spcAft>
                  <a:buClr>
                    <a:srgbClr val="4FD1C5"/>
                  </a:buClr>
                  <a:buFont typeface="+mj-lt"/>
                  <a:buChar char="▸"/>
                </a:pPr>
                <a:r>
                  <a:rPr lang="en-US">
                    <a:solidFill>
                      <a:srgbClr val="E2E8F0"/>
                    </a:solidFill>
                    <a:latin typeface="Segoe UI" panose="020B0502040204020203" pitchFamily="34" charset="0"/>
                  </a:rPr>
                  <a:t>Inputs are arrays of symbols, so </a:t>
                </a:r>
                <a:r>
                  <a:rPr lang="en-US">
                    <a:solidFill>
                      <a:srgbClr val="4FD1C5"/>
                    </a:solidFill>
                    <a:latin typeface="Consolas" panose="020B0609020204030204" pitchFamily="49" charset="0"/>
                  </a:rPr>
                  <a:t>PLAYER_SPOTTED</a:t>
                </a:r>
                <a:r>
                  <a:rPr lang="en-US">
                    <a:solidFill>
                      <a:srgbClr val="E2E8F0"/>
                    </a:solidFill>
                    <a:latin typeface="Segoe UI" panose="020B0502040204020203" pitchFamily="34" charset="0"/>
                  </a:rPr>
                  <a:t> is one symbol</a:t>
                </a:r>
                <a:endParaRPr lang="en-IN">
                  <a:solidFill>
                    <a:srgbClr val="E2E8F0"/>
                  </a:solidFill>
                  <a:latin typeface="Segoe UI" panose="020B0502040204020203" pitchFamily="34" charset="0"/>
                </a:endParaRPr>
              </a:p>
            </p:txBody>
          </p:sp>
        </mc:Choice>
        <mc:Fallback xmlns="">
          <p:sp>
            <p:nvSpPr>
              <p:cNvPr id="6" name="TextBox 5">
                <a:extLst>
                  <a:ext uri="{FF2B5EF4-FFF2-40B4-BE49-F238E27FC236}">
                    <a16:creationId xmlns:a16="http://schemas.microsoft.com/office/drawing/2014/main" id="{1595EFB3-2853-C4C3-AC3A-86DDCFCECDFD}"/>
                  </a:ext>
                </a:extLst>
              </p:cNvPr>
              <p:cNvSpPr txBox="1"/>
              <p:nvPr/>
            </p:nvSpPr>
            <p:spPr>
              <a:xfrm>
                <a:off x="508000" y="1219200"/>
                <a:ext cx="5461000" cy="5130800"/>
              </a:xfrm>
              <a:prstGeom prst="rect">
                <a:avLst/>
              </a:prstGeom>
              <a:noFill/>
            </p:spPr>
            <p:txBody>
              <a:bodyPr vert="horz" wrap="square" lIns="50800" tIns="25400" rIns="50800" bIns="25400" rtlCol="0">
                <a:noAutofit/>
              </a:bodyPr>
              <a:lstStyle/>
              <a:p>
                <a:pPr marL="254000" indent="-254000">
                  <a:spcAft>
                    <a:spcPts val="900"/>
                  </a:spcAft>
                  <a:buClr>
                    <a:srgbClr val="4FD1C5"/>
                  </a:buClr>
                  <a:buFont typeface="+mj-lt"/>
                  <a:buChar char="▸"/>
                </a:pPr>
                <a:r>
                  <a:rPr lang="en-US">
                    <a:solidFill>
                      <a:srgbClr val="E2E8F0"/>
                    </a:solidFill>
                    <a:latin typeface="Cambria Math" panose="02040503050406030204" pitchFamily="18" charset="0"/>
                  </a:rPr>
                  <a:t>M = (Q, Σ, δ, q0, F)</a:t>
                </a:r>
                <a:r>
                  <a:rPr lang="en-US">
                    <a:solidFill>
                      <a:srgbClr val="E2E8F0"/>
                    </a:solidFill>
                    <a:latin typeface="Segoe UI" panose="020B0502040204020203" pitchFamily="34" charset="0"/>
                  </a:rPr>
                  <a:t> with </a:t>
                </a:r>
                <a:r>
                  <a:rPr lang="en-US">
                    <a:solidFill>
                      <a:srgbClr val="E2E8F0"/>
                    </a:solidFill>
                    <a:latin typeface="Cambria Math" panose="02040503050406030204" pitchFamily="18" charset="0"/>
                  </a:rPr>
                  <a:t>δ : Q × Σ → Q</a:t>
                </a:r>
                <a:r>
                  <a:rPr lang="en-US">
                    <a:solidFill>
                      <a:srgbClr val="E2E8F0"/>
                    </a:solidFill>
                    <a:latin typeface="Segoe UI" panose="020B0502040204020203" pitchFamily="34" charset="0"/>
                  </a:rPr>
                  <a:t> (</a:t>
                </a:r>
                <a:r>
                  <a:rPr lang="en-US" b="1">
                    <a:solidFill>
                      <a:srgbClr val="FFFFFF"/>
                    </a:solidFill>
                    <a:latin typeface="Segoe UI" panose="020B0502040204020203" pitchFamily="34" charset="0"/>
                  </a:rPr>
                  <a:t>total and deterministic</a:t>
                </a:r>
                <a:r>
                  <a:rPr lang="en-US">
                    <a:solidFill>
                      <a:srgbClr val="E2E8F0"/>
                    </a:solidFill>
                    <a:latin typeface="Segoe UI" panose="020B0502040204020203" pitchFamily="34" charset="0"/>
                  </a:rPr>
                  <a:t>)</a:t>
                </a:r>
              </a:p>
              <a:p>
                <a:pPr marL="254000" indent="-254000">
                  <a:spcAft>
                    <a:spcPts val="900"/>
                  </a:spcAft>
                  <a:buClr>
                    <a:srgbClr val="4FD1C5"/>
                  </a:buClr>
                  <a:buFont typeface="+mj-lt"/>
                  <a:buChar char="▸"/>
                </a:pPr>
                <a:r>
                  <a:rPr lang="en-US">
                    <a:solidFill>
                      <a:srgbClr val="E2E8F0"/>
                    </a:solidFill>
                    <a:latin typeface="Cambria Math" panose="02040503050406030204" pitchFamily="18" charset="0"/>
                  </a:rPr>
                  <a:t>δ̂(q, ε) = q</a:t>
                </a:r>
                <a:r>
                  <a:rPr lang="en-US">
                    <a:solidFill>
                      <a:srgbClr val="E2E8F0"/>
                    </a:solidFill>
                    <a:latin typeface="Segoe UI" panose="020B0502040204020203" pitchFamily="34" charset="0"/>
                  </a:rPr>
                  <a:t>, </a:t>
                </a:r>
                <a:r>
                  <a:rPr lang="en-US">
                    <a:solidFill>
                      <a:srgbClr val="E2E8F0"/>
                    </a:solidFill>
                    <a:latin typeface="Cambria Math" panose="02040503050406030204" pitchFamily="18" charset="0"/>
                  </a:rPr>
                  <a:t>δ̂(q, wa) = δ(δ̂(q, w), a)</a:t>
                </a:r>
                <a:r>
                  <a:rPr lang="en-US">
                    <a:solidFill>
                      <a:srgbClr val="E2E8F0"/>
                    </a:solidFill>
                    <a:latin typeface="Segoe UI" panose="020B0502040204020203" pitchFamily="34" charset="0"/>
                  </a:rPr>
                  <a:t>; </a:t>
                </a:r>
                <a:r>
                  <a:rPr lang="en-US">
                    <a:solidFill>
                      <a:srgbClr val="E2E8F0"/>
                    </a:solidFill>
                    <a:latin typeface="Cambria Math" panose="02040503050406030204" pitchFamily="18" charset="0"/>
                  </a:rPr>
                  <a:t>L(M) = {w ∣ δ̂(q0, w) ∈ F}</a:t>
                </a:r>
              </a:p>
              <a:p>
                <a:pPr marL="254000" indent="-254000">
                  <a:spcAft>
                    <a:spcPts val="900"/>
                  </a:spcAft>
                  <a:buClr>
                    <a:srgbClr val="4FD1C5"/>
                  </a:buClr>
                  <a:buFont typeface="+mj-lt"/>
                  <a:buChar char="▸"/>
                </a:pPr>
                <a:r>
                  <a:rPr lang="en-US">
                    <a:solidFill>
                      <a:srgbClr val="E2E8F0"/>
                    </a:solidFill>
                    <a:latin typeface="Segoe UI" panose="020B0502040204020203" pitchFamily="34" charset="0"/>
                  </a:rPr>
                  <a:t>In the engine: δ is an edge list; missing or duplicate (q, a) pairs are </a:t>
                </a:r>
                <a:r>
                  <a:rPr lang="en-US" b="1">
                    <a:solidFill>
                      <a:srgbClr val="FFFFFF"/>
                    </a:solidFill>
                    <a:latin typeface="Segoe UI" panose="020B0502040204020203" pitchFamily="34" charset="0"/>
                  </a:rPr>
                  <a:t>errors</a:t>
                </a:r>
                <a:r>
                  <a:rPr lang="en-US">
                    <a:solidFill>
                      <a:srgbClr val="E2E8F0"/>
                    </a:solidFill>
                    <a:latin typeface="Segoe UI" panose="020B0502040204020203" pitchFamily="34" charset="0"/>
                  </a:rPr>
                  <a:t>, never silently filled</a:t>
                </a:r>
              </a:p>
              <a:p>
                <a:pPr marL="254000" indent="-254000">
                  <a:spcAft>
                    <a:spcPts val="900"/>
                  </a:spcAft>
                  <a:buClr>
                    <a:srgbClr val="4FD1C5"/>
                  </a:buClr>
                  <a:buFont typeface="+mj-lt"/>
                  <a:buChar char="▸"/>
                </a:pPr>
                <a:r>
                  <a:rPr lang="en-US">
                    <a:solidFill>
                      <a:srgbClr val="E2E8F0"/>
                    </a:solidFill>
                    <a:latin typeface="Segoe UI" panose="020B0502040204020203" pitchFamily="34" charset="0"/>
                  </a:rPr>
                  <a:t>Inputs are arrays of symbols, so </a:t>
                </a:r>
                <a:r>
                  <a:rPr lang="en-US">
                    <a:solidFill>
                      <a:srgbClr val="4FD1C5"/>
                    </a:solidFill>
                    <a:latin typeface="Consolas" panose="020B0609020204030204" pitchFamily="49" charset="0"/>
                  </a:rPr>
                  <a:t>PLAYER_SPOTTED</a:t>
                </a:r>
                <a:r>
                  <a:rPr lang="en-US">
                    <a:solidFill>
                      <a:srgbClr val="E2E8F0"/>
                    </a:solidFill>
                    <a:latin typeface="Segoe UI" panose="020B0502040204020203" pitchFamily="34" charset="0"/>
                  </a:rPr>
                  <a:t> is one symbol</a:t>
                </a:r>
                <a:endParaRPr lang="en-IN">
                  <a:solidFill>
                    <a:srgbClr val="E2E8F0"/>
                  </a:solidFill>
                  <a:latin typeface="Segoe UI" panose="020B0502040204020203" pitchFamily="34" charset="0"/>
                </a:endParaRPr>
              </a:p>
            </p:txBody>
          </p:sp>
        </mc:Fallback>
      </mc:AlternateContent>
      <p:graphicFrame>
        <p:nvGraphicFramePr>
          <p:cNvPr id="7" name="Table 6">
            <a:extLst>
              <a:ext uri="{FF2B5EF4-FFF2-40B4-BE49-F238E27FC236}">
                <a16:creationId xmlns:a16="http://schemas.microsoft.com/office/drawing/2014/main" id="{4EEE9DB6-D28B-34A7-BE2A-DC42025F82F2}"/>
              </a:ext>
            </a:extLst>
          </p:cNvPr>
          <p:cNvGraphicFramePr>
            <a:graphicFrameLocks noGrp="1"/>
          </p:cNvGraphicFramePr>
          <p:nvPr>
            <p:extLst>
              <p:ext uri="{D42A27DB-BD31-4B8C-83A1-F6EECF244321}">
                <p14:modId xmlns:p14="http://schemas.microsoft.com/office/powerpoint/2010/main" val="656737450"/>
              </p:ext>
            </p:extLst>
          </p:nvPr>
        </p:nvGraphicFramePr>
        <p:xfrm>
          <a:off x="6197600" y="1422400"/>
          <a:ext cx="5486400" cy="1828800"/>
        </p:xfrm>
        <a:graphic>
          <a:graphicData uri="http://schemas.openxmlformats.org/drawingml/2006/table">
            <a:tbl>
              <a:tblPr firstRow="1" bandRow="1">
                <a:tableStyleId>{5C22544A-7EE6-4342-B048-85BDC9FD1C3A}</a:tableStyleId>
              </a:tblPr>
              <a:tblGrid>
                <a:gridCol w="1041400">
                  <a:extLst>
                    <a:ext uri="{9D8B030D-6E8A-4147-A177-3AD203B41FA5}">
                      <a16:colId xmlns:a16="http://schemas.microsoft.com/office/drawing/2014/main" val="2204249613"/>
                    </a:ext>
                  </a:extLst>
                </a:gridCol>
                <a:gridCol w="889000">
                  <a:extLst>
                    <a:ext uri="{9D8B030D-6E8A-4147-A177-3AD203B41FA5}">
                      <a16:colId xmlns:a16="http://schemas.microsoft.com/office/drawing/2014/main" val="2169886481"/>
                    </a:ext>
                  </a:extLst>
                </a:gridCol>
                <a:gridCol w="889000">
                  <a:extLst>
                    <a:ext uri="{9D8B030D-6E8A-4147-A177-3AD203B41FA5}">
                      <a16:colId xmlns:a16="http://schemas.microsoft.com/office/drawing/2014/main" val="1731723532"/>
                    </a:ext>
                  </a:extLst>
                </a:gridCol>
                <a:gridCol w="889000">
                  <a:extLst>
                    <a:ext uri="{9D8B030D-6E8A-4147-A177-3AD203B41FA5}">
                      <a16:colId xmlns:a16="http://schemas.microsoft.com/office/drawing/2014/main" val="3861674223"/>
                    </a:ext>
                  </a:extLst>
                </a:gridCol>
                <a:gridCol w="889000">
                  <a:extLst>
                    <a:ext uri="{9D8B030D-6E8A-4147-A177-3AD203B41FA5}">
                      <a16:colId xmlns:a16="http://schemas.microsoft.com/office/drawing/2014/main" val="1780557910"/>
                    </a:ext>
                  </a:extLst>
                </a:gridCol>
                <a:gridCol w="889000">
                  <a:extLst>
                    <a:ext uri="{9D8B030D-6E8A-4147-A177-3AD203B41FA5}">
                      <a16:colId xmlns:a16="http://schemas.microsoft.com/office/drawing/2014/main" val="655731137"/>
                    </a:ext>
                  </a:extLst>
                </a:gridCol>
              </a:tblGrid>
              <a:tr h="254000">
                <a:tc>
                  <a:txBody>
                    <a:bodyPr/>
                    <a:lstStyle/>
                    <a:p>
                      <a:r>
                        <a:rPr lang="el-GR" sz="1150" b="1">
                          <a:solidFill>
                            <a:srgbClr val="FFFFFF"/>
                          </a:solidFill>
                          <a:latin typeface="Consolas" panose="020B0609020204030204" pitchFamily="49" charset="0"/>
                        </a:rPr>
                        <a:t>δ</a:t>
                      </a:r>
                      <a:endParaRPr lang="en-IN" sz="1150" b="1">
                        <a:solidFill>
                          <a:srgbClr val="FFFFFF"/>
                        </a:solidFill>
                        <a:latin typeface="Consolas" panose="020B0609020204030204" pitchFamily="49" charset="0"/>
                      </a:endParaRP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2C7A7B"/>
                    </a:solidFill>
                  </a:tcPr>
                </a:tc>
                <a:tc>
                  <a:txBody>
                    <a:bodyPr/>
                    <a:lstStyle/>
                    <a:p>
                      <a:r>
                        <a:rPr lang="en-IN" sz="1150" b="1">
                          <a:solidFill>
                            <a:srgbClr val="FFFFFF"/>
                          </a:solidFill>
                          <a:latin typeface="Consolas" panose="020B0609020204030204" pitchFamily="49" charset="0"/>
                        </a:rPr>
                        <a:t>spotted</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2C7A7B"/>
                    </a:solidFill>
                  </a:tcPr>
                </a:tc>
                <a:tc>
                  <a:txBody>
                    <a:bodyPr/>
                    <a:lstStyle/>
                    <a:p>
                      <a:r>
                        <a:rPr lang="en-IN" sz="1150" b="1">
                          <a:solidFill>
                            <a:srgbClr val="FFFFFF"/>
                          </a:solidFill>
                          <a:latin typeface="Consolas" panose="020B0609020204030204" pitchFamily="49" charset="0"/>
                        </a:rPr>
                        <a:t>lost</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2C7A7B"/>
                    </a:solidFill>
                  </a:tcPr>
                </a:tc>
                <a:tc>
                  <a:txBody>
                    <a:bodyPr/>
                    <a:lstStyle/>
                    <a:p>
                      <a:r>
                        <a:rPr lang="en-IN" sz="1150" b="1">
                          <a:solidFill>
                            <a:srgbClr val="FFFFFF"/>
                          </a:solidFill>
                          <a:latin typeface="Consolas" panose="020B0609020204030204" pitchFamily="49" charset="0"/>
                        </a:rPr>
                        <a:t>sound</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2C7A7B"/>
                    </a:solidFill>
                  </a:tcPr>
                </a:tc>
                <a:tc>
                  <a:txBody>
                    <a:bodyPr/>
                    <a:lstStyle/>
                    <a:p>
                      <a:r>
                        <a:rPr lang="en-IN" sz="1150" b="1">
                          <a:solidFill>
                            <a:srgbClr val="FFFFFF"/>
                          </a:solidFill>
                          <a:latin typeface="Consolas" panose="020B0609020204030204" pitchFamily="49" charset="0"/>
                        </a:rPr>
                        <a:t>caught</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2C7A7B"/>
                    </a:solidFill>
                  </a:tcPr>
                </a:tc>
                <a:tc>
                  <a:txBody>
                    <a:bodyPr/>
                    <a:lstStyle/>
                    <a:p>
                      <a:r>
                        <a:rPr lang="en-IN" sz="1150" b="1">
                          <a:solidFill>
                            <a:srgbClr val="FFFFFF"/>
                          </a:solidFill>
                          <a:latin typeface="Consolas" panose="020B0609020204030204" pitchFamily="49" charset="0"/>
                        </a:rPr>
                        <a:t>timer</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2C7A7B"/>
                    </a:solidFill>
                  </a:tcPr>
                </a:tc>
                <a:extLst>
                  <a:ext uri="{0D108BD9-81ED-4DB2-BD59-A6C34878D82A}">
                    <a16:rowId xmlns:a16="http://schemas.microsoft.com/office/drawing/2014/main" val="3427564161"/>
                  </a:ext>
                </a:extLst>
              </a:tr>
              <a:tr h="254000">
                <a:tc>
                  <a:txBody>
                    <a:bodyPr/>
                    <a:lstStyle/>
                    <a:p>
                      <a:r>
                        <a:rPr lang="en-IN" sz="1150" b="0">
                          <a:solidFill>
                            <a:srgbClr val="E2E8F0"/>
                          </a:solidFill>
                          <a:latin typeface="Consolas" panose="020B0609020204030204" pitchFamily="49" charset="0"/>
                        </a:rPr>
                        <a:t>→PATROL</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tc>
                  <a:txBody>
                    <a:bodyPr/>
                    <a:lstStyle/>
                    <a:p>
                      <a:r>
                        <a:rPr lang="en-IN" sz="1150" b="0">
                          <a:solidFill>
                            <a:srgbClr val="E2E8F0"/>
                          </a:solidFill>
                          <a:latin typeface="Consolas" panose="020B0609020204030204" pitchFamily="49" charset="0"/>
                        </a:rPr>
                        <a:t>ALERT</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tc>
                  <a:txBody>
                    <a:bodyPr/>
                    <a:lstStyle/>
                    <a:p>
                      <a:r>
                        <a:rPr lang="en-IN" sz="1150" b="0">
                          <a:solidFill>
                            <a:srgbClr val="8A94A6"/>
                          </a:solidFill>
                          <a:latin typeface="Consolas" panose="020B0609020204030204" pitchFamily="49" charset="0"/>
                        </a:rPr>
                        <a:t>PATROL</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tc>
                  <a:txBody>
                    <a:bodyPr/>
                    <a:lstStyle/>
                    <a:p>
                      <a:r>
                        <a:rPr lang="en-IN" sz="1150" b="0">
                          <a:solidFill>
                            <a:srgbClr val="E2E8F0"/>
                          </a:solidFill>
                          <a:latin typeface="Consolas" panose="020B0609020204030204" pitchFamily="49" charset="0"/>
                        </a:rPr>
                        <a:t>SEARCH</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tc>
                  <a:txBody>
                    <a:bodyPr/>
                    <a:lstStyle/>
                    <a:p>
                      <a:r>
                        <a:rPr lang="en-IN" sz="1150" b="0">
                          <a:solidFill>
                            <a:srgbClr val="8A94A6"/>
                          </a:solidFill>
                          <a:latin typeface="Consolas" panose="020B0609020204030204" pitchFamily="49" charset="0"/>
                        </a:rPr>
                        <a:t>PATROL</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tc>
                  <a:txBody>
                    <a:bodyPr/>
                    <a:lstStyle/>
                    <a:p>
                      <a:r>
                        <a:rPr lang="en-IN" sz="1150" b="0">
                          <a:solidFill>
                            <a:srgbClr val="8A94A6"/>
                          </a:solidFill>
                          <a:latin typeface="Consolas" panose="020B0609020204030204" pitchFamily="49" charset="0"/>
                        </a:rPr>
                        <a:t>PATROL</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extLst>
                  <a:ext uri="{0D108BD9-81ED-4DB2-BD59-A6C34878D82A}">
                    <a16:rowId xmlns:a16="http://schemas.microsoft.com/office/drawing/2014/main" val="2319916156"/>
                  </a:ext>
                </a:extLst>
              </a:tr>
              <a:tr h="254000">
                <a:tc>
                  <a:txBody>
                    <a:bodyPr/>
                    <a:lstStyle/>
                    <a:p>
                      <a:r>
                        <a:rPr lang="en-IN" sz="1150" b="0">
                          <a:solidFill>
                            <a:srgbClr val="E2E8F0"/>
                          </a:solidFill>
                          <a:latin typeface="Consolas" panose="020B0609020204030204" pitchFamily="49" charset="0"/>
                        </a:rPr>
                        <a:t>ALERT</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61F34"/>
                    </a:solidFill>
                  </a:tcPr>
                </a:tc>
                <a:tc>
                  <a:txBody>
                    <a:bodyPr/>
                    <a:lstStyle/>
                    <a:p>
                      <a:r>
                        <a:rPr lang="en-IN" sz="1150" b="0">
                          <a:solidFill>
                            <a:srgbClr val="8A94A6"/>
                          </a:solidFill>
                          <a:latin typeface="Consolas" panose="020B0609020204030204" pitchFamily="49" charset="0"/>
                        </a:rPr>
                        <a:t>ALERT</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61F34"/>
                    </a:solidFill>
                  </a:tcPr>
                </a:tc>
                <a:tc>
                  <a:txBody>
                    <a:bodyPr/>
                    <a:lstStyle/>
                    <a:p>
                      <a:r>
                        <a:rPr lang="en-IN" sz="1150" b="0">
                          <a:solidFill>
                            <a:srgbClr val="E2E8F0"/>
                          </a:solidFill>
                          <a:latin typeface="Consolas" panose="020B0609020204030204" pitchFamily="49" charset="0"/>
                        </a:rPr>
                        <a:t>SEARCH</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61F34"/>
                    </a:solidFill>
                  </a:tcPr>
                </a:tc>
                <a:tc>
                  <a:txBody>
                    <a:bodyPr/>
                    <a:lstStyle/>
                    <a:p>
                      <a:r>
                        <a:rPr lang="en-IN" sz="1150" b="0">
                          <a:solidFill>
                            <a:srgbClr val="8A94A6"/>
                          </a:solidFill>
                          <a:latin typeface="Consolas" panose="020B0609020204030204" pitchFamily="49" charset="0"/>
                        </a:rPr>
                        <a:t>ALERT</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61F34"/>
                    </a:solidFill>
                  </a:tcPr>
                </a:tc>
                <a:tc>
                  <a:txBody>
                    <a:bodyPr/>
                    <a:lstStyle/>
                    <a:p>
                      <a:r>
                        <a:rPr lang="en-IN" sz="1150" b="0">
                          <a:solidFill>
                            <a:srgbClr val="8A94A6"/>
                          </a:solidFill>
                          <a:latin typeface="Consolas" panose="020B0609020204030204" pitchFamily="49" charset="0"/>
                        </a:rPr>
                        <a:t>ALERT</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61F34"/>
                    </a:solidFill>
                  </a:tcPr>
                </a:tc>
                <a:tc>
                  <a:txBody>
                    <a:bodyPr/>
                    <a:lstStyle/>
                    <a:p>
                      <a:r>
                        <a:rPr lang="en-IN" sz="1150" b="0">
                          <a:solidFill>
                            <a:srgbClr val="E2E8F0"/>
                          </a:solidFill>
                          <a:latin typeface="Consolas" panose="020B0609020204030204" pitchFamily="49" charset="0"/>
                        </a:rPr>
                        <a:t>CHASE</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61F34"/>
                    </a:solidFill>
                  </a:tcPr>
                </a:tc>
                <a:extLst>
                  <a:ext uri="{0D108BD9-81ED-4DB2-BD59-A6C34878D82A}">
                    <a16:rowId xmlns:a16="http://schemas.microsoft.com/office/drawing/2014/main" val="3543222471"/>
                  </a:ext>
                </a:extLst>
              </a:tr>
              <a:tr h="254000">
                <a:tc>
                  <a:txBody>
                    <a:bodyPr/>
                    <a:lstStyle/>
                    <a:p>
                      <a:r>
                        <a:rPr lang="en-IN" sz="1150" b="0">
                          <a:solidFill>
                            <a:srgbClr val="E2E8F0"/>
                          </a:solidFill>
                          <a:latin typeface="Consolas" panose="020B0609020204030204" pitchFamily="49" charset="0"/>
                        </a:rPr>
                        <a:t>CHASE</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tc>
                  <a:txBody>
                    <a:bodyPr/>
                    <a:lstStyle/>
                    <a:p>
                      <a:r>
                        <a:rPr lang="en-IN" sz="1150" b="0">
                          <a:solidFill>
                            <a:srgbClr val="8A94A6"/>
                          </a:solidFill>
                          <a:latin typeface="Consolas" panose="020B0609020204030204" pitchFamily="49" charset="0"/>
                        </a:rPr>
                        <a:t>CHASE</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tc>
                  <a:txBody>
                    <a:bodyPr/>
                    <a:lstStyle/>
                    <a:p>
                      <a:r>
                        <a:rPr lang="en-IN" sz="1150" b="0">
                          <a:solidFill>
                            <a:srgbClr val="E2E8F0"/>
                          </a:solidFill>
                          <a:latin typeface="Consolas" panose="020B0609020204030204" pitchFamily="49" charset="0"/>
                        </a:rPr>
                        <a:t>SEARCH</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tc>
                  <a:txBody>
                    <a:bodyPr/>
                    <a:lstStyle/>
                    <a:p>
                      <a:r>
                        <a:rPr lang="en-IN" sz="1150" b="0">
                          <a:solidFill>
                            <a:srgbClr val="8A94A6"/>
                          </a:solidFill>
                          <a:latin typeface="Consolas" panose="020B0609020204030204" pitchFamily="49" charset="0"/>
                        </a:rPr>
                        <a:t>CHASE</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tc>
                  <a:txBody>
                    <a:bodyPr/>
                    <a:lstStyle/>
                    <a:p>
                      <a:r>
                        <a:rPr lang="en-IN" sz="1150" b="0">
                          <a:solidFill>
                            <a:srgbClr val="E2E8F0"/>
                          </a:solidFill>
                          <a:latin typeface="Consolas" panose="020B0609020204030204" pitchFamily="49" charset="0"/>
                        </a:rPr>
                        <a:t>CAPTURE</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tc>
                  <a:txBody>
                    <a:bodyPr/>
                    <a:lstStyle/>
                    <a:p>
                      <a:r>
                        <a:rPr lang="en-IN" sz="1150" b="0">
                          <a:solidFill>
                            <a:srgbClr val="8A94A6"/>
                          </a:solidFill>
                          <a:latin typeface="Consolas" panose="020B0609020204030204" pitchFamily="49" charset="0"/>
                        </a:rPr>
                        <a:t>CHASE</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extLst>
                  <a:ext uri="{0D108BD9-81ED-4DB2-BD59-A6C34878D82A}">
                    <a16:rowId xmlns:a16="http://schemas.microsoft.com/office/drawing/2014/main" val="528038264"/>
                  </a:ext>
                </a:extLst>
              </a:tr>
              <a:tr h="254000">
                <a:tc>
                  <a:txBody>
                    <a:bodyPr/>
                    <a:lstStyle/>
                    <a:p>
                      <a:r>
                        <a:rPr lang="en-IN" sz="1150" b="0">
                          <a:solidFill>
                            <a:srgbClr val="E2E8F0"/>
                          </a:solidFill>
                          <a:latin typeface="Consolas" panose="020B0609020204030204" pitchFamily="49" charset="0"/>
                        </a:rPr>
                        <a:t>SEARCH</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61F34"/>
                    </a:solidFill>
                  </a:tcPr>
                </a:tc>
                <a:tc>
                  <a:txBody>
                    <a:bodyPr/>
                    <a:lstStyle/>
                    <a:p>
                      <a:r>
                        <a:rPr lang="en-IN" sz="1150" b="0">
                          <a:solidFill>
                            <a:srgbClr val="E2E8F0"/>
                          </a:solidFill>
                          <a:latin typeface="Consolas" panose="020B0609020204030204" pitchFamily="49" charset="0"/>
                        </a:rPr>
                        <a:t>CHASE</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61F34"/>
                    </a:solidFill>
                  </a:tcPr>
                </a:tc>
                <a:tc>
                  <a:txBody>
                    <a:bodyPr/>
                    <a:lstStyle/>
                    <a:p>
                      <a:r>
                        <a:rPr lang="en-IN" sz="1150" b="0">
                          <a:solidFill>
                            <a:srgbClr val="8A94A6"/>
                          </a:solidFill>
                          <a:latin typeface="Consolas" panose="020B0609020204030204" pitchFamily="49" charset="0"/>
                        </a:rPr>
                        <a:t>SEARCH</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61F34"/>
                    </a:solidFill>
                  </a:tcPr>
                </a:tc>
                <a:tc>
                  <a:txBody>
                    <a:bodyPr/>
                    <a:lstStyle/>
                    <a:p>
                      <a:r>
                        <a:rPr lang="en-IN" sz="1150" b="0">
                          <a:solidFill>
                            <a:srgbClr val="8A94A6"/>
                          </a:solidFill>
                          <a:latin typeface="Consolas" panose="020B0609020204030204" pitchFamily="49" charset="0"/>
                        </a:rPr>
                        <a:t>SEARCH</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61F34"/>
                    </a:solidFill>
                  </a:tcPr>
                </a:tc>
                <a:tc>
                  <a:txBody>
                    <a:bodyPr/>
                    <a:lstStyle/>
                    <a:p>
                      <a:r>
                        <a:rPr lang="en-IN" sz="1150" b="0">
                          <a:solidFill>
                            <a:srgbClr val="8A94A6"/>
                          </a:solidFill>
                          <a:latin typeface="Consolas" panose="020B0609020204030204" pitchFamily="49" charset="0"/>
                        </a:rPr>
                        <a:t>SEARCH</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61F34"/>
                    </a:solidFill>
                  </a:tcPr>
                </a:tc>
                <a:tc>
                  <a:txBody>
                    <a:bodyPr/>
                    <a:lstStyle/>
                    <a:p>
                      <a:r>
                        <a:rPr lang="en-IN" sz="1150" b="0">
                          <a:solidFill>
                            <a:srgbClr val="E2E8F0"/>
                          </a:solidFill>
                          <a:latin typeface="Consolas" panose="020B0609020204030204" pitchFamily="49" charset="0"/>
                        </a:rPr>
                        <a:t>PATROL</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61F34"/>
                    </a:solidFill>
                  </a:tcPr>
                </a:tc>
                <a:extLst>
                  <a:ext uri="{0D108BD9-81ED-4DB2-BD59-A6C34878D82A}">
                    <a16:rowId xmlns:a16="http://schemas.microsoft.com/office/drawing/2014/main" val="2619278914"/>
                  </a:ext>
                </a:extLst>
              </a:tr>
              <a:tr h="254000">
                <a:tc>
                  <a:txBody>
                    <a:bodyPr/>
                    <a:lstStyle/>
                    <a:p>
                      <a:r>
                        <a:rPr lang="en-IN" sz="1150" b="0">
                          <a:solidFill>
                            <a:srgbClr val="E2E8F0"/>
                          </a:solidFill>
                          <a:latin typeface="Consolas" panose="020B0609020204030204" pitchFamily="49" charset="0"/>
                        </a:rPr>
                        <a:t>*CAPTURE</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tc>
                  <a:txBody>
                    <a:bodyPr/>
                    <a:lstStyle/>
                    <a:p>
                      <a:r>
                        <a:rPr lang="en-IN" sz="1150" b="0">
                          <a:solidFill>
                            <a:srgbClr val="8A94A6"/>
                          </a:solidFill>
                          <a:latin typeface="Consolas" panose="020B0609020204030204" pitchFamily="49" charset="0"/>
                        </a:rPr>
                        <a:t>CAPTURE</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tc>
                  <a:txBody>
                    <a:bodyPr/>
                    <a:lstStyle/>
                    <a:p>
                      <a:r>
                        <a:rPr lang="en-IN" sz="1150" b="0">
                          <a:solidFill>
                            <a:srgbClr val="8A94A6"/>
                          </a:solidFill>
                          <a:latin typeface="Consolas" panose="020B0609020204030204" pitchFamily="49" charset="0"/>
                        </a:rPr>
                        <a:t>CAPTURE</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tc>
                  <a:txBody>
                    <a:bodyPr/>
                    <a:lstStyle/>
                    <a:p>
                      <a:r>
                        <a:rPr lang="en-IN" sz="1150" b="0">
                          <a:solidFill>
                            <a:srgbClr val="8A94A6"/>
                          </a:solidFill>
                          <a:latin typeface="Consolas" panose="020B0609020204030204" pitchFamily="49" charset="0"/>
                        </a:rPr>
                        <a:t>CAPTURE</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tc>
                  <a:txBody>
                    <a:bodyPr/>
                    <a:lstStyle/>
                    <a:p>
                      <a:r>
                        <a:rPr lang="en-IN" sz="1150" b="0">
                          <a:solidFill>
                            <a:srgbClr val="8A94A6"/>
                          </a:solidFill>
                          <a:latin typeface="Consolas" panose="020B0609020204030204" pitchFamily="49" charset="0"/>
                        </a:rPr>
                        <a:t>CAPTURE</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tc>
                  <a:txBody>
                    <a:bodyPr/>
                    <a:lstStyle/>
                    <a:p>
                      <a:r>
                        <a:rPr lang="en-IN" sz="1150" b="0">
                          <a:solidFill>
                            <a:srgbClr val="8A94A6"/>
                          </a:solidFill>
                          <a:latin typeface="Consolas" panose="020B0609020204030204" pitchFamily="49" charset="0"/>
                        </a:rPr>
                        <a:t>CAPTURE</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extLst>
                  <a:ext uri="{0D108BD9-81ED-4DB2-BD59-A6C34878D82A}">
                    <a16:rowId xmlns:a16="http://schemas.microsoft.com/office/drawing/2014/main" val="3781348445"/>
                  </a:ext>
                </a:extLst>
              </a:tr>
            </a:tbl>
          </a:graphicData>
        </a:graphic>
      </p:graphicFrame>
      <p:sp>
        <p:nvSpPr>
          <p:cNvPr id="8" name="TextBox 7">
            <a:extLst>
              <a:ext uri="{FF2B5EF4-FFF2-40B4-BE49-F238E27FC236}">
                <a16:creationId xmlns:a16="http://schemas.microsoft.com/office/drawing/2014/main" id="{A400D128-4BAF-5031-E558-4A950CA35042}"/>
              </a:ext>
            </a:extLst>
          </p:cNvPr>
          <p:cNvSpPr txBox="1"/>
          <p:nvPr/>
        </p:nvSpPr>
        <p:spPr>
          <a:xfrm>
            <a:off x="6197600" y="3327400"/>
            <a:ext cx="5486400" cy="889000"/>
          </a:xfrm>
          <a:prstGeom prst="rect">
            <a:avLst/>
          </a:prstGeom>
          <a:noFill/>
        </p:spPr>
        <p:txBody>
          <a:bodyPr vert="horz" wrap="square" lIns="50800" tIns="25400" rIns="50800" bIns="25400" rtlCol="0">
            <a:noAutofit/>
          </a:bodyPr>
          <a:lstStyle/>
          <a:p>
            <a:r>
              <a:rPr lang="en-US" sz="1000">
                <a:solidFill>
                  <a:srgbClr val="8A94A6"/>
                </a:solidFill>
                <a:latin typeface="Segoe UI" panose="020B0502040204020203" pitchFamily="34" charset="0"/>
              </a:rPr>
              <a:t>Guard DFA δ : Q × Σ → Q, all 25 entries. Dimmed = self-loop (the event is ignored in that state). → start state, * accepting state.</a:t>
            </a:r>
          </a:p>
          <a:p>
            <a:r>
              <a:rPr lang="en-US" sz="1000">
                <a:solidFill>
                  <a:srgbClr val="8A94A6"/>
                </a:solidFill>
                <a:latin typeface="Segoe UI" panose="020B0502040204020203" pitchFamily="34" charset="0"/>
              </a:rPr>
              <a:t>spotted = PLAYER_SPOTTED · lost = PLAYER_LOST · sound = SOUND_HEARD · caught = PLAYER_CAUGHT · timer = TIMER_EXPIRED</a:t>
            </a:r>
            <a:endParaRPr lang="en-IN" sz="1000">
              <a:solidFill>
                <a:srgbClr val="8A94A6"/>
              </a:solidFill>
              <a:latin typeface="Segoe UI" panose="020B0502040204020203" pitchFamily="34" charset="0"/>
            </a:endParaRPr>
          </a:p>
        </p:txBody>
      </p:sp>
    </p:spTree>
    <p:extLst>
      <p:ext uri="{BB962C8B-B14F-4D97-AF65-F5344CB8AC3E}">
        <p14:creationId xmlns:p14="http://schemas.microsoft.com/office/powerpoint/2010/main" val="3662053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B357FC-C13C-7752-5098-A7423B968536}"/>
              </a:ext>
            </a:extLst>
          </p:cNvPr>
          <p:cNvSpPr txBox="1"/>
          <p:nvPr/>
        </p:nvSpPr>
        <p:spPr>
          <a:xfrm>
            <a:off x="457200" y="279400"/>
            <a:ext cx="11277600" cy="558800"/>
          </a:xfrm>
          <a:prstGeom prst="rect">
            <a:avLst/>
          </a:prstGeom>
          <a:noFill/>
        </p:spPr>
        <p:txBody>
          <a:bodyPr vert="horz" wrap="square" lIns="50800" tIns="25400" rIns="50800" bIns="25400" rtlCol="0">
            <a:noAutofit/>
          </a:bodyPr>
          <a:lstStyle/>
          <a:p>
            <a:r>
              <a:rPr lang="en-IN" sz="2600" b="1">
                <a:solidFill>
                  <a:srgbClr val="8A94A6"/>
                </a:solidFill>
                <a:latin typeface="Consolas" panose="020B0609020204030204" pitchFamily="49" charset="0"/>
              </a:rPr>
              <a:t>&gt; </a:t>
            </a:r>
            <a:r>
              <a:rPr lang="en-IN" sz="2600" b="1">
                <a:solidFill>
                  <a:srgbClr val="4FD1C5"/>
                </a:solidFill>
                <a:latin typeface="Consolas" panose="020B0609020204030204" pitchFamily="49" charset="0"/>
              </a:rPr>
              <a:t>DFA-CONTROLLED GUARD BEHAVIOUR </a:t>
            </a:r>
            <a:r>
              <a:rPr lang="en-IN" sz="2600">
                <a:solidFill>
                  <a:srgbClr val="4FD1C5"/>
                </a:solidFill>
                <a:latin typeface="Consolas" panose="020B0609020204030204" pitchFamily="49" charset="0"/>
              </a:rPr>
              <a:t>▌</a:t>
            </a:r>
          </a:p>
        </p:txBody>
      </p:sp>
      <p:cxnSp>
        <p:nvCxnSpPr>
          <p:cNvPr id="3" name="Straight Connector 2">
            <a:extLst>
              <a:ext uri="{FF2B5EF4-FFF2-40B4-BE49-F238E27FC236}">
                <a16:creationId xmlns:a16="http://schemas.microsoft.com/office/drawing/2014/main" id="{37CA771C-F8EA-2AA5-82D6-024D30370D6C}"/>
              </a:ext>
            </a:extLst>
          </p:cNvPr>
          <p:cNvCxnSpPr/>
          <p:nvPr/>
        </p:nvCxnSpPr>
        <p:spPr>
          <a:xfrm>
            <a:off x="508000" y="914400"/>
            <a:ext cx="11176000" cy="0"/>
          </a:xfrm>
          <a:prstGeom prst="line">
            <a:avLst/>
          </a:prstGeom>
          <a:ln w="15875">
            <a:solidFill>
              <a:srgbClr val="2C7A7B"/>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29E3F260-E39D-3B45-D8CA-985EEA425E60}"/>
              </a:ext>
            </a:extLst>
          </p:cNvPr>
          <p:cNvSpPr txBox="1"/>
          <p:nvPr/>
        </p:nvSpPr>
        <p:spPr>
          <a:xfrm>
            <a:off x="508000" y="6426200"/>
            <a:ext cx="6604000" cy="228600"/>
          </a:xfrm>
          <a:prstGeom prst="rect">
            <a:avLst/>
          </a:prstGeom>
          <a:noFill/>
        </p:spPr>
        <p:txBody>
          <a:bodyPr vert="horz" wrap="square" lIns="50800" tIns="25400" rIns="50800" bIns="25400" rtlCol="0">
            <a:noAutofit/>
          </a:bodyPr>
          <a:lstStyle/>
          <a:p>
            <a:r>
              <a:rPr lang="en-US" sz="900">
                <a:solidFill>
                  <a:srgbClr val="8A94A6"/>
                </a:solidFill>
                <a:latin typeface="Consolas" panose="020B0609020204030204" pitchFamily="49" charset="0"/>
              </a:rPr>
              <a:t>SHADOW PROTOCOL // THEORY OF COMPUTATION</a:t>
            </a:r>
            <a:endParaRPr lang="en-IN" sz="900">
              <a:solidFill>
                <a:srgbClr val="8A94A6"/>
              </a:solidFill>
              <a:latin typeface="Consolas" panose="020B0609020204030204" pitchFamily="49" charset="0"/>
            </a:endParaRPr>
          </a:p>
        </p:txBody>
      </p:sp>
      <p:sp>
        <p:nvSpPr>
          <p:cNvPr id="5" name="TextBox 4">
            <a:extLst>
              <a:ext uri="{FF2B5EF4-FFF2-40B4-BE49-F238E27FC236}">
                <a16:creationId xmlns:a16="http://schemas.microsoft.com/office/drawing/2014/main" id="{D70F7ED2-E919-DA71-25A8-5EF112084C4F}"/>
              </a:ext>
            </a:extLst>
          </p:cNvPr>
          <p:cNvSpPr txBox="1"/>
          <p:nvPr/>
        </p:nvSpPr>
        <p:spPr>
          <a:xfrm>
            <a:off x="9652000" y="6426200"/>
            <a:ext cx="2032000" cy="228600"/>
          </a:xfrm>
          <a:prstGeom prst="rect">
            <a:avLst/>
          </a:prstGeom>
          <a:noFill/>
        </p:spPr>
        <p:txBody>
          <a:bodyPr vert="horz" wrap="square" lIns="50800" tIns="25400" rIns="50800" bIns="25400" rtlCol="0">
            <a:noAutofit/>
          </a:bodyPr>
          <a:lstStyle/>
          <a:p>
            <a:pPr algn="r"/>
            <a:r>
              <a:rPr lang="en-IN" sz="900">
                <a:solidFill>
                  <a:srgbClr val="8A94A6"/>
                </a:solidFill>
                <a:latin typeface="Consolas" panose="020B0609020204030204" pitchFamily="49" charset="0"/>
              </a:rPr>
              <a:t>07 / 13</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E288EE3-92B2-3351-F0E4-3377965C5204}"/>
                  </a:ext>
                </a:extLst>
              </p:cNvPr>
              <p:cNvSpPr txBox="1"/>
              <p:nvPr/>
            </p:nvSpPr>
            <p:spPr>
              <a:xfrm>
                <a:off x="508000" y="1219200"/>
                <a:ext cx="5969000" cy="5130800"/>
              </a:xfrm>
              <a:prstGeom prst="rect">
                <a:avLst/>
              </a:prstGeom>
              <a:noFill/>
            </p:spPr>
            <p:txBody>
              <a:bodyPr vert="horz" wrap="square" lIns="50800" tIns="25400" rIns="50800" bIns="25400" rtlCol="0">
                <a:noAutofit/>
              </a:bodyPr>
              <a:lstStyle/>
              <a:p>
                <a:pPr marL="254000" indent="-254000">
                  <a:spcAft>
                    <a:spcPts val="900"/>
                  </a:spcAft>
                  <a:buClr>
                    <a:srgbClr val="4FD1C5"/>
                  </a:buClr>
                  <a:buFont typeface="+mj-lt"/>
                  <a:buChar char="▸"/>
                </a:pPr>
                <a14:m>
                  <m:oMath xmlns:m="http://schemas.openxmlformats.org/officeDocument/2006/math">
                    <m:r>
                      <a:rPr lang="en-US" sz="1700">
                        <a:solidFill>
                          <a:srgbClr val="E2E8F0"/>
                        </a:solidFill>
                        <a:latin typeface="Cambria Math" panose="02040503050406030204" pitchFamily="18" charset="0"/>
                      </a:rPr>
                      <m:t>𝑄</m:t>
                    </m:r>
                  </m:oMath>
                </a14:m>
                <a:r>
                  <a:rPr lang="en-US" sz="1700">
                    <a:solidFill>
                      <a:srgbClr val="E2E8F0"/>
                    </a:solidFill>
                    <a:latin typeface="Segoe UI" panose="020B0502040204020203" pitchFamily="34" charset="0"/>
                  </a:rPr>
                  <a:t> = {PATROL, ALERT, CHASE, SEARCH, CAPTURE}; </a:t>
                </a:r>
                <a14:m>
                  <m:oMath xmlns:m="http://schemas.openxmlformats.org/officeDocument/2006/math">
                    <m:sSub>
                      <m:sSubPr>
                        <m:ctrlPr>
                          <a:rPr lang="en-US" sz="1700">
                            <a:solidFill>
                              <a:srgbClr val="E2E8F0"/>
                            </a:solidFill>
                            <a:latin typeface="Cambria Math" panose="02040503050406030204" pitchFamily="18" charset="0"/>
                          </a:rPr>
                        </m:ctrlPr>
                      </m:sSubPr>
                      <m:e>
                        <m:r>
                          <a:rPr lang="en-US" sz="1700">
                            <a:solidFill>
                              <a:srgbClr val="E2E8F0"/>
                            </a:solidFill>
                            <a:latin typeface="Cambria Math" panose="02040503050406030204" pitchFamily="18" charset="0"/>
                          </a:rPr>
                          <m:t>𝑞</m:t>
                        </m:r>
                      </m:e>
                      <m:sub>
                        <m:r>
                          <a:rPr lang="en-US" sz="1700">
                            <a:solidFill>
                              <a:srgbClr val="E2E8F0"/>
                            </a:solidFill>
                            <a:latin typeface="Cambria Math" panose="02040503050406030204" pitchFamily="18" charset="0"/>
                          </a:rPr>
                          <m:t>0</m:t>
                        </m:r>
                      </m:sub>
                    </m:sSub>
                  </m:oMath>
                </a14:m>
                <a:r>
                  <a:rPr lang="en-US" sz="1700">
                    <a:solidFill>
                      <a:srgbClr val="E2E8F0"/>
                    </a:solidFill>
                    <a:latin typeface="Segoe UI" panose="020B0502040204020203" pitchFamily="34" charset="0"/>
                  </a:rPr>
                  <a:t> = PATROL; </a:t>
                </a:r>
                <a14:m>
                  <m:oMath xmlns:m="http://schemas.openxmlformats.org/officeDocument/2006/math">
                    <m:r>
                      <a:rPr lang="en-US" sz="1700">
                        <a:solidFill>
                          <a:srgbClr val="E2E8F0"/>
                        </a:solidFill>
                        <a:latin typeface="Cambria Math" panose="02040503050406030204" pitchFamily="18" charset="0"/>
                      </a:rPr>
                      <m:t>𝐹</m:t>
                    </m:r>
                  </m:oMath>
                </a14:m>
                <a:r>
                  <a:rPr lang="en-US" sz="1700">
                    <a:solidFill>
                      <a:srgbClr val="E2E8F0"/>
                    </a:solidFill>
                    <a:latin typeface="Segoe UI" panose="020B0502040204020203" pitchFamily="34" charset="0"/>
                  </a:rPr>
                  <a:t> = {CAPTURE}</a:t>
                </a:r>
              </a:p>
              <a:p>
                <a:pPr marL="254000" indent="-254000">
                  <a:spcAft>
                    <a:spcPts val="900"/>
                  </a:spcAft>
                  <a:buClr>
                    <a:srgbClr val="4FD1C5"/>
                  </a:buClr>
                  <a:buFont typeface="+mj-lt"/>
                  <a:buChar char="▸"/>
                </a:pPr>
                <a14:m>
                  <m:oMath xmlns:m="http://schemas.openxmlformats.org/officeDocument/2006/math">
                    <m:r>
                      <a:rPr lang="en-US" sz="1700">
                        <a:solidFill>
                          <a:srgbClr val="E2E8F0"/>
                        </a:solidFill>
                        <a:latin typeface="Cambria Math" panose="02040503050406030204" pitchFamily="18" charset="0"/>
                      </a:rPr>
                      <m:t>𝛴</m:t>
                    </m:r>
                  </m:oMath>
                </a14:m>
                <a:r>
                  <a:rPr lang="en-US" sz="1700">
                    <a:solidFill>
                      <a:srgbClr val="E2E8F0"/>
                    </a:solidFill>
                    <a:latin typeface="Segoe UI" panose="020B0502040204020203" pitchFamily="34" charset="0"/>
                  </a:rPr>
                  <a:t> = {PLAYER_SPOTTED, PLAYER_LOST, SOUND_HEARD, PLAYER_CAUGHT, TIMER_EXPIRED}</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Perception and timers → </a:t>
                </a:r>
                <a:r>
                  <a:rPr lang="en-US" sz="1700" b="1">
                    <a:solidFill>
                      <a:srgbClr val="FFFFFF"/>
                    </a:solidFill>
                    <a:latin typeface="Segoe UI" panose="020B0502040204020203" pitchFamily="34" charset="0"/>
                  </a:rPr>
                  <a:t>edge-triggered</a:t>
                </a:r>
                <a:r>
                  <a:rPr lang="en-US" sz="1700">
                    <a:solidFill>
                      <a:srgbClr val="E2E8F0"/>
                    </a:solidFill>
                    <a:latin typeface="Segoe UI" panose="020B0502040204020203" pitchFamily="34" charset="0"/>
                  </a:rPr>
                  <a:t> symbols (one per change, never per frame)</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The DFA decides the state; movement, pathfinding and animation only carry it out</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Three guards, three independent runners, one frozen definition</a:t>
                </a:r>
              </a:p>
              <a:p>
                <a:pPr marL="254000" indent="-254000">
                  <a:spcAft>
                    <a:spcPts val="900"/>
                  </a:spcAft>
                  <a:buClr>
                    <a:srgbClr val="4FD1C5"/>
                  </a:buClr>
                  <a:buFont typeface="+mj-lt"/>
                  <a:buChar char="▸"/>
                </a:pPr>
                <a:r>
                  <a:rPr lang="en-US" sz="1700" b="1">
                    <a:solidFill>
                      <a:srgbClr val="FFFFFF"/>
                    </a:solidFill>
                    <a:latin typeface="Segoe UI" panose="020B0502040204020203" pitchFamily="34" charset="0"/>
                  </a:rPr>
                  <a:t>Acceptance ≠ behaviour</a:t>
                </a:r>
                <a:r>
                  <a:rPr lang="en-US" sz="1700">
                    <a:solidFill>
                      <a:srgbClr val="E2E8F0"/>
                    </a:solidFill>
                    <a:latin typeface="Segoe UI" panose="020B0502040204020203" pitchFamily="34" charset="0"/>
                  </a:rPr>
                  <a:t>: </a:t>
                </a:r>
                <a14:m>
                  <m:oMath xmlns:m="http://schemas.openxmlformats.org/officeDocument/2006/math">
                    <m:r>
                      <a:rPr lang="en-US" sz="1700">
                        <a:solidFill>
                          <a:srgbClr val="E2E8F0"/>
                        </a:solidFill>
                        <a:latin typeface="Cambria Math" panose="02040503050406030204" pitchFamily="18" charset="0"/>
                      </a:rPr>
                      <m:t>𝐿</m:t>
                    </m:r>
                    <m:d>
                      <m:dPr>
                        <m:ctrlPr>
                          <a:rPr lang="en-US" sz="1700">
                            <a:solidFill>
                              <a:srgbClr val="E2E8F0"/>
                            </a:solidFill>
                            <a:latin typeface="Cambria Math" panose="02040503050406030204" pitchFamily="18" charset="0"/>
                          </a:rPr>
                        </m:ctrlPr>
                      </m:dPr>
                      <m:e>
                        <m:r>
                          <a:rPr lang="en-US" sz="1700">
                            <a:solidFill>
                              <a:srgbClr val="E2E8F0"/>
                            </a:solidFill>
                            <a:latin typeface="Cambria Math" panose="02040503050406030204" pitchFamily="18" charset="0"/>
                          </a:rPr>
                          <m:t>𝑀</m:t>
                        </m:r>
                      </m:e>
                    </m:d>
                  </m:oMath>
                </a14:m>
                <a:r>
                  <a:rPr lang="en-US" sz="1700">
                    <a:solidFill>
                      <a:srgbClr val="E2E8F0"/>
                    </a:solidFill>
                    <a:latin typeface="Segoe UI" panose="020B0502040204020203" pitchFamily="34" charset="0"/>
                  </a:rPr>
                  <a:t> = event histories ending in capture</a:t>
                </a:r>
                <a:endParaRPr lang="en-IN" sz="1700">
                  <a:solidFill>
                    <a:srgbClr val="E2E8F0"/>
                  </a:solidFill>
                  <a:latin typeface="Segoe UI" panose="020B0502040204020203" pitchFamily="34" charset="0"/>
                </a:endParaRPr>
              </a:p>
            </p:txBody>
          </p:sp>
        </mc:Choice>
        <mc:Fallback xmlns="">
          <p:sp>
            <p:nvSpPr>
              <p:cNvPr id="6" name="TextBox 5">
                <a:extLst>
                  <a:ext uri="{FF2B5EF4-FFF2-40B4-BE49-F238E27FC236}">
                    <a16:creationId xmlns:a16="http://schemas.microsoft.com/office/drawing/2014/main" id="{8E288EE3-92B2-3351-F0E4-3377965C5204}"/>
                  </a:ext>
                </a:extLst>
              </p:cNvPr>
              <p:cNvSpPr txBox="1"/>
              <p:nvPr/>
            </p:nvSpPr>
            <p:spPr>
              <a:xfrm>
                <a:off x="508000" y="1219200"/>
                <a:ext cx="5969000" cy="5130800"/>
              </a:xfrm>
              <a:prstGeom prst="rect">
                <a:avLst/>
              </a:prstGeom>
              <a:noFill/>
            </p:spPr>
            <p:txBody>
              <a:bodyPr vert="horz" wrap="square" lIns="50800" tIns="25400" rIns="50800" bIns="25400" rtlCol="0">
                <a:noAutofit/>
              </a:bodyPr>
              <a:lstStyle/>
              <a:p>
                <a:pPr marL="254000" indent="-254000">
                  <a:spcAft>
                    <a:spcPts val="900"/>
                  </a:spcAft>
                  <a:buClr>
                    <a:srgbClr val="4FD1C5"/>
                  </a:buClr>
                  <a:buFont typeface="+mj-lt"/>
                  <a:buChar char="▸"/>
                </a:pPr>
                <a:r>
                  <a:rPr lang="en-US" sz="1700">
                    <a:solidFill>
                      <a:srgbClr val="E2E8F0"/>
                    </a:solidFill>
                    <a:latin typeface="Cambria Math" panose="02040503050406030204" pitchFamily="18" charset="0"/>
                  </a:rPr>
                  <a:t>Q</a:t>
                </a:r>
                <a:r>
                  <a:rPr lang="en-US" sz="1700">
                    <a:solidFill>
                      <a:srgbClr val="E2E8F0"/>
                    </a:solidFill>
                    <a:latin typeface="Segoe UI" panose="020B0502040204020203" pitchFamily="34" charset="0"/>
                  </a:rPr>
                  <a:t> = {PATROL, ALERT, CHASE, SEARCH, CAPTURE}; </a:t>
                </a:r>
                <a:r>
                  <a:rPr lang="en-US" sz="1700">
                    <a:solidFill>
                      <a:srgbClr val="E2E8F0"/>
                    </a:solidFill>
                    <a:latin typeface="Cambria Math" panose="02040503050406030204" pitchFamily="18" charset="0"/>
                  </a:rPr>
                  <a:t>q0</a:t>
                </a:r>
                <a:r>
                  <a:rPr lang="en-US" sz="1700">
                    <a:solidFill>
                      <a:srgbClr val="E2E8F0"/>
                    </a:solidFill>
                    <a:latin typeface="Segoe UI" panose="020B0502040204020203" pitchFamily="34" charset="0"/>
                  </a:rPr>
                  <a:t> = PATROL; </a:t>
                </a:r>
                <a:r>
                  <a:rPr lang="en-US" sz="1700">
                    <a:solidFill>
                      <a:srgbClr val="E2E8F0"/>
                    </a:solidFill>
                    <a:latin typeface="Cambria Math" panose="02040503050406030204" pitchFamily="18" charset="0"/>
                  </a:rPr>
                  <a:t>F</a:t>
                </a:r>
                <a:r>
                  <a:rPr lang="en-US" sz="1700">
                    <a:solidFill>
                      <a:srgbClr val="E2E8F0"/>
                    </a:solidFill>
                    <a:latin typeface="Segoe UI" panose="020B0502040204020203" pitchFamily="34" charset="0"/>
                  </a:rPr>
                  <a:t> = {CAPTURE}</a:t>
                </a:r>
              </a:p>
              <a:p>
                <a:pPr marL="254000" indent="-254000">
                  <a:spcAft>
                    <a:spcPts val="900"/>
                  </a:spcAft>
                  <a:buClr>
                    <a:srgbClr val="4FD1C5"/>
                  </a:buClr>
                  <a:buFont typeface="+mj-lt"/>
                  <a:buChar char="▸"/>
                </a:pPr>
                <a:r>
                  <a:rPr lang="en-US" sz="1700">
                    <a:solidFill>
                      <a:srgbClr val="E2E8F0"/>
                    </a:solidFill>
                    <a:latin typeface="Cambria Math" panose="02040503050406030204" pitchFamily="18" charset="0"/>
                  </a:rPr>
                  <a:t>Σ</a:t>
                </a:r>
                <a:r>
                  <a:rPr lang="en-US" sz="1700">
                    <a:solidFill>
                      <a:srgbClr val="E2E8F0"/>
                    </a:solidFill>
                    <a:latin typeface="Segoe UI" panose="020B0502040204020203" pitchFamily="34" charset="0"/>
                  </a:rPr>
                  <a:t> = {PLAYER_SPOTTED, PLAYER_LOST, SOUND_HEARD, PLAYER_CAUGHT, TIMER_EXPIRED}</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Perception and timers → </a:t>
                </a:r>
                <a:r>
                  <a:rPr lang="en-US" sz="1700" b="1">
                    <a:solidFill>
                      <a:srgbClr val="FFFFFF"/>
                    </a:solidFill>
                    <a:latin typeface="Segoe UI" panose="020B0502040204020203" pitchFamily="34" charset="0"/>
                  </a:rPr>
                  <a:t>edge-triggered</a:t>
                </a:r>
                <a:r>
                  <a:rPr lang="en-US" sz="1700">
                    <a:solidFill>
                      <a:srgbClr val="E2E8F0"/>
                    </a:solidFill>
                    <a:latin typeface="Segoe UI" panose="020B0502040204020203" pitchFamily="34" charset="0"/>
                  </a:rPr>
                  <a:t> symbols (one per change, never per frame)</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The DFA decides the state; movement, pathfinding and animation only carry it out</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Three guards, three independent runners, one frozen definition</a:t>
                </a:r>
              </a:p>
              <a:p>
                <a:pPr marL="254000" indent="-254000">
                  <a:spcAft>
                    <a:spcPts val="900"/>
                  </a:spcAft>
                  <a:buClr>
                    <a:srgbClr val="4FD1C5"/>
                  </a:buClr>
                  <a:buFont typeface="+mj-lt"/>
                  <a:buChar char="▸"/>
                </a:pPr>
                <a:r>
                  <a:rPr lang="en-US" sz="1700" b="1">
                    <a:solidFill>
                      <a:srgbClr val="FFFFFF"/>
                    </a:solidFill>
                    <a:latin typeface="Segoe UI" panose="020B0502040204020203" pitchFamily="34" charset="0"/>
                  </a:rPr>
                  <a:t>Acceptance ≠ behaviour</a:t>
                </a:r>
                <a:r>
                  <a:rPr lang="en-US" sz="1700">
                    <a:solidFill>
                      <a:srgbClr val="E2E8F0"/>
                    </a:solidFill>
                    <a:latin typeface="Segoe UI" panose="020B0502040204020203" pitchFamily="34" charset="0"/>
                  </a:rPr>
                  <a:t>: </a:t>
                </a:r>
                <a:r>
                  <a:rPr lang="en-US" sz="1700">
                    <a:solidFill>
                      <a:srgbClr val="E2E8F0"/>
                    </a:solidFill>
                    <a:latin typeface="Cambria Math" panose="02040503050406030204" pitchFamily="18" charset="0"/>
                  </a:rPr>
                  <a:t>L(M)</a:t>
                </a:r>
                <a:r>
                  <a:rPr lang="en-US" sz="1700">
                    <a:solidFill>
                      <a:srgbClr val="E2E8F0"/>
                    </a:solidFill>
                    <a:latin typeface="Segoe UI" panose="020B0502040204020203" pitchFamily="34" charset="0"/>
                  </a:rPr>
                  <a:t> = event histories ending in capture</a:t>
                </a:r>
                <a:endParaRPr lang="en-IN" sz="1700">
                  <a:solidFill>
                    <a:srgbClr val="E2E8F0"/>
                  </a:solidFill>
                  <a:latin typeface="Segoe UI" panose="020B0502040204020203" pitchFamily="34" charset="0"/>
                </a:endParaRPr>
              </a:p>
            </p:txBody>
          </p:sp>
        </mc:Fallback>
      </mc:AlternateContent>
      <p:sp>
        <p:nvSpPr>
          <p:cNvPr id="7" name="Rectangle: Rounded Corners 6">
            <a:extLst>
              <a:ext uri="{FF2B5EF4-FFF2-40B4-BE49-F238E27FC236}">
                <a16:creationId xmlns:a16="http://schemas.microsoft.com/office/drawing/2014/main" id="{3B3DB97E-0022-7B03-7C78-788F01EE1DEA}"/>
              </a:ext>
            </a:extLst>
          </p:cNvPr>
          <p:cNvSpPr/>
          <p:nvPr/>
        </p:nvSpPr>
        <p:spPr>
          <a:xfrm>
            <a:off x="6858000" y="1270000"/>
            <a:ext cx="4826000" cy="914400"/>
          </a:xfrm>
          <a:prstGeom prst="roundRect">
            <a:avLst>
              <a:gd name="adj" fmla="val 12000"/>
            </a:avLst>
          </a:prstGeom>
          <a:solidFill>
            <a:srgbClr val="161F34"/>
          </a:solidFill>
          <a:ln w="15875">
            <a:solidFill>
              <a:srgbClr val="4FD1C5"/>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400" b="1">
                <a:solidFill>
                  <a:srgbClr val="4FD1C5"/>
                </a:solidFill>
                <a:latin typeface="Consolas" panose="020B0609020204030204" pitchFamily="49" charset="0"/>
              </a:rPr>
              <a:t>Perception &amp; timers</a:t>
            </a:r>
          </a:p>
          <a:p>
            <a:pPr algn="ctr"/>
            <a:r>
              <a:rPr lang="en-US" sz="1100">
                <a:solidFill>
                  <a:srgbClr val="E2E8F0"/>
                </a:solidFill>
                <a:latin typeface="Consolas" panose="020B0609020204030204" pitchFamily="49" charset="0"/>
              </a:rPr>
              <a:t>vision cone, hearing, capture check, timers</a:t>
            </a:r>
            <a:endParaRPr lang="en-IN" sz="1100">
              <a:solidFill>
                <a:srgbClr val="E2E8F0"/>
              </a:solidFill>
              <a:latin typeface="Consolas" panose="020B0609020204030204" pitchFamily="49" charset="0"/>
            </a:endParaRPr>
          </a:p>
        </p:txBody>
      </p:sp>
      <p:cxnSp>
        <p:nvCxnSpPr>
          <p:cNvPr id="8" name="Straight Connector 7">
            <a:extLst>
              <a:ext uri="{FF2B5EF4-FFF2-40B4-BE49-F238E27FC236}">
                <a16:creationId xmlns:a16="http://schemas.microsoft.com/office/drawing/2014/main" id="{6ADC8164-9CA1-AE4C-6E9E-6A3A86A4994E}"/>
              </a:ext>
            </a:extLst>
          </p:cNvPr>
          <p:cNvCxnSpPr/>
          <p:nvPr/>
        </p:nvCxnSpPr>
        <p:spPr>
          <a:xfrm>
            <a:off x="9271000" y="2184400"/>
            <a:ext cx="0" cy="304800"/>
          </a:xfrm>
          <a:prstGeom prst="line">
            <a:avLst/>
          </a:prstGeom>
          <a:ln w="19050">
            <a:solidFill>
              <a:srgbClr val="4FD1C5"/>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1BCB8FCF-C32A-9B47-C428-F3C2A753B065}"/>
              </a:ext>
            </a:extLst>
          </p:cNvPr>
          <p:cNvSpPr/>
          <p:nvPr/>
        </p:nvSpPr>
        <p:spPr>
          <a:xfrm>
            <a:off x="6858000" y="2489200"/>
            <a:ext cx="4826000" cy="914400"/>
          </a:xfrm>
          <a:prstGeom prst="roundRect">
            <a:avLst>
              <a:gd name="adj" fmla="val 12000"/>
            </a:avLst>
          </a:prstGeom>
          <a:solidFill>
            <a:srgbClr val="161F34"/>
          </a:solidFill>
          <a:ln w="15875">
            <a:solidFill>
              <a:srgbClr val="4FD1C5"/>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400" b="1">
                <a:solidFill>
                  <a:srgbClr val="4FD1C5"/>
                </a:solidFill>
                <a:latin typeface="Consolas" panose="020B0609020204030204" pitchFamily="49" charset="0"/>
              </a:rPr>
              <a:t>Edge-triggered symbol</a:t>
            </a:r>
          </a:p>
          <a:p>
            <a:pPr algn="ctr"/>
            <a:r>
              <a:rPr lang="en-US" sz="1100">
                <a:solidFill>
                  <a:srgbClr val="E2E8F0"/>
                </a:solidFill>
                <a:latin typeface="Consolas" panose="020B0609020204030204" pitchFamily="49" charset="0"/>
              </a:rPr>
              <a:t>e.g. PLAYER_SPOTTED (once per change)</a:t>
            </a:r>
            <a:endParaRPr lang="en-IN" sz="1100">
              <a:solidFill>
                <a:srgbClr val="E2E8F0"/>
              </a:solidFill>
              <a:latin typeface="Consolas" panose="020B0609020204030204" pitchFamily="49" charset="0"/>
            </a:endParaRPr>
          </a:p>
        </p:txBody>
      </p:sp>
      <p:cxnSp>
        <p:nvCxnSpPr>
          <p:cNvPr id="10" name="Straight Connector 9">
            <a:extLst>
              <a:ext uri="{FF2B5EF4-FFF2-40B4-BE49-F238E27FC236}">
                <a16:creationId xmlns:a16="http://schemas.microsoft.com/office/drawing/2014/main" id="{258CAE1C-62BE-5CAC-7A93-9A18F29629DC}"/>
              </a:ext>
            </a:extLst>
          </p:cNvPr>
          <p:cNvCxnSpPr/>
          <p:nvPr/>
        </p:nvCxnSpPr>
        <p:spPr>
          <a:xfrm>
            <a:off x="9271000" y="3403600"/>
            <a:ext cx="0" cy="304800"/>
          </a:xfrm>
          <a:prstGeom prst="line">
            <a:avLst/>
          </a:prstGeom>
          <a:ln w="19050">
            <a:solidFill>
              <a:srgbClr val="4FD1C5"/>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25CEE0F7-4F58-9738-C36A-FD2DCA833B7E}"/>
              </a:ext>
            </a:extLst>
          </p:cNvPr>
          <p:cNvSpPr/>
          <p:nvPr/>
        </p:nvSpPr>
        <p:spPr>
          <a:xfrm>
            <a:off x="6858000" y="3708400"/>
            <a:ext cx="4826000" cy="914400"/>
          </a:xfrm>
          <a:prstGeom prst="roundRect">
            <a:avLst>
              <a:gd name="adj" fmla="val 12000"/>
            </a:avLst>
          </a:prstGeom>
          <a:solidFill>
            <a:srgbClr val="161F34"/>
          </a:solidFill>
          <a:ln w="15875">
            <a:solidFill>
              <a:srgbClr val="4FD1C5"/>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IN" sz="1400" b="1">
                <a:solidFill>
                  <a:srgbClr val="4FD1C5"/>
                </a:solidFill>
                <a:latin typeface="Consolas" panose="020B0609020204030204" pitchFamily="49" charset="0"/>
              </a:rPr>
              <a:t>DFA step</a:t>
            </a:r>
          </a:p>
          <a:p>
            <a:pPr algn="ctr"/>
            <a:r>
              <a:rPr lang="en-IN" sz="1100">
                <a:solidFill>
                  <a:srgbClr val="E2E8F0"/>
                </a:solidFill>
                <a:latin typeface="Consolas" panose="020B0609020204030204" pitchFamily="49" charset="0"/>
              </a:rPr>
              <a:t>q′ = </a:t>
            </a:r>
            <a:r>
              <a:rPr lang="el-GR" sz="1100">
                <a:solidFill>
                  <a:srgbClr val="E2E8F0"/>
                </a:solidFill>
                <a:latin typeface="Consolas" panose="020B0609020204030204" pitchFamily="49" charset="0"/>
              </a:rPr>
              <a:t>δ(</a:t>
            </a:r>
            <a:r>
              <a:rPr lang="en-IN" sz="1100">
                <a:solidFill>
                  <a:srgbClr val="E2E8F0"/>
                </a:solidFill>
                <a:latin typeface="Consolas" panose="020B0609020204030204" pitchFamily="49" charset="0"/>
              </a:rPr>
              <a:t>q, symbol)  ·  GuardBrain → AutomatonRunner</a:t>
            </a:r>
          </a:p>
        </p:txBody>
      </p:sp>
      <p:cxnSp>
        <p:nvCxnSpPr>
          <p:cNvPr id="12" name="Straight Connector 11">
            <a:extLst>
              <a:ext uri="{FF2B5EF4-FFF2-40B4-BE49-F238E27FC236}">
                <a16:creationId xmlns:a16="http://schemas.microsoft.com/office/drawing/2014/main" id="{67EE309A-33FB-F3E8-482A-009B276924D1}"/>
              </a:ext>
            </a:extLst>
          </p:cNvPr>
          <p:cNvCxnSpPr/>
          <p:nvPr/>
        </p:nvCxnSpPr>
        <p:spPr>
          <a:xfrm>
            <a:off x="9271000" y="4622800"/>
            <a:ext cx="0" cy="304800"/>
          </a:xfrm>
          <a:prstGeom prst="line">
            <a:avLst/>
          </a:prstGeom>
          <a:ln w="19050">
            <a:solidFill>
              <a:srgbClr val="4FD1C5"/>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4908EA1E-FAA2-F491-AB3A-E8955D9B19DB}"/>
              </a:ext>
            </a:extLst>
          </p:cNvPr>
          <p:cNvSpPr/>
          <p:nvPr/>
        </p:nvSpPr>
        <p:spPr>
          <a:xfrm>
            <a:off x="6858000" y="4927600"/>
            <a:ext cx="4826000" cy="914400"/>
          </a:xfrm>
          <a:prstGeom prst="roundRect">
            <a:avLst>
              <a:gd name="adj" fmla="val 12000"/>
            </a:avLst>
          </a:prstGeom>
          <a:solidFill>
            <a:srgbClr val="161F34"/>
          </a:solidFill>
          <a:ln w="15875">
            <a:solidFill>
              <a:srgbClr val="4FD1C5"/>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400" b="1">
                <a:solidFill>
                  <a:srgbClr val="4FD1C5"/>
                </a:solidFill>
                <a:latin typeface="Consolas" panose="020B0609020204030204" pitchFamily="49" charset="0"/>
              </a:rPr>
              <a:t>Behaviour</a:t>
            </a:r>
          </a:p>
          <a:p>
            <a:pPr algn="ctr"/>
            <a:r>
              <a:rPr lang="en-US" sz="1100">
                <a:solidFill>
                  <a:srgbClr val="E2E8F0"/>
                </a:solidFill>
                <a:latin typeface="Consolas" panose="020B0609020204030204" pitchFamily="49" charset="0"/>
              </a:rPr>
              <a:t>entry action + per-tick movement read guard.state</a:t>
            </a:r>
            <a:endParaRPr lang="en-IN" sz="1100">
              <a:solidFill>
                <a:srgbClr val="E2E8F0"/>
              </a:solidFill>
              <a:latin typeface="Consolas" panose="020B0609020204030204" pitchFamily="49" charset="0"/>
            </a:endParaRPr>
          </a:p>
        </p:txBody>
      </p:sp>
    </p:spTree>
    <p:extLst>
      <p:ext uri="{BB962C8B-B14F-4D97-AF65-F5344CB8AC3E}">
        <p14:creationId xmlns:p14="http://schemas.microsoft.com/office/powerpoint/2010/main" val="230547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A445C-E20E-46D0-C458-078FDC495578}"/>
              </a:ext>
            </a:extLst>
          </p:cNvPr>
          <p:cNvSpPr txBox="1"/>
          <p:nvPr/>
        </p:nvSpPr>
        <p:spPr>
          <a:xfrm>
            <a:off x="457200" y="279400"/>
            <a:ext cx="11277600" cy="558800"/>
          </a:xfrm>
          <a:prstGeom prst="rect">
            <a:avLst/>
          </a:prstGeom>
          <a:noFill/>
        </p:spPr>
        <p:txBody>
          <a:bodyPr vert="horz" wrap="square" lIns="50800" tIns="25400" rIns="50800" bIns="25400" rtlCol="0">
            <a:noAutofit/>
          </a:bodyPr>
          <a:lstStyle/>
          <a:p>
            <a:r>
              <a:rPr lang="en-US" sz="2600" b="1">
                <a:solidFill>
                  <a:srgbClr val="8A94A6"/>
                </a:solidFill>
                <a:latin typeface="Consolas" panose="020B0609020204030204" pitchFamily="49" charset="0"/>
              </a:rPr>
              <a:t>&gt; </a:t>
            </a:r>
            <a:r>
              <a:rPr lang="en-US" sz="2600" b="1">
                <a:solidFill>
                  <a:srgbClr val="4FD1C5"/>
                </a:solidFill>
                <a:latin typeface="Consolas" panose="020B0609020204030204" pitchFamily="49" charset="0"/>
              </a:rPr>
              <a:t>GUARD DFA: ALL 25 TRANSITIONS </a:t>
            </a:r>
            <a:r>
              <a:rPr lang="en-US" sz="2600">
                <a:solidFill>
                  <a:srgbClr val="4FD1C5"/>
                </a:solidFill>
                <a:latin typeface="Consolas" panose="020B0609020204030204" pitchFamily="49" charset="0"/>
              </a:rPr>
              <a:t>▌</a:t>
            </a:r>
            <a:endParaRPr lang="en-IN" sz="2600">
              <a:solidFill>
                <a:srgbClr val="4FD1C5"/>
              </a:solidFill>
              <a:latin typeface="Consolas" panose="020B0609020204030204" pitchFamily="49" charset="0"/>
            </a:endParaRPr>
          </a:p>
        </p:txBody>
      </p:sp>
      <p:cxnSp>
        <p:nvCxnSpPr>
          <p:cNvPr id="3" name="Straight Connector 2">
            <a:extLst>
              <a:ext uri="{FF2B5EF4-FFF2-40B4-BE49-F238E27FC236}">
                <a16:creationId xmlns:a16="http://schemas.microsoft.com/office/drawing/2014/main" id="{37167047-C1AD-8179-0684-D739540F0BA6}"/>
              </a:ext>
            </a:extLst>
          </p:cNvPr>
          <p:cNvCxnSpPr/>
          <p:nvPr/>
        </p:nvCxnSpPr>
        <p:spPr>
          <a:xfrm>
            <a:off x="508000" y="914400"/>
            <a:ext cx="11176000" cy="0"/>
          </a:xfrm>
          <a:prstGeom prst="line">
            <a:avLst/>
          </a:prstGeom>
          <a:ln w="15875">
            <a:solidFill>
              <a:srgbClr val="2C7A7B"/>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89CEA8BB-915E-7B84-A7C6-B6A21C8AFF15}"/>
              </a:ext>
            </a:extLst>
          </p:cNvPr>
          <p:cNvSpPr txBox="1"/>
          <p:nvPr/>
        </p:nvSpPr>
        <p:spPr>
          <a:xfrm>
            <a:off x="508000" y="6426200"/>
            <a:ext cx="6604000" cy="228600"/>
          </a:xfrm>
          <a:prstGeom prst="rect">
            <a:avLst/>
          </a:prstGeom>
          <a:noFill/>
        </p:spPr>
        <p:txBody>
          <a:bodyPr vert="horz" wrap="square" lIns="50800" tIns="25400" rIns="50800" bIns="25400" rtlCol="0">
            <a:noAutofit/>
          </a:bodyPr>
          <a:lstStyle/>
          <a:p>
            <a:r>
              <a:rPr lang="en-US" sz="900">
                <a:solidFill>
                  <a:srgbClr val="8A94A6"/>
                </a:solidFill>
                <a:latin typeface="Consolas" panose="020B0609020204030204" pitchFamily="49" charset="0"/>
              </a:rPr>
              <a:t>SHADOW PROTOCOL // THEORY OF COMPUTATION</a:t>
            </a:r>
            <a:endParaRPr lang="en-IN" sz="900">
              <a:solidFill>
                <a:srgbClr val="8A94A6"/>
              </a:solidFill>
              <a:latin typeface="Consolas" panose="020B0609020204030204" pitchFamily="49" charset="0"/>
            </a:endParaRPr>
          </a:p>
        </p:txBody>
      </p:sp>
      <p:sp>
        <p:nvSpPr>
          <p:cNvPr id="5" name="TextBox 4">
            <a:extLst>
              <a:ext uri="{FF2B5EF4-FFF2-40B4-BE49-F238E27FC236}">
                <a16:creationId xmlns:a16="http://schemas.microsoft.com/office/drawing/2014/main" id="{4CB9134D-F2FE-A43B-2AB8-F46F520349A8}"/>
              </a:ext>
            </a:extLst>
          </p:cNvPr>
          <p:cNvSpPr txBox="1"/>
          <p:nvPr/>
        </p:nvSpPr>
        <p:spPr>
          <a:xfrm>
            <a:off x="9652000" y="6426200"/>
            <a:ext cx="2032000" cy="228600"/>
          </a:xfrm>
          <a:prstGeom prst="rect">
            <a:avLst/>
          </a:prstGeom>
          <a:noFill/>
        </p:spPr>
        <p:txBody>
          <a:bodyPr vert="horz" wrap="square" lIns="50800" tIns="25400" rIns="50800" bIns="25400" rtlCol="0">
            <a:noAutofit/>
          </a:bodyPr>
          <a:lstStyle/>
          <a:p>
            <a:pPr algn="r"/>
            <a:r>
              <a:rPr lang="en-IN" sz="900">
                <a:solidFill>
                  <a:srgbClr val="8A94A6"/>
                </a:solidFill>
                <a:latin typeface="Consolas" panose="020B0609020204030204" pitchFamily="49" charset="0"/>
              </a:rPr>
              <a:t>08 / 13</a:t>
            </a:r>
          </a:p>
        </p:txBody>
      </p:sp>
      <p:pic>
        <p:nvPicPr>
          <p:cNvPr id="7" name="Picture 6">
            <a:extLst>
              <a:ext uri="{FF2B5EF4-FFF2-40B4-BE49-F238E27FC236}">
                <a16:creationId xmlns:a16="http://schemas.microsoft.com/office/drawing/2014/main" id="{4A6B8684-47D8-2A75-447A-90E8C1CD40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041" y="1066800"/>
            <a:ext cx="10337918" cy="4876800"/>
          </a:xfrm>
          <a:prstGeom prst="rect">
            <a:avLst/>
          </a:prstGeom>
        </p:spPr>
      </p:pic>
      <p:sp>
        <p:nvSpPr>
          <p:cNvPr id="8" name="TextBox 7">
            <a:extLst>
              <a:ext uri="{FF2B5EF4-FFF2-40B4-BE49-F238E27FC236}">
                <a16:creationId xmlns:a16="http://schemas.microsoft.com/office/drawing/2014/main" id="{65165BC9-EC75-6D3E-0715-D5BCBA4DDF94}"/>
              </a:ext>
            </a:extLst>
          </p:cNvPr>
          <p:cNvSpPr txBox="1"/>
          <p:nvPr/>
        </p:nvSpPr>
        <p:spPr>
          <a:xfrm>
            <a:off x="508000" y="6019800"/>
            <a:ext cx="11176000" cy="279400"/>
          </a:xfrm>
          <a:prstGeom prst="rect">
            <a:avLst/>
          </a:prstGeom>
          <a:noFill/>
        </p:spPr>
        <p:txBody>
          <a:bodyPr vert="horz" wrap="square" lIns="50800" tIns="25400" rIns="50800" bIns="25400" rtlCol="0">
            <a:noAutofit/>
          </a:bodyPr>
          <a:lstStyle/>
          <a:p>
            <a:pPr algn="ctr"/>
            <a:r>
              <a:rPr lang="en-US" sz="1100">
                <a:solidFill>
                  <a:srgbClr val="8A94A6"/>
                </a:solidFill>
                <a:latin typeface="Consolas" panose="020B0609020204030204" pitchFamily="49" charset="0"/>
              </a:rPr>
              <a:t>q₀ = PATROL  ·  F = {CAPTURE} (absorbing)  ·  loops = events ignored in that state  ·  source: diagrams/03-guard-dfa.mmd</a:t>
            </a:r>
            <a:endParaRPr lang="en-IN" sz="1100">
              <a:solidFill>
                <a:srgbClr val="8A94A6"/>
              </a:solidFill>
              <a:latin typeface="Consolas" panose="020B0609020204030204" pitchFamily="49" charset="0"/>
            </a:endParaRPr>
          </a:p>
        </p:txBody>
      </p:sp>
    </p:spTree>
    <p:extLst>
      <p:ext uri="{BB962C8B-B14F-4D97-AF65-F5344CB8AC3E}">
        <p14:creationId xmlns:p14="http://schemas.microsoft.com/office/powerpoint/2010/main" val="3178717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A0463-8404-B9FF-ACC3-817DABA48787}"/>
              </a:ext>
            </a:extLst>
          </p:cNvPr>
          <p:cNvSpPr txBox="1"/>
          <p:nvPr/>
        </p:nvSpPr>
        <p:spPr>
          <a:xfrm>
            <a:off x="457200" y="279400"/>
            <a:ext cx="11277600" cy="558800"/>
          </a:xfrm>
          <a:prstGeom prst="rect">
            <a:avLst/>
          </a:prstGeom>
          <a:noFill/>
        </p:spPr>
        <p:txBody>
          <a:bodyPr vert="horz" wrap="square" lIns="50800" tIns="25400" rIns="50800" bIns="25400" rtlCol="0">
            <a:noAutofit/>
          </a:bodyPr>
          <a:lstStyle/>
          <a:p>
            <a:r>
              <a:rPr lang="en-IN" sz="2600" b="1">
                <a:solidFill>
                  <a:srgbClr val="8A94A6"/>
                </a:solidFill>
                <a:latin typeface="Consolas" panose="020B0609020204030204" pitchFamily="49" charset="0"/>
              </a:rPr>
              <a:t>&gt; </a:t>
            </a:r>
            <a:r>
              <a:rPr lang="en-IN" sz="2600" b="1">
                <a:solidFill>
                  <a:srgbClr val="4FD1C5"/>
                </a:solidFill>
                <a:latin typeface="Consolas" panose="020B0609020204030204" pitchFamily="49" charset="0"/>
              </a:rPr>
              <a:t>NFA FUNDAMENTALS AND COMPARISON </a:t>
            </a:r>
            <a:r>
              <a:rPr lang="en-IN" sz="2600">
                <a:solidFill>
                  <a:srgbClr val="4FD1C5"/>
                </a:solidFill>
                <a:latin typeface="Consolas" panose="020B0609020204030204" pitchFamily="49" charset="0"/>
              </a:rPr>
              <a:t>▌</a:t>
            </a:r>
          </a:p>
        </p:txBody>
      </p:sp>
      <p:cxnSp>
        <p:nvCxnSpPr>
          <p:cNvPr id="3" name="Straight Connector 2">
            <a:extLst>
              <a:ext uri="{FF2B5EF4-FFF2-40B4-BE49-F238E27FC236}">
                <a16:creationId xmlns:a16="http://schemas.microsoft.com/office/drawing/2014/main" id="{4D6B6896-7C11-A934-F821-85BFC1808581}"/>
              </a:ext>
            </a:extLst>
          </p:cNvPr>
          <p:cNvCxnSpPr/>
          <p:nvPr/>
        </p:nvCxnSpPr>
        <p:spPr>
          <a:xfrm>
            <a:off x="508000" y="914400"/>
            <a:ext cx="11176000" cy="0"/>
          </a:xfrm>
          <a:prstGeom prst="line">
            <a:avLst/>
          </a:prstGeom>
          <a:ln w="15875">
            <a:solidFill>
              <a:srgbClr val="2C7A7B"/>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51A73C2B-B9CA-AD5F-00EA-B4AB802DD6B0}"/>
              </a:ext>
            </a:extLst>
          </p:cNvPr>
          <p:cNvSpPr txBox="1"/>
          <p:nvPr/>
        </p:nvSpPr>
        <p:spPr>
          <a:xfrm>
            <a:off x="508000" y="6426200"/>
            <a:ext cx="6604000" cy="228600"/>
          </a:xfrm>
          <a:prstGeom prst="rect">
            <a:avLst/>
          </a:prstGeom>
          <a:noFill/>
        </p:spPr>
        <p:txBody>
          <a:bodyPr vert="horz" wrap="square" lIns="50800" tIns="25400" rIns="50800" bIns="25400" rtlCol="0">
            <a:noAutofit/>
          </a:bodyPr>
          <a:lstStyle/>
          <a:p>
            <a:r>
              <a:rPr lang="en-US" sz="900">
                <a:solidFill>
                  <a:srgbClr val="8A94A6"/>
                </a:solidFill>
                <a:latin typeface="Consolas" panose="020B0609020204030204" pitchFamily="49" charset="0"/>
              </a:rPr>
              <a:t>SHADOW PROTOCOL // THEORY OF COMPUTATION</a:t>
            </a:r>
            <a:endParaRPr lang="en-IN" sz="900">
              <a:solidFill>
                <a:srgbClr val="8A94A6"/>
              </a:solidFill>
              <a:latin typeface="Consolas" panose="020B0609020204030204" pitchFamily="49" charset="0"/>
            </a:endParaRPr>
          </a:p>
        </p:txBody>
      </p:sp>
      <p:sp>
        <p:nvSpPr>
          <p:cNvPr id="5" name="TextBox 4">
            <a:extLst>
              <a:ext uri="{FF2B5EF4-FFF2-40B4-BE49-F238E27FC236}">
                <a16:creationId xmlns:a16="http://schemas.microsoft.com/office/drawing/2014/main" id="{EF332E6F-2CB6-CDB2-D097-0E3980F030C5}"/>
              </a:ext>
            </a:extLst>
          </p:cNvPr>
          <p:cNvSpPr txBox="1"/>
          <p:nvPr/>
        </p:nvSpPr>
        <p:spPr>
          <a:xfrm>
            <a:off x="9652000" y="6426200"/>
            <a:ext cx="2032000" cy="228600"/>
          </a:xfrm>
          <a:prstGeom prst="rect">
            <a:avLst/>
          </a:prstGeom>
          <a:noFill/>
        </p:spPr>
        <p:txBody>
          <a:bodyPr vert="horz" wrap="square" lIns="50800" tIns="25400" rIns="50800" bIns="25400" rtlCol="0">
            <a:noAutofit/>
          </a:bodyPr>
          <a:lstStyle/>
          <a:p>
            <a:pPr algn="r"/>
            <a:r>
              <a:rPr lang="en-IN" sz="900">
                <a:solidFill>
                  <a:srgbClr val="8A94A6"/>
                </a:solidFill>
                <a:latin typeface="Consolas" panose="020B0609020204030204" pitchFamily="49" charset="0"/>
              </a:rPr>
              <a:t>09 / 13</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CE407E0-29D3-4303-74D6-8FAEC73E5AF7}"/>
                  </a:ext>
                </a:extLst>
              </p:cNvPr>
              <p:cNvSpPr txBox="1"/>
              <p:nvPr/>
            </p:nvSpPr>
            <p:spPr>
              <a:xfrm>
                <a:off x="508000" y="1219200"/>
                <a:ext cx="5588000" cy="5130800"/>
              </a:xfrm>
              <a:prstGeom prst="rect">
                <a:avLst/>
              </a:prstGeom>
              <a:noFill/>
            </p:spPr>
            <p:txBody>
              <a:bodyPr vert="horz" wrap="square" lIns="50800" tIns="25400" rIns="50800" bIns="25400" rtlCol="0">
                <a:noAutofit/>
              </a:bodyPr>
              <a:lstStyle/>
              <a:p>
                <a:pPr marL="254000" indent="-254000">
                  <a:spcAft>
                    <a:spcPts val="900"/>
                  </a:spcAft>
                  <a:buClr>
                    <a:srgbClr val="4FD1C5"/>
                  </a:buClr>
                  <a:buFont typeface="+mj-lt"/>
                  <a:buChar char="▸"/>
                </a:pPr>
                <a14:m>
                  <m:oMath xmlns:m="http://schemas.openxmlformats.org/officeDocument/2006/math">
                    <m:r>
                      <a:rPr lang="en-US" sz="1700">
                        <a:solidFill>
                          <a:srgbClr val="E2E8F0"/>
                        </a:solidFill>
                        <a:latin typeface="Cambria Math" panose="02040503050406030204" pitchFamily="18" charset="0"/>
                      </a:rPr>
                      <m:t>𝛿</m:t>
                    </m:r>
                    <m:r>
                      <a:rPr lang="en-US" sz="1700">
                        <a:solidFill>
                          <a:srgbClr val="E2E8F0"/>
                        </a:solidFill>
                        <a:latin typeface="Cambria Math" panose="02040503050406030204" pitchFamily="18" charset="0"/>
                      </a:rPr>
                      <m:t>:</m:t>
                    </m:r>
                    <m:r>
                      <a:rPr lang="en-US" sz="1700">
                        <a:solidFill>
                          <a:srgbClr val="E2E8F0"/>
                        </a:solidFill>
                        <a:latin typeface="Cambria Math" panose="02040503050406030204" pitchFamily="18" charset="0"/>
                      </a:rPr>
                      <m:t>𝑄</m:t>
                    </m:r>
                    <m:r>
                      <a:rPr lang="en-US" sz="1700">
                        <a:solidFill>
                          <a:srgbClr val="E2E8F0"/>
                        </a:solidFill>
                        <a:latin typeface="Cambria Math" panose="02040503050406030204" pitchFamily="18" charset="0"/>
                      </a:rPr>
                      <m:t>×</m:t>
                    </m:r>
                    <m:d>
                      <m:dPr>
                        <m:ctrlPr>
                          <a:rPr lang="en-US" sz="1700">
                            <a:solidFill>
                              <a:srgbClr val="E2E8F0"/>
                            </a:solidFill>
                            <a:latin typeface="Cambria Math" panose="02040503050406030204" pitchFamily="18" charset="0"/>
                          </a:rPr>
                        </m:ctrlPr>
                      </m:dPr>
                      <m:e>
                        <m:r>
                          <a:rPr lang="en-US" sz="1700">
                            <a:solidFill>
                              <a:srgbClr val="E2E8F0"/>
                            </a:solidFill>
                            <a:latin typeface="Cambria Math" panose="02040503050406030204" pitchFamily="18" charset="0"/>
                          </a:rPr>
                          <m:t>𝛴</m:t>
                        </m:r>
                        <m:r>
                          <a:rPr lang="en-US" sz="1700">
                            <a:solidFill>
                              <a:srgbClr val="E2E8F0"/>
                            </a:solidFill>
                            <a:latin typeface="Cambria Math" panose="02040503050406030204" pitchFamily="18" charset="0"/>
                          </a:rPr>
                          <m:t>∪</m:t>
                        </m:r>
                        <m:d>
                          <m:dPr>
                            <m:begChr m:val="{"/>
                            <m:endChr m:val="}"/>
                            <m:ctrlPr>
                              <a:rPr lang="en-US" sz="1700">
                                <a:solidFill>
                                  <a:srgbClr val="E2E8F0"/>
                                </a:solidFill>
                                <a:latin typeface="Cambria Math" panose="02040503050406030204" pitchFamily="18" charset="0"/>
                              </a:rPr>
                            </m:ctrlPr>
                          </m:dPr>
                          <m:e>
                            <m:r>
                              <a:rPr lang="en-US" sz="1700">
                                <a:solidFill>
                                  <a:srgbClr val="E2E8F0"/>
                                </a:solidFill>
                                <a:latin typeface="Cambria Math" panose="02040503050406030204" pitchFamily="18" charset="0"/>
                              </a:rPr>
                              <m:t>𝜀</m:t>
                            </m:r>
                          </m:e>
                        </m:d>
                      </m:e>
                    </m:d>
                    <m:r>
                      <a:rPr lang="en-US" sz="1700">
                        <a:solidFill>
                          <a:srgbClr val="E2E8F0"/>
                        </a:solidFill>
                        <a:latin typeface="Cambria Math" panose="02040503050406030204" pitchFamily="18" charset="0"/>
                      </a:rPr>
                      <m:t>→</m:t>
                    </m:r>
                    <m:r>
                      <a:rPr lang="en-US" sz="1700">
                        <a:solidFill>
                          <a:srgbClr val="E2E8F0"/>
                        </a:solidFill>
                        <a:latin typeface="Cambria Math" panose="02040503050406030204" pitchFamily="18" charset="0"/>
                      </a:rPr>
                      <m:t>𝒫</m:t>
                    </m:r>
                    <m:d>
                      <m:dPr>
                        <m:ctrlPr>
                          <a:rPr lang="en-US" sz="1700">
                            <a:solidFill>
                              <a:srgbClr val="E2E8F0"/>
                            </a:solidFill>
                            <a:latin typeface="Cambria Math" panose="02040503050406030204" pitchFamily="18" charset="0"/>
                          </a:rPr>
                        </m:ctrlPr>
                      </m:dPr>
                      <m:e>
                        <m:r>
                          <a:rPr lang="en-US" sz="1700">
                            <a:solidFill>
                              <a:srgbClr val="E2E8F0"/>
                            </a:solidFill>
                            <a:latin typeface="Cambria Math" panose="02040503050406030204" pitchFamily="18" charset="0"/>
                          </a:rPr>
                          <m:t>𝑄</m:t>
                        </m:r>
                      </m:e>
                    </m:d>
                  </m:oMath>
                </a14:m>
                <a:r>
                  <a:rPr lang="en-US" sz="1700">
                    <a:solidFill>
                      <a:srgbClr val="E2E8F0"/>
                    </a:solidFill>
                    <a:latin typeface="Segoe UI" panose="020B0502040204020203" pitchFamily="34" charset="0"/>
                  </a:rPr>
                  <a:t>: zero, one or many next states</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Simulate the </a:t>
                </a:r>
                <a:r>
                  <a:rPr lang="en-US" sz="1700" b="1">
                    <a:solidFill>
                      <a:srgbClr val="FFFFFF"/>
                    </a:solidFill>
                    <a:latin typeface="Segoe UI" panose="020B0502040204020203" pitchFamily="34" charset="0"/>
                  </a:rPr>
                  <a:t>active set</a:t>
                </a:r>
                <a:r>
                  <a:rPr lang="en-US" sz="1700">
                    <a:solidFill>
                      <a:srgbClr val="E2E8F0"/>
                    </a:solidFill>
                    <a:latin typeface="Segoe UI" panose="020B0502040204020203" pitchFamily="34" charset="0"/>
                  </a:rPr>
                  <a:t>: </a:t>
                </a:r>
                <a14:m>
                  <m:oMath xmlns:m="http://schemas.openxmlformats.org/officeDocument/2006/math">
                    <m:r>
                      <m:rPr>
                        <m:nor/>
                      </m:rPr>
                      <a:rPr lang="en-US" sz="1700" i="0">
                        <a:solidFill>
                          <a:srgbClr val="E2E8F0"/>
                        </a:solidFill>
                        <a:latin typeface="Cambria Math" panose="02040503050406030204" pitchFamily="18" charset="0"/>
                      </a:rPr>
                      <m:t>ECLOSE</m:t>
                    </m:r>
                    <m:d>
                      <m:dPr>
                        <m:ctrlPr>
                          <a:rPr lang="en-US" sz="1700" i="1">
                            <a:solidFill>
                              <a:srgbClr val="E2E8F0"/>
                            </a:solidFill>
                            <a:latin typeface="Cambria Math" panose="02040503050406030204" pitchFamily="18" charset="0"/>
                          </a:rPr>
                        </m:ctrlPr>
                      </m:dPr>
                      <m:e>
                        <m:nary>
                          <m:naryPr>
                            <m:chr m:val="⋃"/>
                            <m:supHide m:val="on"/>
                            <m:ctrlPr>
                              <a:rPr lang="en-US" sz="1700">
                                <a:solidFill>
                                  <a:srgbClr val="E2E8F0"/>
                                </a:solidFill>
                                <a:latin typeface="Cambria Math" panose="02040503050406030204" pitchFamily="18" charset="0"/>
                              </a:rPr>
                            </m:ctrlPr>
                          </m:naryPr>
                          <m:sub>
                            <m:r>
                              <a:rPr lang="en-US" sz="1700">
                                <a:solidFill>
                                  <a:srgbClr val="E2E8F0"/>
                                </a:solidFill>
                                <a:latin typeface="Cambria Math" panose="02040503050406030204" pitchFamily="18" charset="0"/>
                              </a:rPr>
                              <m:t>𝑝</m:t>
                            </m:r>
                            <m:r>
                              <a:rPr lang="en-US" sz="1700">
                                <a:solidFill>
                                  <a:srgbClr val="E2E8F0"/>
                                </a:solidFill>
                                <a:latin typeface="Cambria Math" panose="02040503050406030204" pitchFamily="18" charset="0"/>
                              </a:rPr>
                              <m:t>∈</m:t>
                            </m:r>
                            <m:r>
                              <a:rPr lang="en-US" sz="1700">
                                <a:solidFill>
                                  <a:srgbClr val="E2E8F0"/>
                                </a:solidFill>
                                <a:latin typeface="Cambria Math" panose="02040503050406030204" pitchFamily="18" charset="0"/>
                              </a:rPr>
                              <m:t>𝑆</m:t>
                            </m:r>
                          </m:sub>
                          <m:sup/>
                          <m:e>
                            <m:r>
                              <a:rPr lang="en-US" sz="1700">
                                <a:solidFill>
                                  <a:srgbClr val="E2E8F0"/>
                                </a:solidFill>
                                <a:latin typeface="Cambria Math" panose="02040503050406030204" pitchFamily="18" charset="0"/>
                              </a:rPr>
                              <m:t>𝛿</m:t>
                            </m:r>
                            <m:d>
                              <m:dPr>
                                <m:ctrlPr>
                                  <a:rPr lang="en-US" sz="1700">
                                    <a:solidFill>
                                      <a:srgbClr val="E2E8F0"/>
                                    </a:solidFill>
                                    <a:latin typeface="Cambria Math" panose="02040503050406030204" pitchFamily="18" charset="0"/>
                                  </a:rPr>
                                </m:ctrlPr>
                              </m:dPr>
                              <m:e>
                                <m:r>
                                  <a:rPr lang="en-US" sz="1700">
                                    <a:solidFill>
                                      <a:srgbClr val="E2E8F0"/>
                                    </a:solidFill>
                                    <a:latin typeface="Cambria Math" panose="02040503050406030204" pitchFamily="18" charset="0"/>
                                  </a:rPr>
                                  <m:t>𝑝</m:t>
                                </m:r>
                                <m:r>
                                  <a:rPr lang="en-US" sz="1700">
                                    <a:solidFill>
                                      <a:srgbClr val="E2E8F0"/>
                                    </a:solidFill>
                                    <a:latin typeface="Cambria Math" panose="02040503050406030204" pitchFamily="18" charset="0"/>
                                  </a:rPr>
                                  <m:t>,</m:t>
                                </m:r>
                                <m:r>
                                  <a:rPr lang="en-US" sz="1700">
                                    <a:solidFill>
                                      <a:srgbClr val="E2E8F0"/>
                                    </a:solidFill>
                                    <a:latin typeface="Cambria Math" panose="02040503050406030204" pitchFamily="18" charset="0"/>
                                  </a:rPr>
                                  <m:t>𝑎</m:t>
                                </m:r>
                              </m:e>
                            </m:d>
                          </m:e>
                        </m:nary>
                      </m:e>
                    </m:d>
                  </m:oMath>
                </a14:m>
                <a:r>
                  <a:rPr lang="en-US" sz="1700">
                    <a:solidFill>
                      <a:srgbClr val="E2E8F0"/>
                    </a:solidFill>
                    <a:latin typeface="Segoe UI" panose="020B0502040204020203" pitchFamily="34" charset="0"/>
                  </a:rPr>
                  <a:t>; accept iff the set meets </a:t>
                </a:r>
                <a14:m>
                  <m:oMath xmlns:m="http://schemas.openxmlformats.org/officeDocument/2006/math">
                    <m:r>
                      <a:rPr lang="en-US" sz="1700">
                        <a:solidFill>
                          <a:srgbClr val="E2E8F0"/>
                        </a:solidFill>
                        <a:latin typeface="Cambria Math" panose="02040503050406030204" pitchFamily="18" charset="0"/>
                      </a:rPr>
                      <m:t>𝐹</m:t>
                    </m:r>
                  </m:oMath>
                </a14:m>
                <a:endParaRPr lang="en-US" sz="1700">
                  <a:solidFill>
                    <a:srgbClr val="E2E8F0"/>
                  </a:solidFill>
                  <a:latin typeface="Segoe UI" panose="020B0502040204020203" pitchFamily="34" charset="0"/>
                </a:endParaRPr>
              </a:p>
              <a:p>
                <a:pPr marL="254000" indent="-254000">
                  <a:spcAft>
                    <a:spcPts val="900"/>
                  </a:spcAft>
                  <a:buClr>
                    <a:srgbClr val="4FD1C5"/>
                  </a:buClr>
                  <a:buFont typeface="+mj-lt"/>
                  <a:buChar char="▸"/>
                </a:pPr>
                <a:r>
                  <a:rPr lang="en-US" sz="1700" b="1">
                    <a:solidFill>
                      <a:srgbClr val="FFFFFF"/>
                    </a:solidFill>
                    <a:latin typeface="Segoe UI" panose="020B0502040204020203" pitchFamily="34" charset="0"/>
                  </a:rPr>
                  <a:t>Not randomness</a:t>
                </a:r>
                <a:r>
                  <a:rPr lang="en-US" sz="1700">
                    <a:solidFill>
                      <a:srgbClr val="E2E8F0"/>
                    </a:solidFill>
                    <a:latin typeface="Segoe UI" panose="020B0502040204020203" pitchFamily="34" charset="0"/>
                  </a:rPr>
                  <a:t>: all paths are followed at once, deterministically</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Same power as DFAs (Rabin–Scott), but up to exponentially smaller</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Demonstration guard NFA: SOUND_HEARD → {ALERT, SEARCH}; ALERT →ε CHASE; SEARCH →ε PATROL</a:t>
                </a:r>
                <a:endParaRPr lang="en-IN" sz="1700">
                  <a:solidFill>
                    <a:srgbClr val="E2E8F0"/>
                  </a:solidFill>
                  <a:latin typeface="Segoe UI" panose="020B0502040204020203" pitchFamily="34" charset="0"/>
                </a:endParaRPr>
              </a:p>
            </p:txBody>
          </p:sp>
        </mc:Choice>
        <mc:Fallback xmlns="">
          <p:sp>
            <p:nvSpPr>
              <p:cNvPr id="6" name="TextBox 5">
                <a:extLst>
                  <a:ext uri="{FF2B5EF4-FFF2-40B4-BE49-F238E27FC236}">
                    <a16:creationId xmlns:a16="http://schemas.microsoft.com/office/drawing/2014/main" id="{BCE407E0-29D3-4303-74D6-8FAEC73E5AF7}"/>
                  </a:ext>
                </a:extLst>
              </p:cNvPr>
              <p:cNvSpPr txBox="1"/>
              <p:nvPr/>
            </p:nvSpPr>
            <p:spPr>
              <a:xfrm>
                <a:off x="508000" y="1219200"/>
                <a:ext cx="5588000" cy="5130800"/>
              </a:xfrm>
              <a:prstGeom prst="rect">
                <a:avLst/>
              </a:prstGeom>
              <a:noFill/>
            </p:spPr>
            <p:txBody>
              <a:bodyPr vert="horz" wrap="square" lIns="50800" tIns="25400" rIns="50800" bIns="25400" rtlCol="0">
                <a:noAutofit/>
              </a:bodyPr>
              <a:lstStyle/>
              <a:p>
                <a:pPr marL="254000" indent="-254000">
                  <a:spcAft>
                    <a:spcPts val="900"/>
                  </a:spcAft>
                  <a:buClr>
                    <a:srgbClr val="4FD1C5"/>
                  </a:buClr>
                  <a:buFont typeface="+mj-lt"/>
                  <a:buChar char="▸"/>
                </a:pPr>
                <a:r>
                  <a:rPr lang="en-US" sz="1700">
                    <a:solidFill>
                      <a:srgbClr val="E2E8F0"/>
                    </a:solidFill>
                    <a:latin typeface="Cambria Math" panose="02040503050406030204" pitchFamily="18" charset="0"/>
                  </a:rPr>
                  <a:t>δ : Q × (Σ ∪ {ε}) → 𝒫(Q)</a:t>
                </a:r>
                <a:r>
                  <a:rPr lang="en-US" sz="1700">
                    <a:solidFill>
                      <a:srgbClr val="E2E8F0"/>
                    </a:solidFill>
                    <a:latin typeface="Segoe UI" panose="020B0502040204020203" pitchFamily="34" charset="0"/>
                  </a:rPr>
                  <a:t>: zero, one or many next states</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Simulate the </a:t>
                </a:r>
                <a:r>
                  <a:rPr lang="en-US" sz="1700" b="1">
                    <a:solidFill>
                      <a:srgbClr val="FFFFFF"/>
                    </a:solidFill>
                    <a:latin typeface="Segoe UI" panose="020B0502040204020203" pitchFamily="34" charset="0"/>
                  </a:rPr>
                  <a:t>active set</a:t>
                </a:r>
                <a:r>
                  <a:rPr lang="en-US" sz="1700">
                    <a:solidFill>
                      <a:srgbClr val="E2E8F0"/>
                    </a:solidFill>
                    <a:latin typeface="Segoe UI" panose="020B0502040204020203" pitchFamily="34" charset="0"/>
                  </a:rPr>
                  <a:t>: </a:t>
                </a:r>
                <a:r>
                  <a:rPr lang="en-US" sz="1700">
                    <a:solidFill>
                      <a:srgbClr val="E2E8F0"/>
                    </a:solidFill>
                    <a:latin typeface="Cambria Math" panose="02040503050406030204" pitchFamily="18" charset="0"/>
                  </a:rPr>
                  <a:t>ECLOSE(⋃p∈Sδ(p, a))</a:t>
                </a:r>
                <a:r>
                  <a:rPr lang="en-US" sz="1700">
                    <a:solidFill>
                      <a:srgbClr val="E2E8F0"/>
                    </a:solidFill>
                    <a:latin typeface="Segoe UI" panose="020B0502040204020203" pitchFamily="34" charset="0"/>
                  </a:rPr>
                  <a:t>; accept iff the set meets </a:t>
                </a:r>
                <a:r>
                  <a:rPr lang="en-US" sz="1700">
                    <a:solidFill>
                      <a:srgbClr val="E2E8F0"/>
                    </a:solidFill>
                    <a:latin typeface="Cambria Math" panose="02040503050406030204" pitchFamily="18" charset="0"/>
                  </a:rPr>
                  <a:t>F</a:t>
                </a:r>
              </a:p>
              <a:p>
                <a:pPr marL="254000" indent="-254000">
                  <a:spcAft>
                    <a:spcPts val="900"/>
                  </a:spcAft>
                  <a:buClr>
                    <a:srgbClr val="4FD1C5"/>
                  </a:buClr>
                  <a:buFont typeface="+mj-lt"/>
                  <a:buChar char="▸"/>
                </a:pPr>
                <a:r>
                  <a:rPr lang="en-US" sz="1700" b="1">
                    <a:solidFill>
                      <a:srgbClr val="FFFFFF"/>
                    </a:solidFill>
                    <a:latin typeface="Segoe UI" panose="020B0502040204020203" pitchFamily="34" charset="0"/>
                  </a:rPr>
                  <a:t>Not randomness</a:t>
                </a:r>
                <a:r>
                  <a:rPr lang="en-US" sz="1700">
                    <a:solidFill>
                      <a:srgbClr val="E2E8F0"/>
                    </a:solidFill>
                    <a:latin typeface="Segoe UI" panose="020B0502040204020203" pitchFamily="34" charset="0"/>
                  </a:rPr>
                  <a:t>: all paths are followed at once, deterministically</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Same power as DFAs (Rabin–Scott), but up to exponentially smaller</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Demonstration guard NFA: SOUND_HEARD → {ALERT, SEARCH}; ALERT →ε CHASE; SEARCH →ε PATROL</a:t>
                </a:r>
                <a:endParaRPr lang="en-IN" sz="1700">
                  <a:solidFill>
                    <a:srgbClr val="E2E8F0"/>
                  </a:solidFill>
                  <a:latin typeface="Segoe UI" panose="020B0502040204020203" pitchFamily="34" charset="0"/>
                </a:endParaRPr>
              </a:p>
            </p:txBody>
          </p:sp>
        </mc:Fallback>
      </mc:AlternateContent>
      <p:pic>
        <p:nvPicPr>
          <p:cNvPr id="8" name="Picture 7">
            <a:extLst>
              <a:ext uri="{FF2B5EF4-FFF2-40B4-BE49-F238E27FC236}">
                <a16:creationId xmlns:a16="http://schemas.microsoft.com/office/drawing/2014/main" id="{5D565166-06EC-DC09-D88C-A0F7467F4B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0" y="1910953"/>
            <a:ext cx="5397500" cy="3036094"/>
          </a:xfrm>
          <a:prstGeom prst="rect">
            <a:avLst/>
          </a:prstGeom>
          <a:ln w="12700">
            <a:solidFill>
              <a:srgbClr val="2C7A7B"/>
            </a:solidFill>
          </a:ln>
        </p:spPr>
      </p:pic>
      <p:sp>
        <p:nvSpPr>
          <p:cNvPr id="9" name="TextBox 8">
            <a:extLst>
              <a:ext uri="{FF2B5EF4-FFF2-40B4-BE49-F238E27FC236}">
                <a16:creationId xmlns:a16="http://schemas.microsoft.com/office/drawing/2014/main" id="{B6FC77F9-501D-3303-139B-27A22EEF60C8}"/>
              </a:ext>
            </a:extLst>
          </p:cNvPr>
          <p:cNvSpPr txBox="1"/>
          <p:nvPr/>
        </p:nvSpPr>
        <p:spPr>
          <a:xfrm>
            <a:off x="6286500" y="5435600"/>
            <a:ext cx="5397500" cy="228600"/>
          </a:xfrm>
          <a:prstGeom prst="rect">
            <a:avLst/>
          </a:prstGeom>
          <a:noFill/>
        </p:spPr>
        <p:txBody>
          <a:bodyPr vert="horz" wrap="square" lIns="50800" tIns="25400" rIns="50800" bIns="25400" rtlCol="0">
            <a:noAutofit/>
          </a:bodyPr>
          <a:lstStyle/>
          <a:p>
            <a:pPr algn="ctr"/>
            <a:r>
              <a:rPr lang="en-US" sz="1000">
                <a:solidFill>
                  <a:srgbClr val="8A94A6"/>
                </a:solidFill>
                <a:latin typeface="Consolas" panose="020B0609020204030204" pitchFamily="49" charset="0"/>
              </a:rPr>
              <a:t>NFA ⇄ DFA mode after 'sound · caught': both accept</a:t>
            </a:r>
            <a:endParaRPr lang="en-IN" sz="1000">
              <a:solidFill>
                <a:srgbClr val="8A94A6"/>
              </a:solidFill>
              <a:latin typeface="Consolas" panose="020B0609020204030204" pitchFamily="49" charset="0"/>
            </a:endParaRPr>
          </a:p>
        </p:txBody>
      </p:sp>
    </p:spTree>
    <p:extLst>
      <p:ext uri="{BB962C8B-B14F-4D97-AF65-F5344CB8AC3E}">
        <p14:creationId xmlns:p14="http://schemas.microsoft.com/office/powerpoint/2010/main" val="1558167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96B338-86D4-7F8F-37A9-02730E3FE999}"/>
              </a:ext>
            </a:extLst>
          </p:cNvPr>
          <p:cNvSpPr txBox="1"/>
          <p:nvPr/>
        </p:nvSpPr>
        <p:spPr>
          <a:xfrm>
            <a:off x="457200" y="279400"/>
            <a:ext cx="11277600" cy="558800"/>
          </a:xfrm>
          <a:prstGeom prst="rect">
            <a:avLst/>
          </a:prstGeom>
          <a:noFill/>
        </p:spPr>
        <p:txBody>
          <a:bodyPr vert="horz" wrap="square" lIns="50800" tIns="25400" rIns="50800" bIns="25400" rtlCol="0">
            <a:noAutofit/>
          </a:bodyPr>
          <a:lstStyle/>
          <a:p>
            <a:r>
              <a:rPr lang="en-IN" sz="2600" b="1">
                <a:solidFill>
                  <a:srgbClr val="8A94A6"/>
                </a:solidFill>
                <a:latin typeface="Consolas" panose="020B0609020204030204" pitchFamily="49" charset="0"/>
              </a:rPr>
              <a:t>&gt; </a:t>
            </a:r>
            <a:r>
              <a:rPr lang="en-IN" sz="2600" b="1">
                <a:solidFill>
                  <a:srgbClr val="4FD1C5"/>
                </a:solidFill>
                <a:latin typeface="Consolas" panose="020B0609020204030204" pitchFamily="49" charset="0"/>
              </a:rPr>
              <a:t>NFA-TO-DFA CONVERSION </a:t>
            </a:r>
            <a:r>
              <a:rPr lang="en-IN" sz="2600">
                <a:solidFill>
                  <a:srgbClr val="4FD1C5"/>
                </a:solidFill>
                <a:latin typeface="Consolas" panose="020B0609020204030204" pitchFamily="49" charset="0"/>
              </a:rPr>
              <a:t>▌</a:t>
            </a:r>
          </a:p>
        </p:txBody>
      </p:sp>
      <p:cxnSp>
        <p:nvCxnSpPr>
          <p:cNvPr id="3" name="Straight Connector 2">
            <a:extLst>
              <a:ext uri="{FF2B5EF4-FFF2-40B4-BE49-F238E27FC236}">
                <a16:creationId xmlns:a16="http://schemas.microsoft.com/office/drawing/2014/main" id="{32A20CF7-ED43-0A69-74AA-D2F41437E5DB}"/>
              </a:ext>
            </a:extLst>
          </p:cNvPr>
          <p:cNvCxnSpPr/>
          <p:nvPr/>
        </p:nvCxnSpPr>
        <p:spPr>
          <a:xfrm>
            <a:off x="508000" y="914400"/>
            <a:ext cx="11176000" cy="0"/>
          </a:xfrm>
          <a:prstGeom prst="line">
            <a:avLst/>
          </a:prstGeom>
          <a:ln w="15875">
            <a:solidFill>
              <a:srgbClr val="2C7A7B"/>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67B329E0-9A00-1706-BDEF-3F87186BCD32}"/>
              </a:ext>
            </a:extLst>
          </p:cNvPr>
          <p:cNvSpPr txBox="1"/>
          <p:nvPr/>
        </p:nvSpPr>
        <p:spPr>
          <a:xfrm>
            <a:off x="508000" y="6426200"/>
            <a:ext cx="6604000" cy="228600"/>
          </a:xfrm>
          <a:prstGeom prst="rect">
            <a:avLst/>
          </a:prstGeom>
          <a:noFill/>
        </p:spPr>
        <p:txBody>
          <a:bodyPr vert="horz" wrap="square" lIns="50800" tIns="25400" rIns="50800" bIns="25400" rtlCol="0">
            <a:noAutofit/>
          </a:bodyPr>
          <a:lstStyle/>
          <a:p>
            <a:r>
              <a:rPr lang="en-US" sz="900">
                <a:solidFill>
                  <a:srgbClr val="8A94A6"/>
                </a:solidFill>
                <a:latin typeface="Consolas" panose="020B0609020204030204" pitchFamily="49" charset="0"/>
              </a:rPr>
              <a:t>SHADOW PROTOCOL // THEORY OF COMPUTATION</a:t>
            </a:r>
            <a:endParaRPr lang="en-IN" sz="900">
              <a:solidFill>
                <a:srgbClr val="8A94A6"/>
              </a:solidFill>
              <a:latin typeface="Consolas" panose="020B0609020204030204" pitchFamily="49" charset="0"/>
            </a:endParaRPr>
          </a:p>
        </p:txBody>
      </p:sp>
      <p:sp>
        <p:nvSpPr>
          <p:cNvPr id="5" name="TextBox 4">
            <a:extLst>
              <a:ext uri="{FF2B5EF4-FFF2-40B4-BE49-F238E27FC236}">
                <a16:creationId xmlns:a16="http://schemas.microsoft.com/office/drawing/2014/main" id="{612997A5-0305-173F-1118-0A8B2200EF78}"/>
              </a:ext>
            </a:extLst>
          </p:cNvPr>
          <p:cNvSpPr txBox="1"/>
          <p:nvPr/>
        </p:nvSpPr>
        <p:spPr>
          <a:xfrm>
            <a:off x="9652000" y="6426200"/>
            <a:ext cx="2032000" cy="228600"/>
          </a:xfrm>
          <a:prstGeom prst="rect">
            <a:avLst/>
          </a:prstGeom>
          <a:noFill/>
        </p:spPr>
        <p:txBody>
          <a:bodyPr vert="horz" wrap="square" lIns="50800" tIns="25400" rIns="50800" bIns="25400" rtlCol="0">
            <a:noAutofit/>
          </a:bodyPr>
          <a:lstStyle/>
          <a:p>
            <a:pPr algn="r"/>
            <a:r>
              <a:rPr lang="en-IN" sz="900">
                <a:solidFill>
                  <a:srgbClr val="8A94A6"/>
                </a:solidFill>
                <a:latin typeface="Consolas" panose="020B0609020204030204" pitchFamily="49" charset="0"/>
              </a:rPr>
              <a:t>10 / 13</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FB4E565-A5BB-EAF4-9B26-9996A2CC80EF}"/>
                  </a:ext>
                </a:extLst>
              </p:cNvPr>
              <p:cNvSpPr txBox="1"/>
              <p:nvPr/>
            </p:nvSpPr>
            <p:spPr>
              <a:xfrm>
                <a:off x="508000" y="1219200"/>
                <a:ext cx="5588000" cy="5130800"/>
              </a:xfrm>
              <a:prstGeom prst="rect">
                <a:avLst/>
              </a:prstGeom>
              <a:noFill/>
            </p:spPr>
            <p:txBody>
              <a:bodyPr vert="horz" wrap="square" lIns="50800" tIns="25400" rIns="50800" bIns="25400" rtlCol="0">
                <a:noAutofit/>
              </a:bodyPr>
              <a:lstStyle/>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Subset construction: </a:t>
                </a:r>
                <a14:m>
                  <m:oMath xmlns:m="http://schemas.openxmlformats.org/officeDocument/2006/math">
                    <m:sSub>
                      <m:sSubPr>
                        <m:ctrlPr>
                          <a:rPr lang="en-US" sz="1700">
                            <a:solidFill>
                              <a:srgbClr val="E2E8F0"/>
                            </a:solidFill>
                            <a:latin typeface="Cambria Math" panose="02040503050406030204" pitchFamily="18" charset="0"/>
                          </a:rPr>
                        </m:ctrlPr>
                      </m:sSubPr>
                      <m:e>
                        <m:r>
                          <a:rPr lang="en-US" sz="1700">
                            <a:solidFill>
                              <a:srgbClr val="E2E8F0"/>
                            </a:solidFill>
                            <a:latin typeface="Cambria Math" panose="02040503050406030204" pitchFamily="18" charset="0"/>
                          </a:rPr>
                          <m:t>𝑆</m:t>
                        </m:r>
                      </m:e>
                      <m:sub>
                        <m:r>
                          <a:rPr lang="en-US" sz="1700">
                            <a:solidFill>
                              <a:srgbClr val="E2E8F0"/>
                            </a:solidFill>
                            <a:latin typeface="Cambria Math" panose="02040503050406030204" pitchFamily="18" charset="0"/>
                          </a:rPr>
                          <m:t>0</m:t>
                        </m:r>
                      </m:sub>
                    </m:sSub>
                    <m:r>
                      <a:rPr lang="en-US" sz="1700">
                        <a:solidFill>
                          <a:srgbClr val="E2E8F0"/>
                        </a:solidFill>
                        <a:latin typeface="Cambria Math" panose="02040503050406030204" pitchFamily="18" charset="0"/>
                      </a:rPr>
                      <m:t>=</m:t>
                    </m:r>
                    <m:r>
                      <m:rPr>
                        <m:nor/>
                      </m:rPr>
                      <a:rPr lang="en-US" sz="1700" i="0">
                        <a:solidFill>
                          <a:srgbClr val="E2E8F0"/>
                        </a:solidFill>
                        <a:latin typeface="Cambria Math" panose="02040503050406030204" pitchFamily="18" charset="0"/>
                      </a:rPr>
                      <m:t>ECLOSE</m:t>
                    </m:r>
                    <m:d>
                      <m:dPr>
                        <m:ctrlPr>
                          <a:rPr lang="en-US" sz="1700" i="1">
                            <a:solidFill>
                              <a:srgbClr val="E2E8F0"/>
                            </a:solidFill>
                            <a:latin typeface="Cambria Math" panose="02040503050406030204" pitchFamily="18" charset="0"/>
                          </a:rPr>
                        </m:ctrlPr>
                      </m:dPr>
                      <m:e>
                        <m:sSub>
                          <m:sSubPr>
                            <m:ctrlPr>
                              <a:rPr lang="en-US" sz="1700">
                                <a:solidFill>
                                  <a:srgbClr val="E2E8F0"/>
                                </a:solidFill>
                                <a:latin typeface="Cambria Math" panose="02040503050406030204" pitchFamily="18" charset="0"/>
                              </a:rPr>
                            </m:ctrlPr>
                          </m:sSubPr>
                          <m:e>
                            <m:r>
                              <a:rPr lang="en-US" sz="1700">
                                <a:solidFill>
                                  <a:srgbClr val="E2E8F0"/>
                                </a:solidFill>
                                <a:latin typeface="Cambria Math" panose="02040503050406030204" pitchFamily="18" charset="0"/>
                              </a:rPr>
                              <m:t>𝑞</m:t>
                            </m:r>
                          </m:e>
                          <m:sub>
                            <m:r>
                              <a:rPr lang="en-US" sz="1700">
                                <a:solidFill>
                                  <a:srgbClr val="E2E8F0"/>
                                </a:solidFill>
                                <a:latin typeface="Cambria Math" panose="02040503050406030204" pitchFamily="18" charset="0"/>
                              </a:rPr>
                              <m:t>0</m:t>
                            </m:r>
                          </m:sub>
                        </m:sSub>
                      </m:e>
                    </m:d>
                  </m:oMath>
                </a14:m>
                <a:r>
                  <a:rPr lang="en-US" sz="1700">
                    <a:solidFill>
                      <a:srgbClr val="E2E8F0"/>
                    </a:solidFill>
                    <a:latin typeface="Segoe UI" panose="020B0502040204020203" pitchFamily="34" charset="0"/>
                  </a:rPr>
                  <a:t>, </a:t>
                </a:r>
                <a14:m>
                  <m:oMath xmlns:m="http://schemas.openxmlformats.org/officeDocument/2006/math">
                    <m:sSub>
                      <m:sSubPr>
                        <m:ctrlPr>
                          <a:rPr lang="en-US" sz="1700">
                            <a:solidFill>
                              <a:srgbClr val="E2E8F0"/>
                            </a:solidFill>
                            <a:latin typeface="Cambria Math" panose="02040503050406030204" pitchFamily="18" charset="0"/>
                          </a:rPr>
                        </m:ctrlPr>
                      </m:sSubPr>
                      <m:e>
                        <m:r>
                          <a:rPr lang="en-US" sz="1700">
                            <a:solidFill>
                              <a:srgbClr val="E2E8F0"/>
                            </a:solidFill>
                            <a:latin typeface="Cambria Math" panose="02040503050406030204" pitchFamily="18" charset="0"/>
                          </a:rPr>
                          <m:t>𝛿</m:t>
                        </m:r>
                      </m:e>
                      <m:sub>
                        <m:r>
                          <a:rPr lang="en-US" sz="1700">
                            <a:solidFill>
                              <a:srgbClr val="E2E8F0"/>
                            </a:solidFill>
                            <a:latin typeface="Cambria Math" panose="02040503050406030204" pitchFamily="18" charset="0"/>
                          </a:rPr>
                          <m:t>𝐷</m:t>
                        </m:r>
                      </m:sub>
                    </m:sSub>
                    <m:d>
                      <m:dPr>
                        <m:ctrlPr>
                          <a:rPr lang="en-US" sz="1700">
                            <a:solidFill>
                              <a:srgbClr val="E2E8F0"/>
                            </a:solidFill>
                            <a:latin typeface="Cambria Math" panose="02040503050406030204" pitchFamily="18" charset="0"/>
                          </a:rPr>
                        </m:ctrlPr>
                      </m:dPr>
                      <m:e>
                        <m:r>
                          <a:rPr lang="en-US" sz="1700">
                            <a:solidFill>
                              <a:srgbClr val="E2E8F0"/>
                            </a:solidFill>
                            <a:latin typeface="Cambria Math" panose="02040503050406030204" pitchFamily="18" charset="0"/>
                          </a:rPr>
                          <m:t>𝑆</m:t>
                        </m:r>
                        <m:r>
                          <a:rPr lang="en-US" sz="1700">
                            <a:solidFill>
                              <a:srgbClr val="E2E8F0"/>
                            </a:solidFill>
                            <a:latin typeface="Cambria Math" panose="02040503050406030204" pitchFamily="18" charset="0"/>
                          </a:rPr>
                          <m:t>,</m:t>
                        </m:r>
                        <m:r>
                          <a:rPr lang="en-US" sz="1700">
                            <a:solidFill>
                              <a:srgbClr val="E2E8F0"/>
                            </a:solidFill>
                            <a:latin typeface="Cambria Math" panose="02040503050406030204" pitchFamily="18" charset="0"/>
                          </a:rPr>
                          <m:t>𝑎</m:t>
                        </m:r>
                      </m:e>
                    </m:d>
                    <m:r>
                      <a:rPr lang="en-US" sz="1700">
                        <a:solidFill>
                          <a:srgbClr val="E2E8F0"/>
                        </a:solidFill>
                        <a:latin typeface="Cambria Math" panose="02040503050406030204" pitchFamily="18" charset="0"/>
                      </a:rPr>
                      <m:t>=</m:t>
                    </m:r>
                    <m:r>
                      <m:rPr>
                        <m:nor/>
                      </m:rPr>
                      <a:rPr lang="en-US" sz="1700" i="0">
                        <a:solidFill>
                          <a:srgbClr val="E2E8F0"/>
                        </a:solidFill>
                        <a:latin typeface="Cambria Math" panose="02040503050406030204" pitchFamily="18" charset="0"/>
                      </a:rPr>
                      <m:t>ECLOSE</m:t>
                    </m:r>
                    <m:d>
                      <m:dPr>
                        <m:ctrlPr>
                          <a:rPr lang="en-US" sz="1700" i="1">
                            <a:solidFill>
                              <a:srgbClr val="E2E8F0"/>
                            </a:solidFill>
                            <a:latin typeface="Cambria Math" panose="02040503050406030204" pitchFamily="18" charset="0"/>
                          </a:rPr>
                        </m:ctrlPr>
                      </m:dPr>
                      <m:e>
                        <m:nary>
                          <m:naryPr>
                            <m:chr m:val="⋃"/>
                            <m:supHide m:val="on"/>
                            <m:ctrlPr>
                              <a:rPr lang="en-US" sz="1700">
                                <a:solidFill>
                                  <a:srgbClr val="E2E8F0"/>
                                </a:solidFill>
                                <a:latin typeface="Cambria Math" panose="02040503050406030204" pitchFamily="18" charset="0"/>
                              </a:rPr>
                            </m:ctrlPr>
                          </m:naryPr>
                          <m:sub>
                            <m:r>
                              <a:rPr lang="en-US" sz="1700">
                                <a:solidFill>
                                  <a:srgbClr val="E2E8F0"/>
                                </a:solidFill>
                                <a:latin typeface="Cambria Math" panose="02040503050406030204" pitchFamily="18" charset="0"/>
                              </a:rPr>
                              <m:t>𝑞</m:t>
                            </m:r>
                            <m:r>
                              <a:rPr lang="en-US" sz="1700">
                                <a:solidFill>
                                  <a:srgbClr val="E2E8F0"/>
                                </a:solidFill>
                                <a:latin typeface="Cambria Math" panose="02040503050406030204" pitchFamily="18" charset="0"/>
                              </a:rPr>
                              <m:t>∈</m:t>
                            </m:r>
                            <m:r>
                              <a:rPr lang="en-US" sz="1700">
                                <a:solidFill>
                                  <a:srgbClr val="E2E8F0"/>
                                </a:solidFill>
                                <a:latin typeface="Cambria Math" panose="02040503050406030204" pitchFamily="18" charset="0"/>
                              </a:rPr>
                              <m:t>𝑆</m:t>
                            </m:r>
                          </m:sub>
                          <m:sup/>
                          <m:e>
                            <m:sSub>
                              <m:sSubPr>
                                <m:ctrlPr>
                                  <a:rPr lang="en-US" sz="1700">
                                    <a:solidFill>
                                      <a:srgbClr val="E2E8F0"/>
                                    </a:solidFill>
                                    <a:latin typeface="Cambria Math" panose="02040503050406030204" pitchFamily="18" charset="0"/>
                                  </a:rPr>
                                </m:ctrlPr>
                              </m:sSubPr>
                              <m:e>
                                <m:r>
                                  <a:rPr lang="en-US" sz="1700">
                                    <a:solidFill>
                                      <a:srgbClr val="E2E8F0"/>
                                    </a:solidFill>
                                    <a:latin typeface="Cambria Math" panose="02040503050406030204" pitchFamily="18" charset="0"/>
                                  </a:rPr>
                                  <m:t>𝛿</m:t>
                                </m:r>
                              </m:e>
                              <m:sub>
                                <m:r>
                                  <a:rPr lang="en-US" sz="1700">
                                    <a:solidFill>
                                      <a:srgbClr val="E2E8F0"/>
                                    </a:solidFill>
                                    <a:latin typeface="Cambria Math" panose="02040503050406030204" pitchFamily="18" charset="0"/>
                                  </a:rPr>
                                  <m:t>𝑁</m:t>
                                </m:r>
                              </m:sub>
                            </m:sSub>
                            <m:d>
                              <m:dPr>
                                <m:ctrlPr>
                                  <a:rPr lang="en-US" sz="1700">
                                    <a:solidFill>
                                      <a:srgbClr val="E2E8F0"/>
                                    </a:solidFill>
                                    <a:latin typeface="Cambria Math" panose="02040503050406030204" pitchFamily="18" charset="0"/>
                                  </a:rPr>
                                </m:ctrlPr>
                              </m:dPr>
                              <m:e>
                                <m:r>
                                  <a:rPr lang="en-US" sz="1700">
                                    <a:solidFill>
                                      <a:srgbClr val="E2E8F0"/>
                                    </a:solidFill>
                                    <a:latin typeface="Cambria Math" panose="02040503050406030204" pitchFamily="18" charset="0"/>
                                  </a:rPr>
                                  <m:t>𝑞</m:t>
                                </m:r>
                                <m:r>
                                  <a:rPr lang="en-US" sz="1700">
                                    <a:solidFill>
                                      <a:srgbClr val="E2E8F0"/>
                                    </a:solidFill>
                                    <a:latin typeface="Cambria Math" panose="02040503050406030204" pitchFamily="18" charset="0"/>
                                  </a:rPr>
                                  <m:t>,</m:t>
                                </m:r>
                                <m:r>
                                  <a:rPr lang="en-US" sz="1700">
                                    <a:solidFill>
                                      <a:srgbClr val="E2E8F0"/>
                                    </a:solidFill>
                                    <a:latin typeface="Cambria Math" panose="02040503050406030204" pitchFamily="18" charset="0"/>
                                  </a:rPr>
                                  <m:t>𝑎</m:t>
                                </m:r>
                              </m:e>
                            </m:d>
                          </m:e>
                        </m:nary>
                      </m:e>
                    </m:d>
                  </m:oMath>
                </a14:m>
                <a:r>
                  <a:rPr lang="en-US" sz="1700">
                    <a:solidFill>
                      <a:srgbClr val="E2E8F0"/>
                    </a:solidFill>
                    <a:latin typeface="Segoe UI" panose="020B0502040204020203" pitchFamily="34" charset="0"/>
                  </a:rPr>
                  <a:t>, </a:t>
                </a:r>
                <a14:m>
                  <m:oMath xmlns:m="http://schemas.openxmlformats.org/officeDocument/2006/math">
                    <m:sSub>
                      <m:sSubPr>
                        <m:ctrlPr>
                          <a:rPr lang="en-US" sz="1700">
                            <a:solidFill>
                              <a:srgbClr val="E2E8F0"/>
                            </a:solidFill>
                            <a:latin typeface="Cambria Math" panose="02040503050406030204" pitchFamily="18" charset="0"/>
                          </a:rPr>
                        </m:ctrlPr>
                      </m:sSubPr>
                      <m:e>
                        <m:r>
                          <a:rPr lang="en-US" sz="1700">
                            <a:solidFill>
                              <a:srgbClr val="E2E8F0"/>
                            </a:solidFill>
                            <a:latin typeface="Cambria Math" panose="02040503050406030204" pitchFamily="18" charset="0"/>
                          </a:rPr>
                          <m:t>𝐹</m:t>
                        </m:r>
                      </m:e>
                      <m:sub>
                        <m:r>
                          <a:rPr lang="en-US" sz="1700">
                            <a:solidFill>
                              <a:srgbClr val="E2E8F0"/>
                            </a:solidFill>
                            <a:latin typeface="Cambria Math" panose="02040503050406030204" pitchFamily="18" charset="0"/>
                          </a:rPr>
                          <m:t>𝐷</m:t>
                        </m:r>
                      </m:sub>
                    </m:sSub>
                    <m:r>
                      <a:rPr lang="en-US" sz="1700">
                        <a:solidFill>
                          <a:srgbClr val="E2E8F0"/>
                        </a:solidFill>
                        <a:latin typeface="Cambria Math" panose="02040503050406030204" pitchFamily="18" charset="0"/>
                      </a:rPr>
                      <m:t>=</m:t>
                    </m:r>
                    <m:d>
                      <m:dPr>
                        <m:begChr m:val="{"/>
                        <m:endChr m:val="}"/>
                        <m:sepChr m:val="∣"/>
                        <m:ctrlPr>
                          <a:rPr lang="en-US" sz="1700">
                            <a:solidFill>
                              <a:srgbClr val="E2E8F0"/>
                            </a:solidFill>
                            <a:latin typeface="Cambria Math" panose="02040503050406030204" pitchFamily="18" charset="0"/>
                          </a:rPr>
                        </m:ctrlPr>
                      </m:dPr>
                      <m:e>
                        <m:r>
                          <a:rPr lang="en-US" sz="1700">
                            <a:solidFill>
                              <a:srgbClr val="E2E8F0"/>
                            </a:solidFill>
                            <a:latin typeface="Cambria Math" panose="02040503050406030204" pitchFamily="18" charset="0"/>
                          </a:rPr>
                          <m:t>𝑆</m:t>
                        </m:r>
                      </m:e>
                      <m:e>
                        <m:r>
                          <a:rPr lang="en-US" sz="1700">
                            <a:solidFill>
                              <a:srgbClr val="E2E8F0"/>
                            </a:solidFill>
                            <a:latin typeface="Cambria Math" panose="02040503050406030204" pitchFamily="18" charset="0"/>
                          </a:rPr>
                          <m:t>𝑆</m:t>
                        </m:r>
                        <m:r>
                          <a:rPr lang="en-US" sz="1700">
                            <a:solidFill>
                              <a:srgbClr val="E2E8F0"/>
                            </a:solidFill>
                            <a:latin typeface="Cambria Math" panose="02040503050406030204" pitchFamily="18" charset="0"/>
                          </a:rPr>
                          <m:t>∩</m:t>
                        </m:r>
                        <m:sSub>
                          <m:sSubPr>
                            <m:ctrlPr>
                              <a:rPr lang="en-US" sz="1700">
                                <a:solidFill>
                                  <a:srgbClr val="E2E8F0"/>
                                </a:solidFill>
                                <a:latin typeface="Cambria Math" panose="02040503050406030204" pitchFamily="18" charset="0"/>
                              </a:rPr>
                            </m:ctrlPr>
                          </m:sSubPr>
                          <m:e>
                            <m:r>
                              <a:rPr lang="en-US" sz="1700">
                                <a:solidFill>
                                  <a:srgbClr val="E2E8F0"/>
                                </a:solidFill>
                                <a:latin typeface="Cambria Math" panose="02040503050406030204" pitchFamily="18" charset="0"/>
                              </a:rPr>
                              <m:t>𝐹</m:t>
                            </m:r>
                          </m:e>
                          <m:sub>
                            <m:r>
                              <a:rPr lang="en-US" sz="1700">
                                <a:solidFill>
                                  <a:srgbClr val="E2E8F0"/>
                                </a:solidFill>
                                <a:latin typeface="Cambria Math" panose="02040503050406030204" pitchFamily="18" charset="0"/>
                              </a:rPr>
                              <m:t>𝑁</m:t>
                            </m:r>
                          </m:sub>
                        </m:sSub>
                        <m:r>
                          <a:rPr lang="en-US" sz="1700">
                            <a:solidFill>
                              <a:srgbClr val="E2E8F0"/>
                            </a:solidFill>
                            <a:latin typeface="Cambria Math" panose="02040503050406030204" pitchFamily="18" charset="0"/>
                          </a:rPr>
                          <m:t>≠∅</m:t>
                        </m:r>
                      </m:e>
                    </m:d>
                  </m:oMath>
                </a14:m>
                <a:endParaRPr lang="en-US" sz="1700">
                  <a:solidFill>
                    <a:srgbClr val="E2E8F0"/>
                  </a:solidFill>
                  <a:latin typeface="Segoe UI" panose="020B0502040204020203" pitchFamily="34" charset="0"/>
                </a:endParaRP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Only </a:t>
                </a:r>
                <a:r>
                  <a:rPr lang="en-US" sz="1700" b="1">
                    <a:solidFill>
                      <a:srgbClr val="FFFFFF"/>
                    </a:solidFill>
                    <a:latin typeface="Segoe UI" panose="020B0502040204020203" pitchFamily="34" charset="0"/>
                  </a:rPr>
                  <a:t>reachable</a:t>
                </a:r>
                <a:r>
                  <a:rPr lang="en-US" sz="1700">
                    <a:solidFill>
                      <a:srgbClr val="E2E8F0"/>
                    </a:solidFill>
                    <a:latin typeface="Segoe UI" panose="020B0502040204020203" pitchFamily="34" charset="0"/>
                  </a:rPr>
                  <a:t> subsets, breadth-first worklist; ∅ becomes a trap state</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"Ends in 01": 3 of 8 subsets · guard NFA: 7 of 32 · "3rd from end is 1": 4 → 8 (proven minimal)</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Invariant checked live: DFA state = the NFA's active set</a:t>
                </a:r>
                <a:endParaRPr lang="en-IN" sz="1700">
                  <a:solidFill>
                    <a:srgbClr val="E2E8F0"/>
                  </a:solidFill>
                  <a:latin typeface="Segoe UI" panose="020B0502040204020203" pitchFamily="34" charset="0"/>
                </a:endParaRPr>
              </a:p>
            </p:txBody>
          </p:sp>
        </mc:Choice>
        <mc:Fallback xmlns="">
          <p:sp>
            <p:nvSpPr>
              <p:cNvPr id="6" name="TextBox 5">
                <a:extLst>
                  <a:ext uri="{FF2B5EF4-FFF2-40B4-BE49-F238E27FC236}">
                    <a16:creationId xmlns:a16="http://schemas.microsoft.com/office/drawing/2014/main" id="{0FB4E565-A5BB-EAF4-9B26-9996A2CC80EF}"/>
                  </a:ext>
                </a:extLst>
              </p:cNvPr>
              <p:cNvSpPr txBox="1"/>
              <p:nvPr/>
            </p:nvSpPr>
            <p:spPr>
              <a:xfrm>
                <a:off x="508000" y="1219200"/>
                <a:ext cx="5588000" cy="5130800"/>
              </a:xfrm>
              <a:prstGeom prst="rect">
                <a:avLst/>
              </a:prstGeom>
              <a:noFill/>
            </p:spPr>
            <p:txBody>
              <a:bodyPr vert="horz" wrap="square" lIns="50800" tIns="25400" rIns="50800" bIns="25400" rtlCol="0">
                <a:noAutofit/>
              </a:bodyPr>
              <a:lstStyle/>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Subset construction: </a:t>
                </a:r>
                <a:r>
                  <a:rPr lang="en-US" sz="1700">
                    <a:solidFill>
                      <a:srgbClr val="E2E8F0"/>
                    </a:solidFill>
                    <a:latin typeface="Cambria Math" panose="02040503050406030204" pitchFamily="18" charset="0"/>
                  </a:rPr>
                  <a:t>S0 = ECLOSE(q0)</a:t>
                </a:r>
                <a:r>
                  <a:rPr lang="en-US" sz="1700">
                    <a:solidFill>
                      <a:srgbClr val="E2E8F0"/>
                    </a:solidFill>
                    <a:latin typeface="Segoe UI" panose="020B0502040204020203" pitchFamily="34" charset="0"/>
                  </a:rPr>
                  <a:t>, </a:t>
                </a:r>
                <a:r>
                  <a:rPr lang="en-US" sz="1700">
                    <a:solidFill>
                      <a:srgbClr val="E2E8F0"/>
                    </a:solidFill>
                    <a:latin typeface="Cambria Math" panose="02040503050406030204" pitchFamily="18" charset="0"/>
                  </a:rPr>
                  <a:t>δD(S, a) = ECLOSE(⋃q∈SδN(q, a))</a:t>
                </a:r>
                <a:r>
                  <a:rPr lang="en-US" sz="1700">
                    <a:solidFill>
                      <a:srgbClr val="E2E8F0"/>
                    </a:solidFill>
                    <a:latin typeface="Segoe UI" panose="020B0502040204020203" pitchFamily="34" charset="0"/>
                  </a:rPr>
                  <a:t>, </a:t>
                </a:r>
                <a:r>
                  <a:rPr lang="en-US" sz="1700">
                    <a:solidFill>
                      <a:srgbClr val="E2E8F0"/>
                    </a:solidFill>
                    <a:latin typeface="Cambria Math" panose="02040503050406030204" pitchFamily="18" charset="0"/>
                  </a:rPr>
                  <a:t>FD = {S ∣ S ∩ FN ≠ ∅}</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Only </a:t>
                </a:r>
                <a:r>
                  <a:rPr lang="en-US" sz="1700" b="1">
                    <a:solidFill>
                      <a:srgbClr val="FFFFFF"/>
                    </a:solidFill>
                    <a:latin typeface="Segoe UI" panose="020B0502040204020203" pitchFamily="34" charset="0"/>
                  </a:rPr>
                  <a:t>reachable</a:t>
                </a:r>
                <a:r>
                  <a:rPr lang="en-US" sz="1700">
                    <a:solidFill>
                      <a:srgbClr val="E2E8F0"/>
                    </a:solidFill>
                    <a:latin typeface="Segoe UI" panose="020B0502040204020203" pitchFamily="34" charset="0"/>
                  </a:rPr>
                  <a:t> subsets, breadth-first worklist; ∅ becomes a trap state</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"Ends in 01": 3 of 8 subsets · guard NFA: 7 of 32 · "3rd from end is 1": 4 → 8 (proven minimal)</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Invariant checked live: DFA state = the NFA's active set</a:t>
                </a:r>
                <a:endParaRPr lang="en-IN" sz="1700">
                  <a:solidFill>
                    <a:srgbClr val="E2E8F0"/>
                  </a:solidFill>
                  <a:latin typeface="Segoe UI" panose="020B0502040204020203" pitchFamily="34" charset="0"/>
                </a:endParaRPr>
              </a:p>
            </p:txBody>
          </p:sp>
        </mc:Fallback>
      </mc:AlternateContent>
      <p:pic>
        <p:nvPicPr>
          <p:cNvPr id="8" name="Picture 7">
            <a:extLst>
              <a:ext uri="{FF2B5EF4-FFF2-40B4-BE49-F238E27FC236}">
                <a16:creationId xmlns:a16="http://schemas.microsoft.com/office/drawing/2014/main" id="{12AAB882-F95C-035B-12BD-752C23FB14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8760" y="1117600"/>
            <a:ext cx="2892980" cy="1905000"/>
          </a:xfrm>
          <a:prstGeom prst="rect">
            <a:avLst/>
          </a:prstGeom>
        </p:spPr>
      </p:pic>
      <p:sp>
        <p:nvSpPr>
          <p:cNvPr id="9" name="TextBox 8">
            <a:extLst>
              <a:ext uri="{FF2B5EF4-FFF2-40B4-BE49-F238E27FC236}">
                <a16:creationId xmlns:a16="http://schemas.microsoft.com/office/drawing/2014/main" id="{1E4CA1BC-0714-39F8-BB5F-E9050B014509}"/>
              </a:ext>
            </a:extLst>
          </p:cNvPr>
          <p:cNvSpPr txBox="1"/>
          <p:nvPr/>
        </p:nvSpPr>
        <p:spPr>
          <a:xfrm>
            <a:off x="6286500" y="3048000"/>
            <a:ext cx="5397500" cy="228600"/>
          </a:xfrm>
          <a:prstGeom prst="rect">
            <a:avLst/>
          </a:prstGeom>
          <a:noFill/>
        </p:spPr>
        <p:txBody>
          <a:bodyPr vert="horz" wrap="square" lIns="50800" tIns="25400" rIns="50800" bIns="25400" rtlCol="0">
            <a:noAutofit/>
          </a:bodyPr>
          <a:lstStyle/>
          <a:p>
            <a:pPr algn="ctr"/>
            <a:r>
              <a:rPr lang="en-US" sz="1000">
                <a:solidFill>
                  <a:srgbClr val="8A94A6"/>
                </a:solidFill>
                <a:latin typeface="Consolas" panose="020B0609020204030204" pitchFamily="49" charset="0"/>
              </a:rPr>
              <a:t>subset DFA of 'ends in 01': 3 states</a:t>
            </a:r>
            <a:endParaRPr lang="en-IN" sz="1000">
              <a:solidFill>
                <a:srgbClr val="8A94A6"/>
              </a:solidFill>
              <a:latin typeface="Consolas" panose="020B0609020204030204" pitchFamily="49" charset="0"/>
            </a:endParaRPr>
          </a:p>
        </p:txBody>
      </p:sp>
      <p:pic>
        <p:nvPicPr>
          <p:cNvPr id="11" name="Picture 10">
            <a:extLst>
              <a:ext uri="{FF2B5EF4-FFF2-40B4-BE49-F238E27FC236}">
                <a16:creationId xmlns:a16="http://schemas.microsoft.com/office/drawing/2014/main" id="{FEB2CAFB-4114-A733-D66B-BB6D89CB64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1695" y="3352800"/>
            <a:ext cx="4967111" cy="2794000"/>
          </a:xfrm>
          <a:prstGeom prst="rect">
            <a:avLst/>
          </a:prstGeom>
          <a:ln w="12700">
            <a:solidFill>
              <a:srgbClr val="2C7A7B"/>
            </a:solidFill>
          </a:ln>
        </p:spPr>
      </p:pic>
      <p:sp>
        <p:nvSpPr>
          <p:cNvPr id="12" name="TextBox 11">
            <a:extLst>
              <a:ext uri="{FF2B5EF4-FFF2-40B4-BE49-F238E27FC236}">
                <a16:creationId xmlns:a16="http://schemas.microsoft.com/office/drawing/2014/main" id="{EB936513-15ED-93A3-C610-E78F51714D83}"/>
              </a:ext>
            </a:extLst>
          </p:cNvPr>
          <p:cNvSpPr txBox="1"/>
          <p:nvPr/>
        </p:nvSpPr>
        <p:spPr>
          <a:xfrm>
            <a:off x="6286500" y="6197600"/>
            <a:ext cx="5397500" cy="228600"/>
          </a:xfrm>
          <a:prstGeom prst="rect">
            <a:avLst/>
          </a:prstGeom>
          <a:noFill/>
        </p:spPr>
        <p:txBody>
          <a:bodyPr vert="horz" wrap="square" lIns="50800" tIns="25400" rIns="50800" bIns="25400" rtlCol="0">
            <a:noAutofit/>
          </a:bodyPr>
          <a:lstStyle/>
          <a:p>
            <a:pPr algn="ctr"/>
            <a:r>
              <a:rPr lang="en-US" sz="1000">
                <a:solidFill>
                  <a:srgbClr val="8A94A6"/>
                </a:solidFill>
                <a:latin typeface="Consolas" panose="020B0609020204030204" pitchFamily="49" charset="0"/>
              </a:rPr>
              <a:t>Lab: guard NFA converted to 7 DFA states</a:t>
            </a:r>
            <a:endParaRPr lang="en-IN" sz="1000">
              <a:solidFill>
                <a:srgbClr val="8A94A6"/>
              </a:solidFill>
              <a:latin typeface="Consolas" panose="020B0609020204030204" pitchFamily="49" charset="0"/>
            </a:endParaRPr>
          </a:p>
        </p:txBody>
      </p:sp>
    </p:spTree>
    <p:extLst>
      <p:ext uri="{BB962C8B-B14F-4D97-AF65-F5344CB8AC3E}">
        <p14:creationId xmlns:p14="http://schemas.microsoft.com/office/powerpoint/2010/main" val="290166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8F712C-2B70-247D-CED9-0C120A8E8818}"/>
              </a:ext>
            </a:extLst>
          </p:cNvPr>
          <p:cNvSpPr txBox="1"/>
          <p:nvPr/>
        </p:nvSpPr>
        <p:spPr>
          <a:xfrm>
            <a:off x="457200" y="279400"/>
            <a:ext cx="11277600" cy="558800"/>
          </a:xfrm>
          <a:prstGeom prst="rect">
            <a:avLst/>
          </a:prstGeom>
          <a:noFill/>
        </p:spPr>
        <p:txBody>
          <a:bodyPr vert="horz" wrap="square" lIns="50800" tIns="25400" rIns="50800" bIns="25400" rtlCol="0">
            <a:noAutofit/>
          </a:bodyPr>
          <a:lstStyle/>
          <a:p>
            <a:r>
              <a:rPr lang="en-IN" sz="2600" b="1">
                <a:solidFill>
                  <a:srgbClr val="8A94A6"/>
                </a:solidFill>
                <a:latin typeface="Consolas" panose="020B0609020204030204" pitchFamily="49" charset="0"/>
              </a:rPr>
              <a:t>&gt; </a:t>
            </a:r>
            <a:r>
              <a:rPr lang="en-IN" sz="2600" b="1">
                <a:solidFill>
                  <a:srgbClr val="4FD1C5"/>
                </a:solidFill>
                <a:latin typeface="Consolas" panose="020B0609020204030204" pitchFamily="49" charset="0"/>
              </a:rPr>
              <a:t>INTERACTIVE AUTOMATA LAB </a:t>
            </a:r>
            <a:r>
              <a:rPr lang="en-IN" sz="2600">
                <a:solidFill>
                  <a:srgbClr val="4FD1C5"/>
                </a:solidFill>
                <a:latin typeface="Consolas" panose="020B0609020204030204" pitchFamily="49" charset="0"/>
              </a:rPr>
              <a:t>▌</a:t>
            </a:r>
          </a:p>
        </p:txBody>
      </p:sp>
      <p:cxnSp>
        <p:nvCxnSpPr>
          <p:cNvPr id="3" name="Straight Connector 2">
            <a:extLst>
              <a:ext uri="{FF2B5EF4-FFF2-40B4-BE49-F238E27FC236}">
                <a16:creationId xmlns:a16="http://schemas.microsoft.com/office/drawing/2014/main" id="{8E1AF2CE-FBB5-6E76-9BA7-BDDF7CF12B83}"/>
              </a:ext>
            </a:extLst>
          </p:cNvPr>
          <p:cNvCxnSpPr/>
          <p:nvPr/>
        </p:nvCxnSpPr>
        <p:spPr>
          <a:xfrm>
            <a:off x="508000" y="914400"/>
            <a:ext cx="11176000" cy="0"/>
          </a:xfrm>
          <a:prstGeom prst="line">
            <a:avLst/>
          </a:prstGeom>
          <a:ln w="15875">
            <a:solidFill>
              <a:srgbClr val="2C7A7B"/>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738B06D5-4264-B160-E9AE-976C3564543C}"/>
              </a:ext>
            </a:extLst>
          </p:cNvPr>
          <p:cNvSpPr txBox="1"/>
          <p:nvPr/>
        </p:nvSpPr>
        <p:spPr>
          <a:xfrm>
            <a:off x="508000" y="6426200"/>
            <a:ext cx="6604000" cy="228600"/>
          </a:xfrm>
          <a:prstGeom prst="rect">
            <a:avLst/>
          </a:prstGeom>
          <a:noFill/>
        </p:spPr>
        <p:txBody>
          <a:bodyPr vert="horz" wrap="square" lIns="50800" tIns="25400" rIns="50800" bIns="25400" rtlCol="0">
            <a:noAutofit/>
          </a:bodyPr>
          <a:lstStyle/>
          <a:p>
            <a:r>
              <a:rPr lang="en-US" sz="900">
                <a:solidFill>
                  <a:srgbClr val="8A94A6"/>
                </a:solidFill>
                <a:latin typeface="Consolas" panose="020B0609020204030204" pitchFamily="49" charset="0"/>
              </a:rPr>
              <a:t>SHADOW PROTOCOL // THEORY OF COMPUTATION</a:t>
            </a:r>
            <a:endParaRPr lang="en-IN" sz="900">
              <a:solidFill>
                <a:srgbClr val="8A94A6"/>
              </a:solidFill>
              <a:latin typeface="Consolas" panose="020B0609020204030204" pitchFamily="49" charset="0"/>
            </a:endParaRPr>
          </a:p>
        </p:txBody>
      </p:sp>
      <p:sp>
        <p:nvSpPr>
          <p:cNvPr id="5" name="TextBox 4">
            <a:extLst>
              <a:ext uri="{FF2B5EF4-FFF2-40B4-BE49-F238E27FC236}">
                <a16:creationId xmlns:a16="http://schemas.microsoft.com/office/drawing/2014/main" id="{88CB33E5-4ACA-1BB6-A1EA-A13947E3D009}"/>
              </a:ext>
            </a:extLst>
          </p:cNvPr>
          <p:cNvSpPr txBox="1"/>
          <p:nvPr/>
        </p:nvSpPr>
        <p:spPr>
          <a:xfrm>
            <a:off x="9652000" y="6426200"/>
            <a:ext cx="2032000" cy="228600"/>
          </a:xfrm>
          <a:prstGeom prst="rect">
            <a:avLst/>
          </a:prstGeom>
          <a:noFill/>
        </p:spPr>
        <p:txBody>
          <a:bodyPr vert="horz" wrap="square" lIns="50800" tIns="25400" rIns="50800" bIns="25400" rtlCol="0">
            <a:noAutofit/>
          </a:bodyPr>
          <a:lstStyle/>
          <a:p>
            <a:pPr algn="r"/>
            <a:r>
              <a:rPr lang="en-IN" sz="900">
                <a:solidFill>
                  <a:srgbClr val="8A94A6"/>
                </a:solidFill>
                <a:latin typeface="Consolas" panose="020B0609020204030204" pitchFamily="49" charset="0"/>
              </a:rPr>
              <a:t>11 / 13</a:t>
            </a:r>
          </a:p>
        </p:txBody>
      </p:sp>
      <p:sp>
        <p:nvSpPr>
          <p:cNvPr id="6" name="TextBox 5">
            <a:extLst>
              <a:ext uri="{FF2B5EF4-FFF2-40B4-BE49-F238E27FC236}">
                <a16:creationId xmlns:a16="http://schemas.microsoft.com/office/drawing/2014/main" id="{F39B0A41-4BE5-17D8-D488-5790CA3F3774}"/>
              </a:ext>
            </a:extLst>
          </p:cNvPr>
          <p:cNvSpPr txBox="1"/>
          <p:nvPr/>
        </p:nvSpPr>
        <p:spPr>
          <a:xfrm>
            <a:off x="508000" y="1219200"/>
            <a:ext cx="5588000" cy="5130800"/>
          </a:xfrm>
          <a:prstGeom prst="rect">
            <a:avLst/>
          </a:prstGeom>
          <a:noFill/>
        </p:spPr>
        <p:txBody>
          <a:bodyPr vert="horz" wrap="square" lIns="50800" tIns="25400" rIns="50800" bIns="25400" rtlCol="0">
            <a:noAutofit/>
          </a:bodyPr>
          <a:lstStyle/>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Editor: states, Σ, transitions, q₀, F, DFA/NFA, ε-edges; drag and connect on the graph</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Validation by the engine, with problems highlighted on the graph</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Simulator: Step / Run, active state or set, trace, verdict</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NFA → DFA conversion with an equivalence check</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Nine presets · JSON save/load · undo</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Tutorial: 7 modules, 18 pages; 4 challenges solved in the Lab</a:t>
            </a:r>
            <a:endParaRPr lang="en-IN" sz="1700">
              <a:solidFill>
                <a:srgbClr val="E2E8F0"/>
              </a:solidFill>
              <a:latin typeface="Segoe UI" panose="020B0502040204020203" pitchFamily="34" charset="0"/>
            </a:endParaRPr>
          </a:p>
        </p:txBody>
      </p:sp>
      <p:pic>
        <p:nvPicPr>
          <p:cNvPr id="8" name="Picture 7">
            <a:extLst>
              <a:ext uri="{FF2B5EF4-FFF2-40B4-BE49-F238E27FC236}">
                <a16:creationId xmlns:a16="http://schemas.microsoft.com/office/drawing/2014/main" id="{F3B0503A-4BE3-8156-6852-AD52A91ECC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2628" y="1092200"/>
            <a:ext cx="4425245" cy="2489200"/>
          </a:xfrm>
          <a:prstGeom prst="rect">
            <a:avLst/>
          </a:prstGeom>
          <a:ln w="12700">
            <a:solidFill>
              <a:srgbClr val="2C7A7B"/>
            </a:solidFill>
          </a:ln>
        </p:spPr>
      </p:pic>
      <p:pic>
        <p:nvPicPr>
          <p:cNvPr id="10" name="Picture 9">
            <a:extLst>
              <a:ext uri="{FF2B5EF4-FFF2-40B4-BE49-F238E27FC236}">
                <a16:creationId xmlns:a16="http://schemas.microsoft.com/office/drawing/2014/main" id="{24817496-3FF7-32FB-5371-9F55F5B0E3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72628" y="3708400"/>
            <a:ext cx="4425245" cy="2489200"/>
          </a:xfrm>
          <a:prstGeom prst="rect">
            <a:avLst/>
          </a:prstGeom>
          <a:ln w="12700">
            <a:solidFill>
              <a:srgbClr val="2C7A7B"/>
            </a:solidFill>
          </a:ln>
        </p:spPr>
      </p:pic>
      <p:sp>
        <p:nvSpPr>
          <p:cNvPr id="11" name="TextBox 10">
            <a:extLst>
              <a:ext uri="{FF2B5EF4-FFF2-40B4-BE49-F238E27FC236}">
                <a16:creationId xmlns:a16="http://schemas.microsoft.com/office/drawing/2014/main" id="{936FB6AC-37E2-F1F4-AACF-5E795BD2D210}"/>
              </a:ext>
            </a:extLst>
          </p:cNvPr>
          <p:cNvSpPr txBox="1"/>
          <p:nvPr/>
        </p:nvSpPr>
        <p:spPr>
          <a:xfrm>
            <a:off x="6286500" y="6223000"/>
            <a:ext cx="5397500" cy="228600"/>
          </a:xfrm>
          <a:prstGeom prst="rect">
            <a:avLst/>
          </a:prstGeom>
          <a:noFill/>
        </p:spPr>
        <p:txBody>
          <a:bodyPr vert="horz" wrap="square" lIns="50800" tIns="25400" rIns="50800" bIns="25400" rtlCol="0">
            <a:noAutofit/>
          </a:bodyPr>
          <a:lstStyle/>
          <a:p>
            <a:pPr algn="ctr"/>
            <a:r>
              <a:rPr lang="en-US" sz="1000">
                <a:solidFill>
                  <a:srgbClr val="8A94A6"/>
                </a:solidFill>
                <a:latin typeface="Consolas" panose="020B0609020204030204" pitchFamily="49" charset="0"/>
              </a:rPr>
              <a:t>simulation: ACCEPTED · Challenge 1 passed</a:t>
            </a:r>
            <a:endParaRPr lang="en-IN" sz="1000">
              <a:solidFill>
                <a:srgbClr val="8A94A6"/>
              </a:solidFill>
              <a:latin typeface="Consolas" panose="020B0609020204030204" pitchFamily="49" charset="0"/>
            </a:endParaRPr>
          </a:p>
        </p:txBody>
      </p:sp>
    </p:spTree>
    <p:extLst>
      <p:ext uri="{BB962C8B-B14F-4D97-AF65-F5344CB8AC3E}">
        <p14:creationId xmlns:p14="http://schemas.microsoft.com/office/powerpoint/2010/main" val="2416961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909DAC-3C95-F89A-287F-5209DF80C824}"/>
              </a:ext>
            </a:extLst>
          </p:cNvPr>
          <p:cNvSpPr txBox="1"/>
          <p:nvPr/>
        </p:nvSpPr>
        <p:spPr>
          <a:xfrm>
            <a:off x="457200" y="279400"/>
            <a:ext cx="11277600" cy="558800"/>
          </a:xfrm>
          <a:prstGeom prst="rect">
            <a:avLst/>
          </a:prstGeom>
          <a:noFill/>
        </p:spPr>
        <p:txBody>
          <a:bodyPr vert="horz" wrap="square" lIns="50800" tIns="25400" rIns="50800" bIns="25400" rtlCol="0">
            <a:noAutofit/>
          </a:bodyPr>
          <a:lstStyle/>
          <a:p>
            <a:r>
              <a:rPr lang="en-IN" sz="2600" b="1">
                <a:solidFill>
                  <a:srgbClr val="8A94A6"/>
                </a:solidFill>
                <a:latin typeface="Consolas" panose="020B0609020204030204" pitchFamily="49" charset="0"/>
              </a:rPr>
              <a:t>&gt; </a:t>
            </a:r>
            <a:r>
              <a:rPr lang="en-IN" sz="2600" b="1">
                <a:solidFill>
                  <a:srgbClr val="4FD1C5"/>
                </a:solidFill>
                <a:latin typeface="Consolas" panose="020B0609020204030204" pitchFamily="49" charset="0"/>
              </a:rPr>
              <a:t>TESTING AND RESULTS </a:t>
            </a:r>
            <a:r>
              <a:rPr lang="en-IN" sz="2600">
                <a:solidFill>
                  <a:srgbClr val="4FD1C5"/>
                </a:solidFill>
                <a:latin typeface="Consolas" panose="020B0609020204030204" pitchFamily="49" charset="0"/>
              </a:rPr>
              <a:t>▌</a:t>
            </a:r>
          </a:p>
        </p:txBody>
      </p:sp>
      <p:cxnSp>
        <p:nvCxnSpPr>
          <p:cNvPr id="3" name="Straight Connector 2">
            <a:extLst>
              <a:ext uri="{FF2B5EF4-FFF2-40B4-BE49-F238E27FC236}">
                <a16:creationId xmlns:a16="http://schemas.microsoft.com/office/drawing/2014/main" id="{B8FA19FF-A4BB-9EEF-2AF1-9880C33FCF20}"/>
              </a:ext>
            </a:extLst>
          </p:cNvPr>
          <p:cNvCxnSpPr/>
          <p:nvPr/>
        </p:nvCxnSpPr>
        <p:spPr>
          <a:xfrm>
            <a:off x="508000" y="914400"/>
            <a:ext cx="11176000" cy="0"/>
          </a:xfrm>
          <a:prstGeom prst="line">
            <a:avLst/>
          </a:prstGeom>
          <a:ln w="15875">
            <a:solidFill>
              <a:srgbClr val="2C7A7B"/>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557FA1FD-1E78-4953-55E6-96CF5C7F0EAA}"/>
              </a:ext>
            </a:extLst>
          </p:cNvPr>
          <p:cNvSpPr txBox="1"/>
          <p:nvPr/>
        </p:nvSpPr>
        <p:spPr>
          <a:xfrm>
            <a:off x="508000" y="6426200"/>
            <a:ext cx="6604000" cy="228600"/>
          </a:xfrm>
          <a:prstGeom prst="rect">
            <a:avLst/>
          </a:prstGeom>
          <a:noFill/>
        </p:spPr>
        <p:txBody>
          <a:bodyPr vert="horz" wrap="square" lIns="50800" tIns="25400" rIns="50800" bIns="25400" rtlCol="0">
            <a:noAutofit/>
          </a:bodyPr>
          <a:lstStyle/>
          <a:p>
            <a:r>
              <a:rPr lang="en-US" sz="900">
                <a:solidFill>
                  <a:srgbClr val="8A94A6"/>
                </a:solidFill>
                <a:latin typeface="Consolas" panose="020B0609020204030204" pitchFamily="49" charset="0"/>
              </a:rPr>
              <a:t>SHADOW PROTOCOL // THEORY OF COMPUTATION</a:t>
            </a:r>
            <a:endParaRPr lang="en-IN" sz="900">
              <a:solidFill>
                <a:srgbClr val="8A94A6"/>
              </a:solidFill>
              <a:latin typeface="Consolas" panose="020B0609020204030204" pitchFamily="49" charset="0"/>
            </a:endParaRPr>
          </a:p>
        </p:txBody>
      </p:sp>
      <p:sp>
        <p:nvSpPr>
          <p:cNvPr id="5" name="TextBox 4">
            <a:extLst>
              <a:ext uri="{FF2B5EF4-FFF2-40B4-BE49-F238E27FC236}">
                <a16:creationId xmlns:a16="http://schemas.microsoft.com/office/drawing/2014/main" id="{939457DE-6956-9B4B-44FB-C1C03F1522E4}"/>
              </a:ext>
            </a:extLst>
          </p:cNvPr>
          <p:cNvSpPr txBox="1"/>
          <p:nvPr/>
        </p:nvSpPr>
        <p:spPr>
          <a:xfrm>
            <a:off x="9652000" y="6426200"/>
            <a:ext cx="2032000" cy="228600"/>
          </a:xfrm>
          <a:prstGeom prst="rect">
            <a:avLst/>
          </a:prstGeom>
          <a:noFill/>
        </p:spPr>
        <p:txBody>
          <a:bodyPr vert="horz" wrap="square" lIns="50800" tIns="25400" rIns="50800" bIns="25400" rtlCol="0">
            <a:noAutofit/>
          </a:bodyPr>
          <a:lstStyle/>
          <a:p>
            <a:pPr algn="r"/>
            <a:r>
              <a:rPr lang="en-IN" sz="900">
                <a:solidFill>
                  <a:srgbClr val="8A94A6"/>
                </a:solidFill>
                <a:latin typeface="Consolas" panose="020B0609020204030204" pitchFamily="49" charset="0"/>
              </a:rPr>
              <a:t>12 / 13</a:t>
            </a:r>
          </a:p>
        </p:txBody>
      </p:sp>
      <p:sp>
        <p:nvSpPr>
          <p:cNvPr id="6" name="TextBox 5">
            <a:extLst>
              <a:ext uri="{FF2B5EF4-FFF2-40B4-BE49-F238E27FC236}">
                <a16:creationId xmlns:a16="http://schemas.microsoft.com/office/drawing/2014/main" id="{7E062A2C-5DDB-552D-E20E-A42925FF8D7B}"/>
              </a:ext>
            </a:extLst>
          </p:cNvPr>
          <p:cNvSpPr txBox="1"/>
          <p:nvPr/>
        </p:nvSpPr>
        <p:spPr>
          <a:xfrm>
            <a:off x="508000" y="1219200"/>
            <a:ext cx="5969000" cy="5130800"/>
          </a:xfrm>
          <a:prstGeom prst="rect">
            <a:avLst/>
          </a:prstGeom>
          <a:noFill/>
        </p:spPr>
        <p:txBody>
          <a:bodyPr vert="horz" wrap="square" lIns="50800" tIns="25400" rIns="50800" bIns="25400" rtlCol="0">
            <a:noAutofit/>
          </a:bodyPr>
          <a:lstStyle/>
          <a:p>
            <a:pPr marL="254000" indent="-254000">
              <a:spcAft>
                <a:spcPts val="900"/>
              </a:spcAft>
              <a:buClr>
                <a:srgbClr val="4FD1C5"/>
              </a:buClr>
              <a:buFont typeface="+mj-lt"/>
              <a:buChar char="▸"/>
            </a:pPr>
            <a:r>
              <a:rPr lang="en-US" sz="1700" b="1">
                <a:solidFill>
                  <a:srgbClr val="FFFFFF"/>
                </a:solidFill>
                <a:latin typeface="Segoe UI" panose="020B0502040204020203" pitchFamily="34" charset="0"/>
              </a:rPr>
              <a:t>527 unit tests</a:t>
            </a:r>
            <a:r>
              <a:rPr lang="en-US" sz="1700">
                <a:solidFill>
                  <a:srgbClr val="E2E8F0"/>
                </a:solidFill>
                <a:latin typeface="Segoe UI" panose="020B0502040204020203" pitchFamily="34" charset="0"/>
              </a:rPr>
              <a:t>, all passing: engine 132 · game logic 175 · UI logic 220</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Randomised differential tests: 250 random ε-NFAs vs. an independent brute-force path search; subset DFA = active set on every string ≤ length 6</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Tutorial claims re-checked by the engine; minimality proved by Myhill–Nerode</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Scripted end-to-end checks of the running app; installed-app checks (16/16)</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Type check clean · Rust clippy clean · NSIS and MSI installers built</a:t>
            </a:r>
            <a:endParaRPr lang="en-IN" sz="1700">
              <a:solidFill>
                <a:srgbClr val="E2E8F0"/>
              </a:solidFill>
              <a:latin typeface="Segoe UI" panose="020B0502040204020203" pitchFamily="34" charset="0"/>
            </a:endParaRPr>
          </a:p>
        </p:txBody>
      </p:sp>
      <p:graphicFrame>
        <p:nvGraphicFramePr>
          <p:cNvPr id="7" name="Table 6">
            <a:extLst>
              <a:ext uri="{FF2B5EF4-FFF2-40B4-BE49-F238E27FC236}">
                <a16:creationId xmlns:a16="http://schemas.microsoft.com/office/drawing/2014/main" id="{5312A49A-F1CA-E7C9-2F50-BE90FADE191C}"/>
              </a:ext>
            </a:extLst>
          </p:cNvPr>
          <p:cNvGraphicFramePr>
            <a:graphicFrameLocks noGrp="1"/>
          </p:cNvGraphicFramePr>
          <p:nvPr>
            <p:extLst>
              <p:ext uri="{D42A27DB-BD31-4B8C-83A1-F6EECF244321}">
                <p14:modId xmlns:p14="http://schemas.microsoft.com/office/powerpoint/2010/main" val="2846637413"/>
              </p:ext>
            </p:extLst>
          </p:nvPr>
        </p:nvGraphicFramePr>
        <p:xfrm>
          <a:off x="6858000" y="1422400"/>
          <a:ext cx="4826000" cy="1524000"/>
        </p:xfrm>
        <a:graphic>
          <a:graphicData uri="http://schemas.openxmlformats.org/drawingml/2006/table">
            <a:tbl>
              <a:tblPr firstRow="1" bandRow="1">
                <a:tableStyleId>{5C22544A-7EE6-4342-B048-85BDC9FD1C3A}</a:tableStyleId>
              </a:tblPr>
              <a:tblGrid>
                <a:gridCol w="3175000">
                  <a:extLst>
                    <a:ext uri="{9D8B030D-6E8A-4147-A177-3AD203B41FA5}">
                      <a16:colId xmlns:a16="http://schemas.microsoft.com/office/drawing/2014/main" val="236482092"/>
                    </a:ext>
                  </a:extLst>
                </a:gridCol>
                <a:gridCol w="1651000">
                  <a:extLst>
                    <a:ext uri="{9D8B030D-6E8A-4147-A177-3AD203B41FA5}">
                      <a16:colId xmlns:a16="http://schemas.microsoft.com/office/drawing/2014/main" val="1075944531"/>
                    </a:ext>
                  </a:extLst>
                </a:gridCol>
              </a:tblGrid>
              <a:tr h="254000">
                <a:tc>
                  <a:txBody>
                    <a:bodyPr/>
                    <a:lstStyle/>
                    <a:p>
                      <a:r>
                        <a:rPr lang="en-IN" sz="1300" b="1">
                          <a:solidFill>
                            <a:srgbClr val="FFFFFF"/>
                          </a:solidFill>
                          <a:latin typeface="Consolas" panose="020B0609020204030204" pitchFamily="49" charset="0"/>
                        </a:rPr>
                        <a:t>Unit tests (Vitest)</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2C7A7B"/>
                    </a:solidFill>
                  </a:tcPr>
                </a:tc>
                <a:tc>
                  <a:txBody>
                    <a:bodyPr/>
                    <a:lstStyle/>
                    <a:p>
                      <a:r>
                        <a:rPr lang="en-IN" sz="1300" b="1">
                          <a:solidFill>
                            <a:srgbClr val="FFFFFF"/>
                          </a:solidFill>
                          <a:latin typeface="Consolas" panose="020B0609020204030204" pitchFamily="49" charset="0"/>
                        </a:rPr>
                        <a:t>passed</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2C7A7B"/>
                    </a:solidFill>
                  </a:tcPr>
                </a:tc>
                <a:extLst>
                  <a:ext uri="{0D108BD9-81ED-4DB2-BD59-A6C34878D82A}">
                    <a16:rowId xmlns:a16="http://schemas.microsoft.com/office/drawing/2014/main" val="309900116"/>
                  </a:ext>
                </a:extLst>
              </a:tr>
              <a:tr h="254000">
                <a:tc>
                  <a:txBody>
                    <a:bodyPr/>
                    <a:lstStyle/>
                    <a:p>
                      <a:r>
                        <a:rPr lang="en-IN" sz="1300" b="0">
                          <a:solidFill>
                            <a:srgbClr val="E2E8F0"/>
                          </a:solidFill>
                          <a:latin typeface="Consolas" panose="020B0609020204030204" pitchFamily="49" charset="0"/>
                        </a:rPr>
                        <a:t>automata engine</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tc>
                  <a:txBody>
                    <a:bodyPr/>
                    <a:lstStyle/>
                    <a:p>
                      <a:r>
                        <a:rPr lang="en-IN" sz="1300" b="0">
                          <a:solidFill>
                            <a:srgbClr val="E2E8F0"/>
                          </a:solidFill>
                          <a:latin typeface="Consolas" panose="020B0609020204030204" pitchFamily="49" charset="0"/>
                        </a:rPr>
                        <a:t>132</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extLst>
                  <a:ext uri="{0D108BD9-81ED-4DB2-BD59-A6C34878D82A}">
                    <a16:rowId xmlns:a16="http://schemas.microsoft.com/office/drawing/2014/main" val="1506777089"/>
                  </a:ext>
                </a:extLst>
              </a:tr>
              <a:tr h="254000">
                <a:tc>
                  <a:txBody>
                    <a:bodyPr/>
                    <a:lstStyle/>
                    <a:p>
                      <a:r>
                        <a:rPr lang="en-IN" sz="1300" b="0">
                          <a:solidFill>
                            <a:srgbClr val="E2E8F0"/>
                          </a:solidFill>
                          <a:latin typeface="Consolas" panose="020B0609020204030204" pitchFamily="49" charset="0"/>
                        </a:rPr>
                        <a:t>game logic</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61F34"/>
                    </a:solidFill>
                  </a:tcPr>
                </a:tc>
                <a:tc>
                  <a:txBody>
                    <a:bodyPr/>
                    <a:lstStyle/>
                    <a:p>
                      <a:r>
                        <a:rPr lang="en-IN" sz="1300" b="0">
                          <a:solidFill>
                            <a:srgbClr val="E2E8F0"/>
                          </a:solidFill>
                          <a:latin typeface="Consolas" panose="020B0609020204030204" pitchFamily="49" charset="0"/>
                        </a:rPr>
                        <a:t>175</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61F34"/>
                    </a:solidFill>
                  </a:tcPr>
                </a:tc>
                <a:extLst>
                  <a:ext uri="{0D108BD9-81ED-4DB2-BD59-A6C34878D82A}">
                    <a16:rowId xmlns:a16="http://schemas.microsoft.com/office/drawing/2014/main" val="224876549"/>
                  </a:ext>
                </a:extLst>
              </a:tr>
              <a:tr h="254000">
                <a:tc>
                  <a:txBody>
                    <a:bodyPr/>
                    <a:lstStyle/>
                    <a:p>
                      <a:r>
                        <a:rPr lang="en-IN" sz="1300" b="0">
                          <a:solidFill>
                            <a:srgbClr val="E2E8F0"/>
                          </a:solidFill>
                          <a:latin typeface="Consolas" panose="020B0609020204030204" pitchFamily="49" charset="0"/>
                        </a:rPr>
                        <a:t>UI logic</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tc>
                  <a:txBody>
                    <a:bodyPr/>
                    <a:lstStyle/>
                    <a:p>
                      <a:r>
                        <a:rPr lang="en-IN" sz="1300" b="0">
                          <a:solidFill>
                            <a:srgbClr val="E2E8F0"/>
                          </a:solidFill>
                          <a:latin typeface="Consolas" panose="020B0609020204030204" pitchFamily="49" charset="0"/>
                        </a:rPr>
                        <a:t>220</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extLst>
                  <a:ext uri="{0D108BD9-81ED-4DB2-BD59-A6C34878D82A}">
                    <a16:rowId xmlns:a16="http://schemas.microsoft.com/office/drawing/2014/main" val="1711392354"/>
                  </a:ext>
                </a:extLst>
              </a:tr>
              <a:tr h="254000">
                <a:tc>
                  <a:txBody>
                    <a:bodyPr/>
                    <a:lstStyle/>
                    <a:p>
                      <a:r>
                        <a:rPr lang="en-IN" sz="1300" b="0">
                          <a:solidFill>
                            <a:srgbClr val="E2E8F0"/>
                          </a:solidFill>
                          <a:latin typeface="Consolas" panose="020B0609020204030204" pitchFamily="49" charset="0"/>
                        </a:rPr>
                        <a:t>total (41 files)</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61F34"/>
                    </a:solidFill>
                  </a:tcPr>
                </a:tc>
                <a:tc>
                  <a:txBody>
                    <a:bodyPr/>
                    <a:lstStyle/>
                    <a:p>
                      <a:r>
                        <a:rPr lang="en-IN" sz="1300" b="0">
                          <a:solidFill>
                            <a:srgbClr val="E2E8F0"/>
                          </a:solidFill>
                          <a:latin typeface="Consolas" panose="020B0609020204030204" pitchFamily="49" charset="0"/>
                        </a:rPr>
                        <a:t>527 / 527</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61F34"/>
                    </a:solidFill>
                  </a:tcPr>
                </a:tc>
                <a:extLst>
                  <a:ext uri="{0D108BD9-81ED-4DB2-BD59-A6C34878D82A}">
                    <a16:rowId xmlns:a16="http://schemas.microsoft.com/office/drawing/2014/main" val="2523384579"/>
                  </a:ext>
                </a:extLst>
              </a:tr>
            </a:tbl>
          </a:graphicData>
        </a:graphic>
      </p:graphicFrame>
      <p:graphicFrame>
        <p:nvGraphicFramePr>
          <p:cNvPr id="8" name="Table 7">
            <a:extLst>
              <a:ext uri="{FF2B5EF4-FFF2-40B4-BE49-F238E27FC236}">
                <a16:creationId xmlns:a16="http://schemas.microsoft.com/office/drawing/2014/main" id="{78603F78-18C6-FD36-F620-15CA161A7A71}"/>
              </a:ext>
            </a:extLst>
          </p:cNvPr>
          <p:cNvGraphicFramePr>
            <a:graphicFrameLocks noGrp="1"/>
          </p:cNvGraphicFramePr>
          <p:nvPr>
            <p:extLst>
              <p:ext uri="{D42A27DB-BD31-4B8C-83A1-F6EECF244321}">
                <p14:modId xmlns:p14="http://schemas.microsoft.com/office/powerpoint/2010/main" val="1045548414"/>
              </p:ext>
            </p:extLst>
          </p:nvPr>
        </p:nvGraphicFramePr>
        <p:xfrm>
          <a:off x="6858000" y="3327400"/>
          <a:ext cx="4826000" cy="1219200"/>
        </p:xfrm>
        <a:graphic>
          <a:graphicData uri="http://schemas.openxmlformats.org/drawingml/2006/table">
            <a:tbl>
              <a:tblPr firstRow="1" bandRow="1">
                <a:tableStyleId>{5C22544A-7EE6-4342-B048-85BDC9FD1C3A}</a:tableStyleId>
              </a:tblPr>
              <a:tblGrid>
                <a:gridCol w="3175000">
                  <a:extLst>
                    <a:ext uri="{9D8B030D-6E8A-4147-A177-3AD203B41FA5}">
                      <a16:colId xmlns:a16="http://schemas.microsoft.com/office/drawing/2014/main" val="3371353106"/>
                    </a:ext>
                  </a:extLst>
                </a:gridCol>
                <a:gridCol w="1651000">
                  <a:extLst>
                    <a:ext uri="{9D8B030D-6E8A-4147-A177-3AD203B41FA5}">
                      <a16:colId xmlns:a16="http://schemas.microsoft.com/office/drawing/2014/main" val="207324260"/>
                    </a:ext>
                  </a:extLst>
                </a:gridCol>
              </a:tblGrid>
              <a:tr h="254000">
                <a:tc>
                  <a:txBody>
                    <a:bodyPr/>
                    <a:lstStyle/>
                    <a:p>
                      <a:r>
                        <a:rPr lang="en-US" sz="1300" b="1">
                          <a:solidFill>
                            <a:srgbClr val="FFFFFF"/>
                          </a:solidFill>
                          <a:latin typeface="Consolas" panose="020B0609020204030204" pitchFamily="49" charset="0"/>
                        </a:rPr>
                        <a:t>Checks of the running app</a:t>
                      </a:r>
                      <a:endParaRPr lang="en-IN" sz="1300" b="1">
                        <a:solidFill>
                          <a:srgbClr val="FFFFFF"/>
                        </a:solidFill>
                        <a:latin typeface="Consolas" panose="020B0609020204030204" pitchFamily="49" charset="0"/>
                      </a:endParaRP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2C7A7B"/>
                    </a:solidFill>
                  </a:tcPr>
                </a:tc>
                <a:tc>
                  <a:txBody>
                    <a:bodyPr/>
                    <a:lstStyle/>
                    <a:p>
                      <a:r>
                        <a:rPr lang="en-IN" sz="1300" b="1">
                          <a:solidFill>
                            <a:srgbClr val="FFFFFF"/>
                          </a:solidFill>
                          <a:latin typeface="Consolas" panose="020B0609020204030204" pitchFamily="49" charset="0"/>
                        </a:rPr>
                        <a:t>passed</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2C7A7B"/>
                    </a:solidFill>
                  </a:tcPr>
                </a:tc>
                <a:extLst>
                  <a:ext uri="{0D108BD9-81ED-4DB2-BD59-A6C34878D82A}">
                    <a16:rowId xmlns:a16="http://schemas.microsoft.com/office/drawing/2014/main" val="583092267"/>
                  </a:ext>
                </a:extLst>
              </a:tr>
              <a:tr h="254000">
                <a:tc>
                  <a:txBody>
                    <a:bodyPr/>
                    <a:lstStyle/>
                    <a:p>
                      <a:r>
                        <a:rPr lang="en-IN" sz="1300" b="0">
                          <a:solidFill>
                            <a:srgbClr val="E2E8F0"/>
                          </a:solidFill>
                          <a:latin typeface="Consolas" panose="020B0609020204030204" pitchFamily="49" charset="0"/>
                        </a:rPr>
                        <a:t>9 development suites</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tc>
                  <a:txBody>
                    <a:bodyPr/>
                    <a:lstStyle/>
                    <a:p>
                      <a:r>
                        <a:rPr lang="en-IN" sz="1300" b="0">
                          <a:solidFill>
                            <a:srgbClr val="E2E8F0"/>
                          </a:solidFill>
                          <a:latin typeface="Consolas" panose="020B0609020204030204" pitchFamily="49" charset="0"/>
                        </a:rPr>
                        <a:t>324 / 324</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extLst>
                  <a:ext uri="{0D108BD9-81ED-4DB2-BD59-A6C34878D82A}">
                    <a16:rowId xmlns:a16="http://schemas.microsoft.com/office/drawing/2014/main" val="1041252174"/>
                  </a:ext>
                </a:extLst>
              </a:tr>
              <a:tr h="254000">
                <a:tc>
                  <a:txBody>
                    <a:bodyPr/>
                    <a:lstStyle/>
                    <a:p>
                      <a:r>
                        <a:rPr lang="en-IN" sz="1300" b="0">
                          <a:solidFill>
                            <a:srgbClr val="E2E8F0"/>
                          </a:solidFill>
                          <a:latin typeface="Consolas" panose="020B0609020204030204" pitchFamily="49" charset="0"/>
                        </a:rPr>
                        <a:t>production build</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61F34"/>
                    </a:solidFill>
                  </a:tcPr>
                </a:tc>
                <a:tc>
                  <a:txBody>
                    <a:bodyPr/>
                    <a:lstStyle/>
                    <a:p>
                      <a:r>
                        <a:rPr lang="en-IN" sz="1300" b="0">
                          <a:solidFill>
                            <a:srgbClr val="E2E8F0"/>
                          </a:solidFill>
                          <a:latin typeface="Consolas" panose="020B0609020204030204" pitchFamily="49" charset="0"/>
                        </a:rPr>
                        <a:t>13 / 13</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61F34"/>
                    </a:solidFill>
                  </a:tcPr>
                </a:tc>
                <a:extLst>
                  <a:ext uri="{0D108BD9-81ED-4DB2-BD59-A6C34878D82A}">
                    <a16:rowId xmlns:a16="http://schemas.microsoft.com/office/drawing/2014/main" val="837683925"/>
                  </a:ext>
                </a:extLst>
              </a:tr>
              <a:tr h="254000">
                <a:tc>
                  <a:txBody>
                    <a:bodyPr/>
                    <a:lstStyle/>
                    <a:p>
                      <a:r>
                        <a:rPr lang="en-IN" sz="1300" b="0">
                          <a:solidFill>
                            <a:srgbClr val="E2E8F0"/>
                          </a:solidFill>
                          <a:latin typeface="Consolas" panose="020B0609020204030204" pitchFamily="49" charset="0"/>
                        </a:rPr>
                        <a:t>installed application</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tc>
                  <a:txBody>
                    <a:bodyPr/>
                    <a:lstStyle/>
                    <a:p>
                      <a:r>
                        <a:rPr lang="en-IN" sz="1300" b="0">
                          <a:solidFill>
                            <a:srgbClr val="E2E8F0"/>
                          </a:solidFill>
                          <a:latin typeface="Consolas" panose="020B0609020204030204" pitchFamily="49" charset="0"/>
                        </a:rPr>
                        <a:t>16 / 16</a:t>
                      </a:r>
                    </a:p>
                  </a:txBody>
                  <a:tcPr marL="63500" marR="63500" marT="38100" marB="38100">
                    <a:lnL w="9525" cmpd="sng">
                      <a:solidFill>
                        <a:srgbClr val="2D3748"/>
                      </a:solidFill>
                    </a:lnL>
                    <a:lnR w="9525" cmpd="sng">
                      <a:solidFill>
                        <a:srgbClr val="2D3748"/>
                      </a:solidFill>
                    </a:lnR>
                    <a:lnT w="9525" cmpd="sng">
                      <a:solidFill>
                        <a:srgbClr val="2D3748"/>
                      </a:solidFill>
                    </a:lnT>
                    <a:lnB w="9525" cmpd="sng">
                      <a:solidFill>
                        <a:srgbClr val="2D3748"/>
                      </a:solidFill>
                    </a:lnB>
                    <a:solidFill>
                      <a:srgbClr val="11182A"/>
                    </a:solidFill>
                  </a:tcPr>
                </a:tc>
                <a:extLst>
                  <a:ext uri="{0D108BD9-81ED-4DB2-BD59-A6C34878D82A}">
                    <a16:rowId xmlns:a16="http://schemas.microsoft.com/office/drawing/2014/main" val="1649275223"/>
                  </a:ext>
                </a:extLst>
              </a:tr>
            </a:tbl>
          </a:graphicData>
        </a:graphic>
      </p:graphicFrame>
      <p:sp>
        <p:nvSpPr>
          <p:cNvPr id="9" name="TextBox 8">
            <a:extLst>
              <a:ext uri="{FF2B5EF4-FFF2-40B4-BE49-F238E27FC236}">
                <a16:creationId xmlns:a16="http://schemas.microsoft.com/office/drawing/2014/main" id="{0E98E74B-ED39-0FD9-1C9A-313884A9E4E1}"/>
              </a:ext>
            </a:extLst>
          </p:cNvPr>
          <p:cNvSpPr txBox="1"/>
          <p:nvPr/>
        </p:nvSpPr>
        <p:spPr>
          <a:xfrm>
            <a:off x="6858000" y="4978400"/>
            <a:ext cx="4826000" cy="508000"/>
          </a:xfrm>
          <a:prstGeom prst="rect">
            <a:avLst/>
          </a:prstGeom>
          <a:noFill/>
        </p:spPr>
        <p:txBody>
          <a:bodyPr vert="horz" wrap="square" lIns="50800" tIns="25400" rIns="50800" bIns="25400" rtlCol="0">
            <a:noAutofit/>
          </a:bodyPr>
          <a:lstStyle/>
          <a:p>
            <a:r>
              <a:rPr lang="en-US" sz="1100">
                <a:solidFill>
                  <a:srgbClr val="8A94A6"/>
                </a:solidFill>
                <a:latin typeface="Segoe UI" panose="020B0502040204020203" pitchFamily="34" charset="0"/>
              </a:rPr>
              <a:t>TypeScript type check clean · Rust clippy clean · NSIS + MSI installers built</a:t>
            </a:r>
            <a:endParaRPr lang="en-IN" sz="1100">
              <a:solidFill>
                <a:srgbClr val="8A94A6"/>
              </a:solidFill>
              <a:latin typeface="Segoe UI" panose="020B0502040204020203" pitchFamily="34" charset="0"/>
            </a:endParaRPr>
          </a:p>
        </p:txBody>
      </p:sp>
    </p:spTree>
    <p:extLst>
      <p:ext uri="{BB962C8B-B14F-4D97-AF65-F5344CB8AC3E}">
        <p14:creationId xmlns:p14="http://schemas.microsoft.com/office/powerpoint/2010/main" val="3393286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BF273A-BA56-BE39-7B9A-3017F08930B2}"/>
              </a:ext>
            </a:extLst>
          </p:cNvPr>
          <p:cNvSpPr txBox="1"/>
          <p:nvPr/>
        </p:nvSpPr>
        <p:spPr>
          <a:xfrm>
            <a:off x="457200" y="279400"/>
            <a:ext cx="11277600" cy="558800"/>
          </a:xfrm>
          <a:prstGeom prst="rect">
            <a:avLst/>
          </a:prstGeom>
          <a:noFill/>
        </p:spPr>
        <p:txBody>
          <a:bodyPr vert="horz" wrap="square" lIns="50800" tIns="25400" rIns="50800" bIns="25400" rtlCol="0">
            <a:noAutofit/>
          </a:bodyPr>
          <a:lstStyle/>
          <a:p>
            <a:r>
              <a:rPr lang="en-IN" sz="2600" b="1">
                <a:solidFill>
                  <a:srgbClr val="8A94A6"/>
                </a:solidFill>
                <a:latin typeface="Consolas" panose="020B0609020204030204" pitchFamily="49" charset="0"/>
              </a:rPr>
              <a:t>&gt; </a:t>
            </a:r>
            <a:r>
              <a:rPr lang="en-IN" sz="2600" b="1">
                <a:solidFill>
                  <a:srgbClr val="4FD1C5"/>
                </a:solidFill>
                <a:latin typeface="Consolas" panose="020B0609020204030204" pitchFamily="49" charset="0"/>
              </a:rPr>
              <a:t>CONCLUSION AND FUTURE SCOPE </a:t>
            </a:r>
            <a:r>
              <a:rPr lang="en-IN" sz="2600">
                <a:solidFill>
                  <a:srgbClr val="4FD1C5"/>
                </a:solidFill>
                <a:latin typeface="Consolas" panose="020B0609020204030204" pitchFamily="49" charset="0"/>
              </a:rPr>
              <a:t>▌</a:t>
            </a:r>
          </a:p>
        </p:txBody>
      </p:sp>
      <p:cxnSp>
        <p:nvCxnSpPr>
          <p:cNvPr id="3" name="Straight Connector 2">
            <a:extLst>
              <a:ext uri="{FF2B5EF4-FFF2-40B4-BE49-F238E27FC236}">
                <a16:creationId xmlns:a16="http://schemas.microsoft.com/office/drawing/2014/main" id="{C349AAAB-8618-6378-DA38-B63D83A3EEFB}"/>
              </a:ext>
            </a:extLst>
          </p:cNvPr>
          <p:cNvCxnSpPr/>
          <p:nvPr/>
        </p:nvCxnSpPr>
        <p:spPr>
          <a:xfrm>
            <a:off x="508000" y="914400"/>
            <a:ext cx="11176000" cy="0"/>
          </a:xfrm>
          <a:prstGeom prst="line">
            <a:avLst/>
          </a:prstGeom>
          <a:ln w="15875">
            <a:solidFill>
              <a:srgbClr val="2C7A7B"/>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363124D6-BE41-4EC3-7A92-0618148EBC96}"/>
              </a:ext>
            </a:extLst>
          </p:cNvPr>
          <p:cNvSpPr txBox="1"/>
          <p:nvPr/>
        </p:nvSpPr>
        <p:spPr>
          <a:xfrm>
            <a:off x="508000" y="6426200"/>
            <a:ext cx="6604000" cy="228600"/>
          </a:xfrm>
          <a:prstGeom prst="rect">
            <a:avLst/>
          </a:prstGeom>
          <a:noFill/>
        </p:spPr>
        <p:txBody>
          <a:bodyPr vert="horz" wrap="square" lIns="50800" tIns="25400" rIns="50800" bIns="25400" rtlCol="0">
            <a:noAutofit/>
          </a:bodyPr>
          <a:lstStyle/>
          <a:p>
            <a:r>
              <a:rPr lang="en-US" sz="900">
                <a:solidFill>
                  <a:srgbClr val="8A94A6"/>
                </a:solidFill>
                <a:latin typeface="Consolas" panose="020B0609020204030204" pitchFamily="49" charset="0"/>
              </a:rPr>
              <a:t>SHADOW PROTOCOL // THEORY OF COMPUTATION</a:t>
            </a:r>
            <a:endParaRPr lang="en-IN" sz="900">
              <a:solidFill>
                <a:srgbClr val="8A94A6"/>
              </a:solidFill>
              <a:latin typeface="Consolas" panose="020B0609020204030204" pitchFamily="49" charset="0"/>
            </a:endParaRPr>
          </a:p>
        </p:txBody>
      </p:sp>
      <p:sp>
        <p:nvSpPr>
          <p:cNvPr id="5" name="TextBox 4">
            <a:extLst>
              <a:ext uri="{FF2B5EF4-FFF2-40B4-BE49-F238E27FC236}">
                <a16:creationId xmlns:a16="http://schemas.microsoft.com/office/drawing/2014/main" id="{16A0D81C-5F86-6D60-3618-A1E2E537FF5D}"/>
              </a:ext>
            </a:extLst>
          </p:cNvPr>
          <p:cNvSpPr txBox="1"/>
          <p:nvPr/>
        </p:nvSpPr>
        <p:spPr>
          <a:xfrm>
            <a:off x="9652000" y="6426200"/>
            <a:ext cx="2032000" cy="228600"/>
          </a:xfrm>
          <a:prstGeom prst="rect">
            <a:avLst/>
          </a:prstGeom>
          <a:noFill/>
        </p:spPr>
        <p:txBody>
          <a:bodyPr vert="horz" wrap="square" lIns="50800" tIns="25400" rIns="50800" bIns="25400" rtlCol="0">
            <a:noAutofit/>
          </a:bodyPr>
          <a:lstStyle/>
          <a:p>
            <a:pPr algn="r"/>
            <a:r>
              <a:rPr lang="en-IN" sz="900">
                <a:solidFill>
                  <a:srgbClr val="8A94A6"/>
                </a:solidFill>
                <a:latin typeface="Consolas" panose="020B0609020204030204" pitchFamily="49" charset="0"/>
              </a:rPr>
              <a:t>13 / 13</a:t>
            </a:r>
          </a:p>
        </p:txBody>
      </p:sp>
      <p:sp>
        <p:nvSpPr>
          <p:cNvPr id="6" name="TextBox 5">
            <a:extLst>
              <a:ext uri="{FF2B5EF4-FFF2-40B4-BE49-F238E27FC236}">
                <a16:creationId xmlns:a16="http://schemas.microsoft.com/office/drawing/2014/main" id="{EDE7F7FD-7A78-6A7A-6B11-0F21866ABF22}"/>
              </a:ext>
            </a:extLst>
          </p:cNvPr>
          <p:cNvSpPr txBox="1"/>
          <p:nvPr/>
        </p:nvSpPr>
        <p:spPr>
          <a:xfrm>
            <a:off x="508000" y="1219200"/>
            <a:ext cx="5969000" cy="5130800"/>
          </a:xfrm>
          <a:prstGeom prst="rect">
            <a:avLst/>
          </a:prstGeom>
          <a:noFill/>
        </p:spPr>
        <p:txBody>
          <a:bodyPr vert="horz" wrap="square" lIns="50800" tIns="25400" rIns="50800" bIns="25400" rtlCol="0">
            <a:noAutofit/>
          </a:bodyPr>
          <a:lstStyle/>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Automata are the </a:t>
            </a:r>
            <a:r>
              <a:rPr lang="en-US" sz="1700" b="1">
                <a:solidFill>
                  <a:srgbClr val="FFFFFF"/>
                </a:solidFill>
                <a:latin typeface="Segoe UI" panose="020B0502040204020203" pitchFamily="34" charset="0"/>
              </a:rPr>
              <a:t>real</a:t>
            </a:r>
            <a:r>
              <a:rPr lang="en-US" sz="1700">
                <a:solidFill>
                  <a:srgbClr val="E2E8F0"/>
                </a:solidFill>
                <a:latin typeface="Segoe UI" panose="020B0502040204020203" pitchFamily="34" charset="0"/>
              </a:rPr>
              <a:t> control mechanism, not an illustration</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One engine for game, visualiser, comparison, Lab and tutorial</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Clear distinction between acceptance and behaviour, and between testing and proof</a:t>
            </a:r>
          </a:p>
          <a:p>
            <a:pPr marL="254000" indent="-254000">
              <a:spcAft>
                <a:spcPts val="900"/>
              </a:spcAft>
              <a:buClr>
                <a:srgbClr val="4FD1C5"/>
              </a:buClr>
              <a:buFont typeface="+mj-lt"/>
              <a:buChar char="▸"/>
            </a:pPr>
            <a:r>
              <a:rPr lang="en-US" sz="1700" b="1">
                <a:solidFill>
                  <a:srgbClr val="FFFFFF"/>
                </a:solidFill>
                <a:latin typeface="Segoe UI" panose="020B0502040204020203" pitchFamily="34" charset="0"/>
              </a:rPr>
              <a:t>Future:</a:t>
            </a:r>
            <a:r>
              <a:rPr lang="en-US" sz="1700">
                <a:solidFill>
                  <a:srgbClr val="E2E8F0"/>
                </a:solidFill>
                <a:latin typeface="Segoe UI" panose="020B0502040204020203" pitchFamily="34" charset="0"/>
              </a:rPr>
              <a:t> proof-producing equivalence (product construction), DFA minimisation, regular expressions ↔ NFAs, NFA-controlled guards, more levels</a:t>
            </a:r>
          </a:p>
          <a:p>
            <a:pPr marL="254000" indent="-254000">
              <a:spcAft>
                <a:spcPts val="900"/>
              </a:spcAft>
              <a:buClr>
                <a:srgbClr val="4FD1C5"/>
              </a:buClr>
              <a:buFont typeface="+mj-lt"/>
              <a:buChar char="▸"/>
            </a:pPr>
            <a:r>
              <a:rPr lang="en-US" sz="1700">
                <a:solidFill>
                  <a:srgbClr val="E2E8F0"/>
                </a:solidFill>
                <a:latin typeface="Segoe UI" panose="020B0502040204020203" pitchFamily="34" charset="0"/>
              </a:rPr>
              <a:t>Thank you. Questions?</a:t>
            </a:r>
            <a:endParaRPr lang="en-IN" sz="1700">
              <a:solidFill>
                <a:srgbClr val="E2E8F0"/>
              </a:solidFill>
              <a:latin typeface="Segoe UI" panose="020B0502040204020203" pitchFamily="34" charset="0"/>
            </a:endParaRPr>
          </a:p>
        </p:txBody>
      </p:sp>
      <p:pic>
        <p:nvPicPr>
          <p:cNvPr id="8" name="Picture 7">
            <a:extLst>
              <a:ext uri="{FF2B5EF4-FFF2-40B4-BE49-F238E27FC236}">
                <a16:creationId xmlns:a16="http://schemas.microsoft.com/office/drawing/2014/main" id="{BD48CECA-D4D8-3518-2986-B548A8C341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000" y="2063750"/>
            <a:ext cx="5080000" cy="2857500"/>
          </a:xfrm>
          <a:prstGeom prst="rect">
            <a:avLst/>
          </a:prstGeom>
          <a:ln w="12700">
            <a:solidFill>
              <a:srgbClr val="2C7A7B"/>
            </a:solidFill>
          </a:ln>
        </p:spPr>
      </p:pic>
    </p:spTree>
    <p:extLst>
      <p:ext uri="{BB962C8B-B14F-4D97-AF65-F5344CB8AC3E}">
        <p14:creationId xmlns:p14="http://schemas.microsoft.com/office/powerpoint/2010/main" val="13406735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2815</Words>
  <Application>Microsoft Office PowerPoint</Application>
  <PresentationFormat>Widescreen</PresentationFormat>
  <Paragraphs>234</Paragraphs>
  <Slides>13</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Aptos Display</vt:lpstr>
      <vt:lpstr>Arial</vt:lpstr>
      <vt:lpstr>Cambria Math</vt:lpstr>
      <vt:lpstr>Consolas</vt:lpstr>
      <vt:lpstr>Segoe UI</vt:lpstr>
      <vt:lpstr>Segoe UI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Abdullah Aijaz</dc:creator>
  <cp:lastModifiedBy>Abdullah Aijaz</cp:lastModifiedBy>
  <cp:revision>1</cp:revision>
  <dcterms:created xsi:type="dcterms:W3CDTF">2026-10-18T14:06:49Z</dcterms:created>
  <dcterms:modified xsi:type="dcterms:W3CDTF">2026-10-18T14:07:03Z</dcterms:modified>
</cp:coreProperties>
</file>